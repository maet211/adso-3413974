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4" name="Shape 2"/>
          <p:cNvSpPr/>
          <p:nvPr/>
        </p:nvSpPr>
        <p:spPr>
          <a:xfrm>
            <a:off x="5120640" y="0"/>
            <a:ext cx="365760" cy="51435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22860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2A2A2A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411480" y="457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887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INVESTIGACIÓN CIENTÍFICA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822960"/>
            <a:ext cx="1645920" cy="2286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Instrumentos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DC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Recolección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Información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TÉCNICAS Y HERRAMIENTAS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1508760"/>
            <a:ext cx="1828800" cy="2743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6459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la recopilación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sistemática de datos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investigación formal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32120" y="3383280"/>
            <a:ext cx="1097280" cy="34747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3383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Cuantitativo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39128" y="3383280"/>
            <a:ext cx="1097280" cy="347472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17" name="Text 15"/>
          <p:cNvSpPr/>
          <p:nvPr/>
        </p:nvSpPr>
        <p:spPr>
          <a:xfrm>
            <a:off x="6739128" y="3383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Cualitativo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46136" y="3383280"/>
            <a:ext cx="1097280" cy="347472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19" name="Text 17"/>
          <p:cNvSpPr/>
          <p:nvPr/>
        </p:nvSpPr>
        <p:spPr>
          <a:xfrm>
            <a:off x="7946136" y="3383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5303520" cy="388620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754880"/>
            <a:ext cx="47548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DC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Validez  ·  Confiabilidad  ·  Objetividad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645920"/>
            <a:ext cx="4572000" cy="4572000"/>
          </a:xfrm>
          <a:prstGeom prst="ellipse">
            <a:avLst/>
          </a:prstGeom>
          <a:solidFill>
            <a:srgbClr val="1A6B6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47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— DEFINICIÓN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un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instrumento?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11480" y="2331720"/>
            <a:ext cx="5029200" cy="1417320"/>
          </a:xfrm>
          <a:prstGeom prst="rect">
            <a:avLst/>
          </a:prstGeom>
          <a:solidFill>
            <a:srgbClr val="0D0D0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2331720"/>
            <a:ext cx="109728" cy="141732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2316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Recurso, dispositivo o formato — físico o digital — que el investigador usa para registrar, obtener y almacenar información sobre los fenómenos que estudia.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457200"/>
            <a:ext cx="2834640" cy="1188720"/>
          </a:xfrm>
          <a:prstGeom prst="rect">
            <a:avLst/>
          </a:prstGeom>
          <a:solidFill>
            <a:srgbClr val="F5F2E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804672"/>
            <a:ext cx="292608" cy="292608"/>
          </a:xfrm>
          <a:prstGeom prst="ellipse">
            <a:avLst/>
          </a:prstGeom>
          <a:solidFill>
            <a:srgbClr val="1A6B6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6217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VALIDEZ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960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Mide exactamente lo que pretende medir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874520"/>
            <a:ext cx="2834640" cy="1188720"/>
          </a:xfrm>
          <a:prstGeom prst="rect">
            <a:avLst/>
          </a:prstGeom>
          <a:solidFill>
            <a:srgbClr val="F5F2E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2221992"/>
            <a:ext cx="292608" cy="292608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039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87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CONFIABILIDAD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 resultados consistentes y reproducibles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291840"/>
            <a:ext cx="2834640" cy="1188720"/>
          </a:xfrm>
          <a:prstGeom prst="rect">
            <a:avLst/>
          </a:prstGeom>
          <a:solidFill>
            <a:srgbClr val="F5F2E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3639312"/>
            <a:ext cx="292608" cy="292608"/>
          </a:xfrm>
          <a:prstGeom prst="ellipse">
            <a:avLst/>
          </a:prstGeom>
          <a:solidFill>
            <a:srgbClr val="A84B2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4564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OBJETIVIDAD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Libre de sesgos del investigador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E0D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instrumento bien diseñado es la base de datos de calidad en toda investigación.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— TIPOS DE INSTRUMENTOS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categorías principales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51760" cy="17373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2651760" cy="457200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418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Cuestionario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A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Autoadministrado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868680"/>
            <a:ext cx="2651760" cy="17373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868680"/>
            <a:ext cx="2651760" cy="4572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9418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1417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Entrevista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64992" y="19842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887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 a cara / remota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868680"/>
            <a:ext cx="2651760" cy="17373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868680"/>
            <a:ext cx="2651760" cy="457200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9418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27064" y="1417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Observación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27064" y="19842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Directa / participante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807208"/>
            <a:ext cx="2651760" cy="17373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07208"/>
            <a:ext cx="2651760" cy="457200"/>
          </a:xfrm>
          <a:prstGeom prst="rect">
            <a:avLst/>
          </a:prstGeom>
          <a:solidFill>
            <a:srgbClr val="2D9B9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2880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3558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 de actitudes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2920" y="392277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D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Likert / Guttman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27832" y="2807208"/>
            <a:ext cx="2651760" cy="17373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27832" y="2807208"/>
            <a:ext cx="2651760" cy="4572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2880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64992" y="33558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/ Pruebas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364992" y="392277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887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Rendimiento / aptitud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9904" y="2807208"/>
            <a:ext cx="2651760" cy="17373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2807208"/>
            <a:ext cx="2651760" cy="457200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6199632" y="2880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27064" y="33558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documental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227064" y="392277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A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Fuentes secundarias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DC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— CUESTIONARIO  ×  ENTREVISTA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77640" cy="4069080"/>
          </a:xfrm>
          <a:prstGeom prst="rect">
            <a:avLst/>
          </a:prstGeom>
          <a:solidFill>
            <a:srgbClr val="FAF7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977640" cy="7315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Cuestionario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 autoadministrado con preguntas estructuradas para recopilar datos de manera sistemática.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097280" cy="25603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4864" cy="34747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Abierta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697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libre del sujeto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54864" cy="34747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Cerrada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3246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Opciones predefinidas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4864" cy="34747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3794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 ambos formatos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54864" cy="347472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43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 Likert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4343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Gradación de acuerdo (1–5)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645152"/>
            <a:ext cx="1170432" cy="246888"/>
          </a:xfrm>
          <a:prstGeom prst="rect">
            <a:avLst/>
          </a:prstGeom>
          <a:solidFill>
            <a:srgbClr val="1A6B6B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45152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Económico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19072" y="4645152"/>
            <a:ext cx="1170432" cy="246888"/>
          </a:xfrm>
          <a:prstGeom prst="rect">
            <a:avLst/>
          </a:prstGeom>
          <a:solidFill>
            <a:srgbClr val="1A6B6B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719072" y="4645152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Anónimo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80944" y="4645152"/>
            <a:ext cx="1170432" cy="246888"/>
          </a:xfrm>
          <a:prstGeom prst="rect">
            <a:avLst/>
          </a:prstGeom>
          <a:solidFill>
            <a:srgbClr val="1A6B6B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980944" y="4645152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Escalable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777240"/>
            <a:ext cx="3977640" cy="4069080"/>
          </a:xfrm>
          <a:prstGeom prst="rect">
            <a:avLst/>
          </a:prstGeom>
          <a:solidFill>
            <a:srgbClr val="FAF7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777240"/>
            <a:ext cx="3977640" cy="73152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914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Entrevista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074920" y="1463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Conversación dirigida entre entrevistador y participante con propósito investigativo claro.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74920" y="2286000"/>
            <a:ext cx="1371600" cy="256032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MODALIDADES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74920" y="2697480"/>
            <a:ext cx="54864" cy="347472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35" name="Text 33"/>
          <p:cNvSpPr/>
          <p:nvPr/>
        </p:nvSpPr>
        <p:spPr>
          <a:xfrm>
            <a:off x="5257800" y="26974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Estructurada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0" y="2697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Guión fijo, preguntas cerradas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74920" y="3246120"/>
            <a:ext cx="54864" cy="347472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38" name="Text 36"/>
          <p:cNvSpPr/>
          <p:nvPr/>
        </p:nvSpPr>
        <p:spPr>
          <a:xfrm>
            <a:off x="5257800" y="3246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Semiestructurada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4944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Guión flexible, profundiza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74920" y="3794760"/>
            <a:ext cx="54864" cy="347472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41" name="Text 39"/>
          <p:cNvSpPr/>
          <p:nvPr/>
        </p:nvSpPr>
        <p:spPr>
          <a:xfrm>
            <a:off x="5257800" y="3794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estructurada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49440" y="3794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Libre, exploratoria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74920" y="4343400"/>
            <a:ext cx="54864" cy="347472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44" name="Text 42"/>
          <p:cNvSpPr/>
          <p:nvPr/>
        </p:nvSpPr>
        <p:spPr>
          <a:xfrm>
            <a:off x="5257800" y="4343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Group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49440" y="4343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Grupal, dinámica colectiva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74920" y="4645152"/>
            <a:ext cx="1170432" cy="246888"/>
          </a:xfrm>
          <a:prstGeom prst="rect">
            <a:avLst/>
          </a:prstGeom>
          <a:solidFill>
            <a:srgbClr val="C8873A">
              <a:alpha val="8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074920" y="4645152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Profundidad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36792" y="4645152"/>
            <a:ext cx="1170432" cy="246888"/>
          </a:xfrm>
          <a:prstGeom prst="rect">
            <a:avLst/>
          </a:prstGeom>
          <a:solidFill>
            <a:srgbClr val="C8873A">
              <a:alpha val="8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336792" y="4645152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Flexibilidad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98664" y="4645152"/>
            <a:ext cx="1170432" cy="246888"/>
          </a:xfrm>
          <a:prstGeom prst="rect">
            <a:avLst/>
          </a:prstGeom>
          <a:solidFill>
            <a:srgbClr val="C8873A">
              <a:alpha val="8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598664" y="4645152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Clarificación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26280" y="777240"/>
            <a:ext cx="91440" cy="4069080"/>
          </a:xfrm>
          <a:prstGeom prst="rect">
            <a:avLst/>
          </a:prstGeom>
          <a:solidFill>
            <a:srgbClr val="E8E0D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87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— OBSERVACIÓN  ×  ESCALAS DE ACTITUDES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77640" cy="4069080"/>
          </a:xfrm>
          <a:prstGeom prst="rect">
            <a:avLst/>
          </a:prstGeom>
          <a:solidFill>
            <a:srgbClr val="FAF7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977640" cy="73152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Observación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sistemático de comportamientos y situaciones en su contexto natural.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" cy="256032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4864" cy="347472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Participante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2697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Investigador integrado al grupo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54864" cy="347472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participante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3246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 sin intervenir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4864" cy="347472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3794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Categorías y criterios predefinidos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54864" cy="347472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43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estructurada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94560" y="4343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abierto y libre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645152"/>
            <a:ext cx="3474720" cy="246888"/>
          </a:xfrm>
          <a:prstGeom prst="rect">
            <a:avLst/>
          </a:prstGeom>
          <a:solidFill>
            <a:srgbClr val="A84B2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45152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Instrumento complementario: Lista de cotejo / Guía de observación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777240"/>
            <a:ext cx="3977640" cy="4069080"/>
          </a:xfrm>
          <a:prstGeom prst="rect">
            <a:avLst/>
          </a:prstGeom>
          <a:solidFill>
            <a:srgbClr val="FAF7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777240"/>
            <a:ext cx="3977640" cy="73152"/>
          </a:xfrm>
          <a:prstGeom prst="rect">
            <a:avLst/>
          </a:prstGeom>
          <a:solidFill>
            <a:srgbClr val="2D9B9B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Escalas de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Actitudes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074920" y="17830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Miden la intensidad y dirección de actitudes, percepciones y opiniones.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74920" y="2450592"/>
            <a:ext cx="1463040" cy="256032"/>
          </a:xfrm>
          <a:prstGeom prst="rect">
            <a:avLst/>
          </a:prstGeom>
          <a:solidFill>
            <a:srgbClr val="2D9B9B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2450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ESCALAS CLAVE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74920" y="2834640"/>
            <a:ext cx="3566160" cy="640080"/>
          </a:xfrm>
          <a:prstGeom prst="rect">
            <a:avLst/>
          </a:prstGeom>
          <a:solidFill>
            <a:srgbClr val="E8E0D0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28895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32320" y="2889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– 5  (o 1 – 7)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31821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Grado de acuerdo/desacuerdo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74920" y="3584448"/>
            <a:ext cx="3566160" cy="64008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Diferencial semántico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32320" y="3639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Bipolar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3931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adjetivos opuestos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74920" y="4334256"/>
            <a:ext cx="3566160" cy="640080"/>
          </a:xfrm>
          <a:prstGeom prst="rect">
            <a:avLst/>
          </a:prstGeom>
          <a:solidFill>
            <a:srgbClr val="E8E0D0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4389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Guttman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32320" y="4389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Acumulativa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46817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Jerarquía de ítems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26280" y="777240"/>
            <a:ext cx="91440" cy="4069080"/>
          </a:xfrm>
          <a:prstGeom prst="rect">
            <a:avLst/>
          </a:prstGeom>
          <a:solidFill>
            <a:srgbClr val="E8E0D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C8873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8873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CRITERIOS DE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286000" cy="36576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508760"/>
            <a:ext cx="384048" cy="50292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536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investigación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qué información necesitas recolectar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493776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185416"/>
            <a:ext cx="384048" cy="50292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85416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212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 de variable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459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Cuantitativa, cualitativa o mixta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52344"/>
            <a:ext cx="493776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862072"/>
            <a:ext cx="384048" cy="50292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86207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de la muestra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136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Edad, escolaridad, tamaño, acceso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493776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538728"/>
            <a:ext cx="384048" cy="50292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538728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35661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Recursos disponibles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Tiempo, presupuesto y personal asignado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05656"/>
            <a:ext cx="493776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4215384"/>
            <a:ext cx="384048" cy="50292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215384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42428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Rigor científico requerido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4489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de validez y confiabilidad exigido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1417320"/>
            <a:ext cx="3246120" cy="3520440"/>
          </a:xfrm>
          <a:prstGeom prst="rect">
            <a:avLst/>
          </a:prstGeom>
          <a:solidFill>
            <a:srgbClr val="1A6B6B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0" y="1417320"/>
            <a:ext cx="91440" cy="3520440"/>
          </a:xfrm>
          <a:prstGeom prst="rect">
            <a:avLst/>
          </a:prstGeom>
          <a:solidFill>
            <a:srgbClr val="7DC4C4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6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DC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Recuerda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852160" y="2057400"/>
            <a:ext cx="1828800" cy="27432"/>
          </a:xfrm>
          <a:prstGeom prst="rect">
            <a:avLst/>
          </a:prstGeom>
          <a:solidFill>
            <a:srgbClr val="7DC4C4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852160" y="219456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existe un instrumento universal. La elección óptima siempre depende del contexto específico, la naturaleza del problema y los recursos disponibles.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bien el instrumento es tan importante como diseñar bien la investigación.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DC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— PROCESO DE CONSTRUCCIÓN Y VALIDACIÓN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pasos esenciales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62456" y="1847088"/>
            <a:ext cx="86868" cy="5029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246888" y="1298448"/>
            <a:ext cx="1115568" cy="2926080"/>
          </a:xfrm>
          <a:prstGeom prst="rect">
            <a:avLst/>
          </a:prstGeom>
          <a:solidFill>
            <a:srgbClr val="F5F2E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6888" y="1298448"/>
            <a:ext cx="1115568" cy="457200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" y="13533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0896" y="18288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Definir variables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0896" y="3172968"/>
            <a:ext cx="932688" cy="22860"/>
          </a:xfrm>
          <a:prstGeom prst="rect">
            <a:avLst/>
          </a:prstGeom>
          <a:solidFill>
            <a:srgbClr val="1A6B6B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10896" y="32644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 mide?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4892" y="1847088"/>
            <a:ext cx="86868" cy="5029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9324" y="1298448"/>
            <a:ext cx="1115568" cy="2926080"/>
          </a:xfrm>
          <a:prstGeom prst="rect">
            <a:avLst/>
          </a:prstGeom>
          <a:solidFill>
            <a:srgbClr val="F5F2E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449324" y="1298448"/>
            <a:ext cx="1115568" cy="457200"/>
          </a:xfrm>
          <a:prstGeom prst="rect">
            <a:avLst/>
          </a:prstGeom>
          <a:solidFill>
            <a:srgbClr val="2D9B9B"/>
          </a:solidFill>
          <a:ln/>
        </p:spPr>
      </p:sp>
      <p:sp>
        <p:nvSpPr>
          <p:cNvPr id="15" name="Text 13"/>
          <p:cNvSpPr/>
          <p:nvPr/>
        </p:nvSpPr>
        <p:spPr>
          <a:xfrm>
            <a:off x="1449324" y="13533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13332" y="18288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Revisar literatura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513332" y="3172968"/>
            <a:ext cx="932688" cy="22860"/>
          </a:xfrm>
          <a:prstGeom prst="rect">
            <a:avLst/>
          </a:prstGeom>
          <a:solidFill>
            <a:srgbClr val="2D9B9B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513332" y="32644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existentes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67328" y="1847088"/>
            <a:ext cx="86868" cy="5029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Shape 18"/>
          <p:cNvSpPr/>
          <p:nvPr/>
        </p:nvSpPr>
        <p:spPr>
          <a:xfrm>
            <a:off x="2651760" y="1298448"/>
            <a:ext cx="1115568" cy="2926080"/>
          </a:xfrm>
          <a:prstGeom prst="rect">
            <a:avLst/>
          </a:prstGeom>
          <a:solidFill>
            <a:srgbClr val="F5F2E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51760" y="1298448"/>
            <a:ext cx="1115568" cy="457200"/>
          </a:xfrm>
          <a:prstGeom prst="rect">
            <a:avLst/>
          </a:prstGeom>
          <a:solidFill>
            <a:srgbClr val="7DC4C4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13533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715768" y="18288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Diseñar ítems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15768" y="3172968"/>
            <a:ext cx="932688" cy="22860"/>
          </a:xfrm>
          <a:prstGeom prst="rect">
            <a:avLst/>
          </a:prstGeom>
          <a:solidFill>
            <a:srgbClr val="7DC4C4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715768" y="32644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Redacción clara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69764" y="1847088"/>
            <a:ext cx="86868" cy="5029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Shape 25"/>
          <p:cNvSpPr/>
          <p:nvPr/>
        </p:nvSpPr>
        <p:spPr>
          <a:xfrm>
            <a:off x="3854196" y="1298448"/>
            <a:ext cx="1115568" cy="2926080"/>
          </a:xfrm>
          <a:prstGeom prst="rect">
            <a:avLst/>
          </a:prstGeom>
          <a:solidFill>
            <a:srgbClr val="F5F2E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54196" y="1298448"/>
            <a:ext cx="1115568" cy="4572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29" name="Text 27"/>
          <p:cNvSpPr/>
          <p:nvPr/>
        </p:nvSpPr>
        <p:spPr>
          <a:xfrm>
            <a:off x="3854196" y="13533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918204" y="18288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Juicio de expertos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918204" y="3172968"/>
            <a:ext cx="932688" cy="22860"/>
          </a:xfrm>
          <a:prstGeom prst="rect">
            <a:avLst/>
          </a:prstGeom>
          <a:solidFill>
            <a:srgbClr val="C8873A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918204" y="32644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Validez de contenido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1847088"/>
            <a:ext cx="86868" cy="5029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4" name="Shape 32"/>
          <p:cNvSpPr/>
          <p:nvPr/>
        </p:nvSpPr>
        <p:spPr>
          <a:xfrm>
            <a:off x="5056632" y="1298448"/>
            <a:ext cx="1115568" cy="2926080"/>
          </a:xfrm>
          <a:prstGeom prst="rect">
            <a:avLst/>
          </a:prstGeom>
          <a:solidFill>
            <a:srgbClr val="F5F2E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56632" y="1298448"/>
            <a:ext cx="1115568" cy="457200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36" name="Text 34"/>
          <p:cNvSpPr/>
          <p:nvPr/>
        </p:nvSpPr>
        <p:spPr>
          <a:xfrm>
            <a:off x="5056632" y="13533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20640" y="18288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 piloto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120640" y="3172968"/>
            <a:ext cx="932688" cy="22860"/>
          </a:xfrm>
          <a:prstGeom prst="rect">
            <a:avLst/>
          </a:prstGeom>
          <a:solidFill>
            <a:srgbClr val="A84B2F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0" y="32644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Muestra pequeña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374636" y="1847088"/>
            <a:ext cx="86868" cy="5029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1" name="Shape 39"/>
          <p:cNvSpPr/>
          <p:nvPr/>
        </p:nvSpPr>
        <p:spPr>
          <a:xfrm>
            <a:off x="6259068" y="1298448"/>
            <a:ext cx="1115568" cy="2926080"/>
          </a:xfrm>
          <a:prstGeom prst="rect">
            <a:avLst/>
          </a:prstGeom>
          <a:solidFill>
            <a:srgbClr val="F5F2E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59068" y="1298448"/>
            <a:ext cx="1115568" cy="4572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43" name="Text 41"/>
          <p:cNvSpPr/>
          <p:nvPr/>
        </p:nvSpPr>
        <p:spPr>
          <a:xfrm>
            <a:off x="6259068" y="13533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323076" y="18288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Confiabilidad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323076" y="3172968"/>
            <a:ext cx="932688" cy="22860"/>
          </a:xfrm>
          <a:prstGeom prst="rect">
            <a:avLst/>
          </a:prstGeom>
          <a:solidFill>
            <a:srgbClr val="C8873A">
              <a:alpha val="5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323076" y="32644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/ Test-retest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461504" y="1298448"/>
            <a:ext cx="1115568" cy="2926080"/>
          </a:xfrm>
          <a:prstGeom prst="rect">
            <a:avLst/>
          </a:prstGeom>
          <a:solidFill>
            <a:srgbClr val="F5F2E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461504" y="1298448"/>
            <a:ext cx="1115568" cy="457200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49" name="Text 47"/>
          <p:cNvSpPr/>
          <p:nvPr/>
        </p:nvSpPr>
        <p:spPr>
          <a:xfrm>
            <a:off x="7461504" y="13533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525512" y="18288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Versión final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525512" y="3172968"/>
            <a:ext cx="932688" cy="22860"/>
          </a:xfrm>
          <a:prstGeom prst="rect">
            <a:avLst/>
          </a:prstGeom>
          <a:solidFill>
            <a:srgbClr val="1A6B6B">
              <a:alpha val="5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525512" y="326440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definitiva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46888" y="4407408"/>
            <a:ext cx="8650224" cy="502920"/>
          </a:xfrm>
          <a:prstGeom prst="rect">
            <a:avLst/>
          </a:prstGeom>
          <a:solidFill>
            <a:srgbClr val="E8E0D0"/>
          </a:solidFill>
          <a:ln w="19050">
            <a:solidFill>
              <a:srgbClr val="C887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6888" y="4407408"/>
            <a:ext cx="91440" cy="50292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40740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Importante: Validez y confiabilidad son requisitos no negociables antes de la aplicación formal del instrumento.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— COMPARATIVA DE INSTRUMENTOS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331720" cy="47548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77240"/>
            <a:ext cx="2221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0D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Instrumento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777240"/>
            <a:ext cx="137160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2679192" y="77724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777240"/>
            <a:ext cx="100584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4050792" y="777240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83480" y="777240"/>
            <a:ext cx="137160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Text 10"/>
          <p:cNvSpPr/>
          <p:nvPr/>
        </p:nvSpPr>
        <p:spPr>
          <a:xfrm>
            <a:off x="5056632" y="77724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Profundidad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777240"/>
            <a:ext cx="109728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777240"/>
            <a:ext cx="987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252728"/>
            <a:ext cx="233172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252728"/>
            <a:ext cx="64008" cy="658368"/>
          </a:xfrm>
          <a:prstGeom prst="rect">
            <a:avLst/>
          </a:prstGeom>
          <a:solidFill>
            <a:srgbClr val="1A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1252728"/>
            <a:ext cx="2167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Cuestionario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06040" y="1252728"/>
            <a:ext cx="137160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1252728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Cuantitativo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77640" y="1252728"/>
            <a:ext cx="10058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0792" y="1252728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1252728"/>
            <a:ext cx="137160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1252728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1252728"/>
            <a:ext cx="10972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1252728"/>
            <a:ext cx="9326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1911096"/>
            <a:ext cx="233172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911096"/>
            <a:ext cx="64008" cy="65836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1911096"/>
            <a:ext cx="2167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Entrevista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606040" y="1911096"/>
            <a:ext cx="137160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79192" y="1911096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Cualitativo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77640" y="1911096"/>
            <a:ext cx="10058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50792" y="1911096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83480" y="1911096"/>
            <a:ext cx="137160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1911096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55080" y="1911096"/>
            <a:ext cx="109728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1911096"/>
            <a:ext cx="9326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Pequeña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2569464"/>
            <a:ext cx="233172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2569464"/>
            <a:ext cx="64008" cy="658368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39" name="Text 37"/>
          <p:cNvSpPr/>
          <p:nvPr/>
        </p:nvSpPr>
        <p:spPr>
          <a:xfrm>
            <a:off x="438912" y="2569464"/>
            <a:ext cx="2167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Observación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606040" y="2569464"/>
            <a:ext cx="137160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79192" y="2569464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Mixto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977640" y="2569464"/>
            <a:ext cx="10058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50792" y="2569464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983480" y="2569464"/>
            <a:ext cx="137160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56632" y="2569464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55080" y="2569464"/>
            <a:ext cx="10972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2569464"/>
            <a:ext cx="9326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74320" y="3227832"/>
            <a:ext cx="233172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3227832"/>
            <a:ext cx="64008" cy="658368"/>
          </a:xfrm>
          <a:prstGeom prst="rect">
            <a:avLst/>
          </a:prstGeom>
          <a:solidFill>
            <a:srgbClr val="2D9B9B"/>
          </a:solidFill>
          <a:ln/>
        </p:spPr>
      </p:sp>
      <p:sp>
        <p:nvSpPr>
          <p:cNvPr id="50" name="Text 48"/>
          <p:cNvSpPr/>
          <p:nvPr/>
        </p:nvSpPr>
        <p:spPr>
          <a:xfrm>
            <a:off x="438912" y="3227832"/>
            <a:ext cx="2167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 Likert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606040" y="3227832"/>
            <a:ext cx="137160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79192" y="3227832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Cuantitativo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977640" y="3227832"/>
            <a:ext cx="10058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50792" y="3227832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983480" y="3227832"/>
            <a:ext cx="137160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56632" y="3227832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355080" y="3227832"/>
            <a:ext cx="109728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28232" y="3227832"/>
            <a:ext cx="9326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74320" y="3886200"/>
            <a:ext cx="233172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4320" y="3886200"/>
            <a:ext cx="64008" cy="65836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61" name="Text 59"/>
          <p:cNvSpPr/>
          <p:nvPr/>
        </p:nvSpPr>
        <p:spPr>
          <a:xfrm>
            <a:off x="438912" y="3886200"/>
            <a:ext cx="2167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/ Prueba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606040" y="3886200"/>
            <a:ext cx="137160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79192" y="3886200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Cuantitativo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977640" y="3886200"/>
            <a:ext cx="10058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50792" y="3886200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983480" y="3886200"/>
            <a:ext cx="137160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56632" y="3886200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355080" y="3886200"/>
            <a:ext cx="10972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28232" y="3886200"/>
            <a:ext cx="9326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949440" y="13716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C8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</a:t>
            </a:r>
            <a:endParaRPr lang="en-US" sz="2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C8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RÁPIDO</a:t>
            </a:r>
            <a:endParaRPr lang="en-US" sz="2200" dirty="0"/>
          </a:p>
        </p:txBody>
      </p:sp>
      <p:sp>
        <p:nvSpPr>
          <p:cNvPr id="71" name="Shape 69"/>
          <p:cNvSpPr/>
          <p:nvPr/>
        </p:nvSpPr>
        <p:spPr>
          <a:xfrm>
            <a:off x="7223760" y="2834640"/>
            <a:ext cx="1463040" cy="27432"/>
          </a:xfrm>
          <a:prstGeom prst="rect">
            <a:avLst/>
          </a:prstGeom>
          <a:solidFill>
            <a:srgbClr val="C8873A">
              <a:alpha val="5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949440" y="2971800"/>
            <a:ext cx="2011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Elige el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según tu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investigación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3950208" y="0"/>
            <a:ext cx="347472" cy="51435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5" name="Text 3"/>
          <p:cNvSpPr/>
          <p:nvPr/>
        </p:nvSpPr>
        <p:spPr>
          <a:xfrm>
            <a:off x="-274320" y="22860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E8E0D0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365760" y="365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— CONCLUSIONES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1371600" cy="36576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229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Clave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3474720" cy="1645920"/>
          </a:xfrm>
          <a:prstGeom prst="rect">
            <a:avLst/>
          </a:prstGeom>
          <a:solidFill>
            <a:srgbClr val="E8E0D0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3108960"/>
            <a:ext cx="91440" cy="164592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"Un buen instrumento es el puente entre la pregunta de investigación y la realidad."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612648"/>
            <a:ext cx="411480" cy="411480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612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502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Calidad de datos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850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instrumento define la calidad de los datos recopilados.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1463040"/>
            <a:ext cx="4297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1709928"/>
            <a:ext cx="411480" cy="411480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600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Elección informada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9476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elección depende del objetivo, la muestra y los recursos.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2560320"/>
            <a:ext cx="4297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2" name="Shape 20"/>
          <p:cNvSpPr/>
          <p:nvPr/>
        </p:nvSpPr>
        <p:spPr>
          <a:xfrm>
            <a:off x="4480560" y="2807208"/>
            <a:ext cx="411480" cy="411480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2807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697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Rigor científico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30449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Validez y confiabilidad son criterios no negociables.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3657600"/>
            <a:ext cx="4297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7" name="Shape 25"/>
          <p:cNvSpPr/>
          <p:nvPr/>
        </p:nvSpPr>
        <p:spPr>
          <a:xfrm>
            <a:off x="4480560" y="3904488"/>
            <a:ext cx="411480" cy="411480"/>
          </a:xfrm>
          <a:prstGeom prst="ellipse">
            <a:avLst/>
          </a:prstGeom>
          <a:solidFill>
            <a:srgbClr val="C8873A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904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794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Triangulación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0" y="41422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Combinar instrumentos enriquece la investigación.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0" y="4800600"/>
            <a:ext cx="5029200" cy="3429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0" y="48006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887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  ·  ¿Preguntas?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Instrumentos de Recolección de Información</dc:title>
  <dc:subject>PptxGenJS Presentation</dc:subject>
  <dc:creator>PptxGenJS</dc:creator>
  <cp:lastModifiedBy>PptxGenJS</cp:lastModifiedBy>
  <cp:revision>1</cp:revision>
  <dcterms:created xsi:type="dcterms:W3CDTF">2026-03-28T04:53:52Z</dcterms:created>
  <dcterms:modified xsi:type="dcterms:W3CDTF">2026-03-28T04:53:52Z</dcterms:modified>
</cp:coreProperties>
</file>