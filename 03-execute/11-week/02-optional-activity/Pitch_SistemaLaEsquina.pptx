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dias a todos. Somos aprendices del SENA del programa de Analisis y Desarrollo de Software, y hoy les vamos a presentar un proyecto que nacio de una necesidad real: ayudar a los negocios de barrio a trabajar mejor con tecnologia. El proyecto se llama Sistema La Esquina.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les presentamos a nuestro equipo. Somos aprendices ADSO del SENA comprometidos con crear soluciones tecnologicas utiles para nuestra comunidad. Cada uno tiene un rol definido en el proyecto, desde el desarrollo del backend hasta la documentacion y el diseno de la interfaz.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el problema. Imaginense este escenario: Don Carlos tiene un supermercado de barrio con 90 productos. Cada vez que alguien compra, el tiene que sumar los precios con una calculadora, anotarlo en un cuaderno y darle el cambio al cliente. Eso tarda casi 5 minutos POR VENTA. Y al final del dia, los numeros no cuadran. Ese es el problema que nosotros resolvemos.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entender mejor el problema, fuimos al campo. Hablamos con Don Carlos, el dueno del supermercado. Usamos entrevistas, observacion directa y encuestas. Esto fue lo que nos dijo literalmente durante nuestra investigacion. Y esa frase nos confirmo todo: habia una necesidad real que resolver.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aqui esta nuestra respuesta. El Sistema La Esquina es una aplicacion web construida en Laravel que le permite a cualquier pequeno negocio digitalizar sus operaciones de forma simple, rapida y economica. No necesitas ser tecnologo para usarlo. Esta pensado para personas como Don Carlos, su esposa y sus empleados.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Pero, como funciona exactamente? El proceso es muy sencillo. El cajero inicia sesion, busca los productos en el catalogo, registra la venta y el sistema hace todo lo demas: calcula el total, genera el recibo y descuenta automaticamente el inventario. Al final del dia, el administrador ve el reporte completo de lo que se vendio.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sistema tiene 6 modulos principales. El mas importante es el de ventas, porque es el que usa el cajero todo el dia. Pero tambien hay control de inventario con alertas automaticas, gestion del catalogo de productos, reportes por periodo, administracion de usuarios y un modulo para registrar proveedores.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que gana exactamente Don Carlos con este sistema? Primero, ahorra tiempo. Cada venta que antes duraba 4 minutos ahora dura menos de 1. Segundo, eliminamos los errores. El sistema calcula, no las personas. Tercero, tiene informacion real de su negocio. Y cuarto, tiene control total sin necesitar contratar un contador o un tecnologo externo.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quien le sirve este sistema? Principalmente a tres tipos de personas. Al dueno del negocio, que quiere tener control sin complicarse. A los empleados, que necesitan atender rapido. Y a otros negocios similares como tiendas, graneros, papelerias y miscelaneas. En Colombia hay millones de negocios asi que aun no tienen ninguna herramienta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que nos hace diferentes? Hay muchos sistemas en el mercado, pero la mayoria son caros, complicados o requieren internet costoso. Nosotros lo pensamos diferente: un sistema economico, en espanol, con interfaz simple que cualquier persona puede aprender en menos de una hora. Hecho por jovenes colombianos que entienden la realidad del pais.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impacto potencial de este proyecto es enorme. Solo en Colombia hay mas de 1.5 millones de pequenos negocios sin ninguna herramienta digital. Si este sistema logra ayudar aunque sea a una fraccion de ellos, el impacto economico y social es significativo. En la version 2, pensamos incluir facturacion electronica para crecer aun 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concluir, les resumo lo que hicimos. Identificamos un problema real, investigamos con instrumentos de recoleccion de informacion, analizamos los datos, definimos los requerimientos en nuestro SRS y disenamos un sistema que realmente resuelve el problema. Este proyecto representa exactamente lo que el SENA nos ensenio: aprender haciendo, para la vida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con esto terminamos. Les hago una ultima pregunta: cuando la tecnologia llega al barrio, cuando el tendero puede competir con las grandes cadenas, cuando una familia puede tener datos reales de su negocio... eso es impacto social. Eso es lo que nosotros, como futuros tecnologos del SENA, queremos construir.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D0D"/>
          </a:solidFill>
          <a:ln w="12700">
            <a:solidFill>
              <a:srgbClr val="0D0D0D"/>
            </a:solidFill>
            <a:prstDash val="solid"/>
          </a:ln>
        </p:spPr>
      </p:sp>
      <p:sp>
        <p:nvSpPr>
          <p:cNvPr id="3" name="Shape 1"/>
          <p:cNvSpPr/>
          <p:nvPr/>
        </p:nvSpPr>
        <p:spPr>
          <a:xfrm>
            <a:off x="0" y="0"/>
            <a:ext cx="0" cy="5143500"/>
          </a:xfrm>
          <a:prstGeom prst="line">
            <a:avLst/>
          </a:prstGeom>
          <a:noFill/>
          <a:ln w="3810">
            <a:solidFill>
              <a:srgbClr val="2ECC40">
                <a:alpha val="96000"/>
              </a:srgbClr>
            </a:solidFill>
            <a:prstDash val="solid"/>
          </a:ln>
        </p:spPr>
      </p:sp>
      <p:sp>
        <p:nvSpPr>
          <p:cNvPr id="4" name="Shape 2"/>
          <p:cNvSpPr/>
          <p:nvPr/>
        </p:nvSpPr>
        <p:spPr>
          <a:xfrm>
            <a:off x="548640" y="0"/>
            <a:ext cx="0" cy="5143500"/>
          </a:xfrm>
          <a:prstGeom prst="line">
            <a:avLst/>
          </a:prstGeom>
          <a:noFill/>
          <a:ln w="3810">
            <a:solidFill>
              <a:srgbClr val="2ECC40">
                <a:alpha val="96000"/>
              </a:srgbClr>
            </a:solidFill>
            <a:prstDash val="solid"/>
          </a:ln>
        </p:spPr>
      </p:sp>
      <p:sp>
        <p:nvSpPr>
          <p:cNvPr id="5" name="Shape 3"/>
          <p:cNvSpPr/>
          <p:nvPr/>
        </p:nvSpPr>
        <p:spPr>
          <a:xfrm>
            <a:off x="1097280" y="0"/>
            <a:ext cx="0" cy="5143500"/>
          </a:xfrm>
          <a:prstGeom prst="line">
            <a:avLst/>
          </a:prstGeom>
          <a:noFill/>
          <a:ln w="3810">
            <a:solidFill>
              <a:srgbClr val="2ECC40">
                <a:alpha val="96000"/>
              </a:srgbClr>
            </a:solidFill>
            <a:prstDash val="solid"/>
          </a:ln>
        </p:spPr>
      </p:sp>
      <p:sp>
        <p:nvSpPr>
          <p:cNvPr id="6" name="Shape 4"/>
          <p:cNvSpPr/>
          <p:nvPr/>
        </p:nvSpPr>
        <p:spPr>
          <a:xfrm>
            <a:off x="1645920" y="0"/>
            <a:ext cx="0" cy="5143500"/>
          </a:xfrm>
          <a:prstGeom prst="line">
            <a:avLst/>
          </a:prstGeom>
          <a:noFill/>
          <a:ln w="3810">
            <a:solidFill>
              <a:srgbClr val="2ECC40">
                <a:alpha val="96000"/>
              </a:srgbClr>
            </a:solidFill>
            <a:prstDash val="solid"/>
          </a:ln>
        </p:spPr>
      </p:sp>
      <p:sp>
        <p:nvSpPr>
          <p:cNvPr id="7" name="Shape 5"/>
          <p:cNvSpPr/>
          <p:nvPr/>
        </p:nvSpPr>
        <p:spPr>
          <a:xfrm>
            <a:off x="2194560" y="0"/>
            <a:ext cx="0" cy="5143500"/>
          </a:xfrm>
          <a:prstGeom prst="line">
            <a:avLst/>
          </a:prstGeom>
          <a:noFill/>
          <a:ln w="3810">
            <a:solidFill>
              <a:srgbClr val="2ECC40">
                <a:alpha val="96000"/>
              </a:srgbClr>
            </a:solidFill>
            <a:prstDash val="solid"/>
          </a:ln>
        </p:spPr>
      </p:sp>
      <p:sp>
        <p:nvSpPr>
          <p:cNvPr id="8" name="Shape 6"/>
          <p:cNvSpPr/>
          <p:nvPr/>
        </p:nvSpPr>
        <p:spPr>
          <a:xfrm>
            <a:off x="2743200" y="0"/>
            <a:ext cx="0" cy="5143500"/>
          </a:xfrm>
          <a:prstGeom prst="line">
            <a:avLst/>
          </a:prstGeom>
          <a:noFill/>
          <a:ln w="3810">
            <a:solidFill>
              <a:srgbClr val="2ECC40">
                <a:alpha val="96000"/>
              </a:srgbClr>
            </a:solidFill>
            <a:prstDash val="solid"/>
          </a:ln>
        </p:spPr>
      </p:sp>
      <p:sp>
        <p:nvSpPr>
          <p:cNvPr id="9" name="Shape 7"/>
          <p:cNvSpPr/>
          <p:nvPr/>
        </p:nvSpPr>
        <p:spPr>
          <a:xfrm>
            <a:off x="3291840" y="0"/>
            <a:ext cx="0" cy="5143500"/>
          </a:xfrm>
          <a:prstGeom prst="line">
            <a:avLst/>
          </a:prstGeom>
          <a:noFill/>
          <a:ln w="3810">
            <a:solidFill>
              <a:srgbClr val="2ECC40">
                <a:alpha val="96000"/>
              </a:srgbClr>
            </a:solidFill>
            <a:prstDash val="solid"/>
          </a:ln>
        </p:spPr>
      </p:sp>
      <p:sp>
        <p:nvSpPr>
          <p:cNvPr id="10" name="Shape 8"/>
          <p:cNvSpPr/>
          <p:nvPr/>
        </p:nvSpPr>
        <p:spPr>
          <a:xfrm>
            <a:off x="3840480" y="0"/>
            <a:ext cx="0" cy="5143500"/>
          </a:xfrm>
          <a:prstGeom prst="line">
            <a:avLst/>
          </a:prstGeom>
          <a:noFill/>
          <a:ln w="3810">
            <a:solidFill>
              <a:srgbClr val="2ECC40">
                <a:alpha val="96000"/>
              </a:srgbClr>
            </a:solidFill>
            <a:prstDash val="solid"/>
          </a:ln>
        </p:spPr>
      </p:sp>
      <p:sp>
        <p:nvSpPr>
          <p:cNvPr id="11" name="Shape 9"/>
          <p:cNvSpPr/>
          <p:nvPr/>
        </p:nvSpPr>
        <p:spPr>
          <a:xfrm>
            <a:off x="4389120" y="0"/>
            <a:ext cx="0" cy="5143500"/>
          </a:xfrm>
          <a:prstGeom prst="line">
            <a:avLst/>
          </a:prstGeom>
          <a:noFill/>
          <a:ln w="3810">
            <a:solidFill>
              <a:srgbClr val="2ECC40">
                <a:alpha val="96000"/>
              </a:srgbClr>
            </a:solidFill>
            <a:prstDash val="solid"/>
          </a:ln>
        </p:spPr>
      </p:sp>
      <p:sp>
        <p:nvSpPr>
          <p:cNvPr id="12" name="Shape 10"/>
          <p:cNvSpPr/>
          <p:nvPr/>
        </p:nvSpPr>
        <p:spPr>
          <a:xfrm>
            <a:off x="4937760" y="0"/>
            <a:ext cx="0" cy="5143500"/>
          </a:xfrm>
          <a:prstGeom prst="line">
            <a:avLst/>
          </a:prstGeom>
          <a:noFill/>
          <a:ln w="3810">
            <a:solidFill>
              <a:srgbClr val="2ECC40">
                <a:alpha val="96000"/>
              </a:srgbClr>
            </a:solidFill>
            <a:prstDash val="solid"/>
          </a:ln>
        </p:spPr>
      </p:sp>
      <p:sp>
        <p:nvSpPr>
          <p:cNvPr id="13" name="Shape 11"/>
          <p:cNvSpPr/>
          <p:nvPr/>
        </p:nvSpPr>
        <p:spPr>
          <a:xfrm>
            <a:off x="5486400" y="0"/>
            <a:ext cx="0" cy="5143500"/>
          </a:xfrm>
          <a:prstGeom prst="line">
            <a:avLst/>
          </a:prstGeom>
          <a:noFill/>
          <a:ln w="3810">
            <a:solidFill>
              <a:srgbClr val="2ECC40">
                <a:alpha val="96000"/>
              </a:srgbClr>
            </a:solidFill>
            <a:prstDash val="solid"/>
          </a:ln>
        </p:spPr>
      </p:sp>
      <p:sp>
        <p:nvSpPr>
          <p:cNvPr id="14" name="Shape 12"/>
          <p:cNvSpPr/>
          <p:nvPr/>
        </p:nvSpPr>
        <p:spPr>
          <a:xfrm>
            <a:off x="6035040" y="0"/>
            <a:ext cx="0" cy="5143500"/>
          </a:xfrm>
          <a:prstGeom prst="line">
            <a:avLst/>
          </a:prstGeom>
          <a:noFill/>
          <a:ln w="3810">
            <a:solidFill>
              <a:srgbClr val="2ECC40">
                <a:alpha val="96000"/>
              </a:srgbClr>
            </a:solidFill>
            <a:prstDash val="solid"/>
          </a:ln>
        </p:spPr>
      </p:sp>
      <p:sp>
        <p:nvSpPr>
          <p:cNvPr id="15" name="Shape 13"/>
          <p:cNvSpPr/>
          <p:nvPr/>
        </p:nvSpPr>
        <p:spPr>
          <a:xfrm>
            <a:off x="6583680" y="0"/>
            <a:ext cx="0" cy="5143500"/>
          </a:xfrm>
          <a:prstGeom prst="line">
            <a:avLst/>
          </a:prstGeom>
          <a:noFill/>
          <a:ln w="3810">
            <a:solidFill>
              <a:srgbClr val="2ECC40">
                <a:alpha val="96000"/>
              </a:srgbClr>
            </a:solidFill>
            <a:prstDash val="solid"/>
          </a:ln>
        </p:spPr>
      </p:sp>
      <p:sp>
        <p:nvSpPr>
          <p:cNvPr id="16" name="Shape 14"/>
          <p:cNvSpPr/>
          <p:nvPr/>
        </p:nvSpPr>
        <p:spPr>
          <a:xfrm>
            <a:off x="7132320" y="0"/>
            <a:ext cx="0" cy="5143500"/>
          </a:xfrm>
          <a:prstGeom prst="line">
            <a:avLst/>
          </a:prstGeom>
          <a:noFill/>
          <a:ln w="3810">
            <a:solidFill>
              <a:srgbClr val="2ECC40">
                <a:alpha val="96000"/>
              </a:srgbClr>
            </a:solidFill>
            <a:prstDash val="solid"/>
          </a:ln>
        </p:spPr>
      </p:sp>
      <p:sp>
        <p:nvSpPr>
          <p:cNvPr id="17" name="Shape 15"/>
          <p:cNvSpPr/>
          <p:nvPr/>
        </p:nvSpPr>
        <p:spPr>
          <a:xfrm>
            <a:off x="7680960" y="0"/>
            <a:ext cx="0" cy="5143500"/>
          </a:xfrm>
          <a:prstGeom prst="line">
            <a:avLst/>
          </a:prstGeom>
          <a:noFill/>
          <a:ln w="3810">
            <a:solidFill>
              <a:srgbClr val="2ECC40">
                <a:alpha val="96000"/>
              </a:srgbClr>
            </a:solidFill>
            <a:prstDash val="solid"/>
          </a:ln>
        </p:spPr>
      </p:sp>
      <p:sp>
        <p:nvSpPr>
          <p:cNvPr id="18" name="Shape 16"/>
          <p:cNvSpPr/>
          <p:nvPr/>
        </p:nvSpPr>
        <p:spPr>
          <a:xfrm>
            <a:off x="8229600" y="0"/>
            <a:ext cx="0" cy="5143500"/>
          </a:xfrm>
          <a:prstGeom prst="line">
            <a:avLst/>
          </a:prstGeom>
          <a:noFill/>
          <a:ln w="3810">
            <a:solidFill>
              <a:srgbClr val="2ECC40">
                <a:alpha val="96000"/>
              </a:srgbClr>
            </a:solidFill>
            <a:prstDash val="solid"/>
          </a:ln>
        </p:spPr>
      </p:sp>
      <p:sp>
        <p:nvSpPr>
          <p:cNvPr id="19" name="Shape 17"/>
          <p:cNvSpPr/>
          <p:nvPr/>
        </p:nvSpPr>
        <p:spPr>
          <a:xfrm>
            <a:off x="8778240" y="0"/>
            <a:ext cx="0" cy="5143500"/>
          </a:xfrm>
          <a:prstGeom prst="line">
            <a:avLst/>
          </a:prstGeom>
          <a:noFill/>
          <a:ln w="3810">
            <a:solidFill>
              <a:srgbClr val="2ECC40">
                <a:alpha val="96000"/>
              </a:srgbClr>
            </a:solidFill>
            <a:prstDash val="solid"/>
          </a:ln>
        </p:spPr>
      </p:sp>
      <p:sp>
        <p:nvSpPr>
          <p:cNvPr id="20" name="Shape 18"/>
          <p:cNvSpPr/>
          <p:nvPr/>
        </p:nvSpPr>
        <p:spPr>
          <a:xfrm>
            <a:off x="0" y="0"/>
            <a:ext cx="9144000" cy="0"/>
          </a:xfrm>
          <a:prstGeom prst="line">
            <a:avLst/>
          </a:prstGeom>
          <a:noFill/>
          <a:ln w="3810">
            <a:solidFill>
              <a:srgbClr val="2ECC40">
                <a:alpha val="96000"/>
              </a:srgbClr>
            </a:solidFill>
            <a:prstDash val="solid"/>
          </a:ln>
        </p:spPr>
      </p:sp>
      <p:sp>
        <p:nvSpPr>
          <p:cNvPr id="21" name="Shape 19"/>
          <p:cNvSpPr/>
          <p:nvPr/>
        </p:nvSpPr>
        <p:spPr>
          <a:xfrm>
            <a:off x="0" y="548640"/>
            <a:ext cx="9144000" cy="0"/>
          </a:xfrm>
          <a:prstGeom prst="line">
            <a:avLst/>
          </a:prstGeom>
          <a:noFill/>
          <a:ln w="3810">
            <a:solidFill>
              <a:srgbClr val="2ECC40">
                <a:alpha val="96000"/>
              </a:srgbClr>
            </a:solidFill>
            <a:prstDash val="solid"/>
          </a:ln>
        </p:spPr>
      </p:sp>
      <p:sp>
        <p:nvSpPr>
          <p:cNvPr id="22" name="Shape 20"/>
          <p:cNvSpPr/>
          <p:nvPr/>
        </p:nvSpPr>
        <p:spPr>
          <a:xfrm>
            <a:off x="0" y="1097280"/>
            <a:ext cx="9144000" cy="0"/>
          </a:xfrm>
          <a:prstGeom prst="line">
            <a:avLst/>
          </a:prstGeom>
          <a:noFill/>
          <a:ln w="3810">
            <a:solidFill>
              <a:srgbClr val="2ECC40">
                <a:alpha val="96000"/>
              </a:srgbClr>
            </a:solidFill>
            <a:prstDash val="solid"/>
          </a:ln>
        </p:spPr>
      </p:sp>
      <p:sp>
        <p:nvSpPr>
          <p:cNvPr id="23" name="Shape 21"/>
          <p:cNvSpPr/>
          <p:nvPr/>
        </p:nvSpPr>
        <p:spPr>
          <a:xfrm>
            <a:off x="0" y="1645920"/>
            <a:ext cx="9144000" cy="0"/>
          </a:xfrm>
          <a:prstGeom prst="line">
            <a:avLst/>
          </a:prstGeom>
          <a:noFill/>
          <a:ln w="3810">
            <a:solidFill>
              <a:srgbClr val="2ECC40">
                <a:alpha val="96000"/>
              </a:srgbClr>
            </a:solidFill>
            <a:prstDash val="solid"/>
          </a:ln>
        </p:spPr>
      </p:sp>
      <p:sp>
        <p:nvSpPr>
          <p:cNvPr id="24" name="Shape 22"/>
          <p:cNvSpPr/>
          <p:nvPr/>
        </p:nvSpPr>
        <p:spPr>
          <a:xfrm>
            <a:off x="0" y="2194560"/>
            <a:ext cx="9144000" cy="0"/>
          </a:xfrm>
          <a:prstGeom prst="line">
            <a:avLst/>
          </a:prstGeom>
          <a:noFill/>
          <a:ln w="3810">
            <a:solidFill>
              <a:srgbClr val="2ECC40">
                <a:alpha val="96000"/>
              </a:srgbClr>
            </a:solidFill>
            <a:prstDash val="solid"/>
          </a:ln>
        </p:spPr>
      </p:sp>
      <p:sp>
        <p:nvSpPr>
          <p:cNvPr id="25" name="Shape 23"/>
          <p:cNvSpPr/>
          <p:nvPr/>
        </p:nvSpPr>
        <p:spPr>
          <a:xfrm>
            <a:off x="0" y="2743200"/>
            <a:ext cx="9144000" cy="0"/>
          </a:xfrm>
          <a:prstGeom prst="line">
            <a:avLst/>
          </a:prstGeom>
          <a:noFill/>
          <a:ln w="3810">
            <a:solidFill>
              <a:srgbClr val="2ECC40">
                <a:alpha val="96000"/>
              </a:srgbClr>
            </a:solidFill>
            <a:prstDash val="solid"/>
          </a:ln>
        </p:spPr>
      </p:sp>
      <p:sp>
        <p:nvSpPr>
          <p:cNvPr id="26" name="Shape 24"/>
          <p:cNvSpPr/>
          <p:nvPr/>
        </p:nvSpPr>
        <p:spPr>
          <a:xfrm>
            <a:off x="0" y="3291840"/>
            <a:ext cx="9144000" cy="0"/>
          </a:xfrm>
          <a:prstGeom prst="line">
            <a:avLst/>
          </a:prstGeom>
          <a:noFill/>
          <a:ln w="3810">
            <a:solidFill>
              <a:srgbClr val="2ECC40">
                <a:alpha val="96000"/>
              </a:srgbClr>
            </a:solidFill>
            <a:prstDash val="solid"/>
          </a:ln>
        </p:spPr>
      </p:sp>
      <p:sp>
        <p:nvSpPr>
          <p:cNvPr id="27" name="Shape 25"/>
          <p:cNvSpPr/>
          <p:nvPr/>
        </p:nvSpPr>
        <p:spPr>
          <a:xfrm>
            <a:off x="0" y="3840480"/>
            <a:ext cx="9144000" cy="0"/>
          </a:xfrm>
          <a:prstGeom prst="line">
            <a:avLst/>
          </a:prstGeom>
          <a:noFill/>
          <a:ln w="3810">
            <a:solidFill>
              <a:srgbClr val="2ECC40">
                <a:alpha val="96000"/>
              </a:srgbClr>
            </a:solidFill>
            <a:prstDash val="solid"/>
          </a:ln>
        </p:spPr>
      </p:sp>
      <p:sp>
        <p:nvSpPr>
          <p:cNvPr id="28" name="Shape 26"/>
          <p:cNvSpPr/>
          <p:nvPr/>
        </p:nvSpPr>
        <p:spPr>
          <a:xfrm>
            <a:off x="0" y="4389120"/>
            <a:ext cx="9144000" cy="0"/>
          </a:xfrm>
          <a:prstGeom prst="line">
            <a:avLst/>
          </a:prstGeom>
          <a:noFill/>
          <a:ln w="3810">
            <a:solidFill>
              <a:srgbClr val="2ECC40">
                <a:alpha val="96000"/>
              </a:srgbClr>
            </a:solidFill>
            <a:prstDash val="solid"/>
          </a:ln>
        </p:spPr>
      </p:sp>
      <p:sp>
        <p:nvSpPr>
          <p:cNvPr id="29" name="Shape 27"/>
          <p:cNvSpPr/>
          <p:nvPr/>
        </p:nvSpPr>
        <p:spPr>
          <a:xfrm>
            <a:off x="0" y="4937760"/>
            <a:ext cx="9144000" cy="0"/>
          </a:xfrm>
          <a:prstGeom prst="line">
            <a:avLst/>
          </a:prstGeom>
          <a:noFill/>
          <a:ln w="3810">
            <a:solidFill>
              <a:srgbClr val="2ECC40">
                <a:alpha val="96000"/>
              </a:srgbClr>
            </a:solidFill>
            <a:prstDash val="solid"/>
          </a:ln>
        </p:spPr>
      </p:sp>
      <p:sp>
        <p:nvSpPr>
          <p:cNvPr id="30" name="Shape 28"/>
          <p:cNvSpPr/>
          <p:nvPr/>
        </p:nvSpPr>
        <p:spPr>
          <a:xfrm>
            <a:off x="6400800" y="-914400"/>
            <a:ext cx="4572000" cy="4572000"/>
          </a:xfrm>
          <a:prstGeom prst="ellipse">
            <a:avLst/>
          </a:prstGeom>
          <a:solidFill>
            <a:srgbClr val="2ECC40">
              <a:alpha val="12000"/>
            </a:srgbClr>
          </a:solidFill>
          <a:ln w="12700">
            <a:solidFill>
              <a:srgbClr val="2ECC40">
                <a:alpha val="0"/>
              </a:srgbClr>
            </a:solidFill>
            <a:prstDash val="solid"/>
          </a:ln>
        </p:spPr>
      </p:sp>
      <p:sp>
        <p:nvSpPr>
          <p:cNvPr id="31" name="Shape 29"/>
          <p:cNvSpPr/>
          <p:nvPr/>
        </p:nvSpPr>
        <p:spPr>
          <a:xfrm>
            <a:off x="2560320" y="731520"/>
            <a:ext cx="4023360" cy="320040"/>
          </a:xfrm>
          <a:prstGeom prst="roundRect">
            <a:avLst>
              <a:gd name="adj" fmla="val 48571"/>
            </a:avLst>
          </a:prstGeom>
          <a:solidFill>
            <a:srgbClr val="0D0D0D"/>
          </a:solidFill>
          <a:ln w="12700">
            <a:solidFill>
              <a:srgbClr val="2ECC40"/>
            </a:solidFill>
            <a:prstDash val="solid"/>
          </a:ln>
        </p:spPr>
      </p:sp>
      <p:sp>
        <p:nvSpPr>
          <p:cNvPr id="32" name="Text 30"/>
          <p:cNvSpPr/>
          <p:nvPr/>
        </p:nvSpPr>
        <p:spPr>
          <a:xfrm>
            <a:off x="2560320" y="731520"/>
            <a:ext cx="4023360" cy="320040"/>
          </a:xfrm>
          <a:prstGeom prst="rect">
            <a:avLst/>
          </a:prstGeom>
          <a:noFill/>
          <a:ln/>
        </p:spPr>
        <p:txBody>
          <a:bodyPr wrap="square" rtlCol="0" anchor="ctr"/>
          <a:lstStyle/>
          <a:p>
            <a:pPr algn="ctr" indent="0" marL="0">
              <a:buNone/>
            </a:pPr>
            <a:r>
              <a:rPr lang="en-US" sz="900" b="1" spc="100" kern="0" dirty="0">
                <a:solidFill>
                  <a:srgbClr val="2ECC40"/>
                </a:solidFill>
                <a:latin typeface="Arial" pitchFamily="34" charset="0"/>
                <a:ea typeface="Arial" pitchFamily="34" charset="-122"/>
                <a:cs typeface="Arial" pitchFamily="34" charset="-120"/>
              </a:rPr>
              <a:t>🛒  Proyecto de Grado · ADSO · SENA 2025</a:t>
            </a:r>
            <a:endParaRPr lang="en-US" sz="900" dirty="0"/>
          </a:p>
        </p:txBody>
      </p:sp>
      <p:sp>
        <p:nvSpPr>
          <p:cNvPr id="33" name="Text 31"/>
          <p:cNvSpPr/>
          <p:nvPr/>
        </p:nvSpPr>
        <p:spPr>
          <a:xfrm>
            <a:off x="1371600" y="1371600"/>
            <a:ext cx="6400800" cy="822960"/>
          </a:xfrm>
          <a:prstGeom prst="rect">
            <a:avLst/>
          </a:prstGeom>
          <a:noFill/>
          <a:ln/>
        </p:spPr>
        <p:txBody>
          <a:bodyPr wrap="square" rtlCol="0" anchor="ctr"/>
          <a:lstStyle/>
          <a:p>
            <a:pPr algn="ctr" indent="0" marL="0">
              <a:buNone/>
            </a:pPr>
            <a:r>
              <a:rPr lang="en-US" sz="6000" b="1" dirty="0">
                <a:solidFill>
                  <a:srgbClr val="F5F5F0"/>
                </a:solidFill>
                <a:latin typeface="Arial Black" pitchFamily="34" charset="0"/>
                <a:ea typeface="Arial Black" pitchFamily="34" charset="-122"/>
                <a:cs typeface="Arial Black" pitchFamily="34" charset="-120"/>
              </a:rPr>
              <a:t>Sistema</a:t>
            </a:r>
            <a:endParaRPr lang="en-US" sz="6000" dirty="0"/>
          </a:p>
        </p:txBody>
      </p:sp>
      <p:sp>
        <p:nvSpPr>
          <p:cNvPr id="34" name="Text 32"/>
          <p:cNvSpPr/>
          <p:nvPr/>
        </p:nvSpPr>
        <p:spPr>
          <a:xfrm>
            <a:off x="1371600" y="2103120"/>
            <a:ext cx="6400800" cy="914400"/>
          </a:xfrm>
          <a:prstGeom prst="rect">
            <a:avLst/>
          </a:prstGeom>
          <a:noFill/>
          <a:ln/>
        </p:spPr>
        <p:txBody>
          <a:bodyPr wrap="square" rtlCol="0" anchor="ctr"/>
          <a:lstStyle/>
          <a:p>
            <a:pPr algn="ctr" indent="0" marL="0">
              <a:buNone/>
            </a:pPr>
            <a:r>
              <a:rPr lang="en-US" sz="6800" b="1" dirty="0">
                <a:solidFill>
                  <a:srgbClr val="2ECC40"/>
                </a:solidFill>
                <a:latin typeface="Arial Black" pitchFamily="34" charset="0"/>
                <a:ea typeface="Arial Black" pitchFamily="34" charset="-122"/>
                <a:cs typeface="Arial Black" pitchFamily="34" charset="-120"/>
              </a:rPr>
              <a:t>La Esquina</a:t>
            </a:r>
            <a:endParaRPr lang="en-US" sz="6800" dirty="0"/>
          </a:p>
        </p:txBody>
      </p:sp>
      <p:sp>
        <p:nvSpPr>
          <p:cNvPr id="35" name="Text 33"/>
          <p:cNvSpPr/>
          <p:nvPr/>
        </p:nvSpPr>
        <p:spPr>
          <a:xfrm>
            <a:off x="1828800" y="3108960"/>
            <a:ext cx="5486400" cy="640080"/>
          </a:xfrm>
          <a:prstGeom prst="rect">
            <a:avLst/>
          </a:prstGeom>
          <a:noFill/>
          <a:ln/>
        </p:spPr>
        <p:txBody>
          <a:bodyPr wrap="square" rtlCol="0" anchor="ctr"/>
          <a:lstStyle/>
          <a:p>
            <a:pPr algn="ctr" indent="0" marL="0">
              <a:lnSpc>
                <a:spcPct val="140000"/>
              </a:lnSpc>
              <a:buNone/>
            </a:pPr>
            <a:r>
              <a:rPr lang="en-US" sz="1300" dirty="0">
                <a:solidFill>
                  <a:srgbClr val="888888"/>
                </a:solidFill>
                <a:latin typeface="Calibri" pitchFamily="34" charset="0"/>
                <a:ea typeface="Calibri" pitchFamily="34" charset="-122"/>
                <a:cs typeface="Calibri" pitchFamily="34" charset="-120"/>
              </a:rPr>
              <a:t>Un software sencillo para que los negocios de barrio controlen sus ventas e inventario sin complicaciones.</a:t>
            </a:r>
            <a:endParaRPr lang="en-US" sz="1300" dirty="0"/>
          </a:p>
        </p:txBody>
      </p:sp>
      <p:sp>
        <p:nvSpPr>
          <p:cNvPr id="36" name="Shape 34"/>
          <p:cNvSpPr/>
          <p:nvPr/>
        </p:nvSpPr>
        <p:spPr>
          <a:xfrm>
            <a:off x="2743200" y="3931920"/>
            <a:ext cx="3657600" cy="320040"/>
          </a:xfrm>
          <a:prstGeom prst="roundRect">
            <a:avLst>
              <a:gd name="adj" fmla="val 22857"/>
            </a:avLst>
          </a:prstGeom>
          <a:solidFill>
            <a:srgbClr val="2ECC40">
              <a:alpha val="12000"/>
            </a:srgbClr>
          </a:solidFill>
          <a:ln w="12700">
            <a:solidFill>
              <a:srgbClr val="2ECC40"/>
            </a:solidFill>
            <a:prstDash val="solid"/>
          </a:ln>
        </p:spPr>
      </p:sp>
      <p:sp>
        <p:nvSpPr>
          <p:cNvPr id="37" name="Text 35"/>
          <p:cNvSpPr/>
          <p:nvPr/>
        </p:nvSpPr>
        <p:spPr>
          <a:xfrm>
            <a:off x="2743200" y="3931920"/>
            <a:ext cx="3657600" cy="320040"/>
          </a:xfrm>
          <a:prstGeom prst="rect">
            <a:avLst/>
          </a:prstGeom>
          <a:noFill/>
          <a:ln/>
        </p:spPr>
        <p:txBody>
          <a:bodyPr wrap="square" rtlCol="0" anchor="ctr"/>
          <a:lstStyle/>
          <a:p>
            <a:pPr algn="ctr" indent="0" marL="0">
              <a:buNone/>
            </a:pPr>
            <a:r>
              <a:rPr lang="en-US" sz="1000" dirty="0">
                <a:solidFill>
                  <a:srgbClr val="A8F0B0"/>
                </a:solidFill>
                <a:latin typeface="Arial" pitchFamily="34" charset="0"/>
                <a:ea typeface="Arial" pitchFamily="34" charset="-122"/>
                <a:cs typeface="Arial" pitchFamily="34" charset="-120"/>
              </a:rPr>
              <a:t>👨‍💻  Equipo de Desarrollo — Ficha ADSO 2025</a:t>
            </a:r>
            <a:endParaRPr lang="en-US" sz="1000" dirty="0"/>
          </a:p>
        </p:txBody>
      </p:sp>
      <p:sp>
        <p:nvSpPr>
          <p:cNvPr id="38" name="Text 36"/>
          <p:cNvSpPr/>
          <p:nvPr/>
        </p:nvSpPr>
        <p:spPr>
          <a:xfrm>
            <a:off x="5943600" y="182880"/>
            <a:ext cx="3017520" cy="201168"/>
          </a:xfrm>
          <a:prstGeom prst="rect">
            <a:avLst/>
          </a:prstGeom>
          <a:noFill/>
          <a:ln/>
        </p:spPr>
        <p:txBody>
          <a:bodyPr wrap="square" rtlCol="0" anchor="ctr"/>
          <a:lstStyle/>
          <a:p>
            <a:pPr algn="r" indent="0" marL="0">
              <a:buNone/>
            </a:pPr>
            <a:r>
              <a:rPr lang="en-US" sz="800" b="1" spc="200" kern="0" dirty="0">
                <a:solidFill>
                  <a:srgbClr val="2ECC40"/>
                </a:solidFill>
                <a:latin typeface="Arial" pitchFamily="34" charset="0"/>
                <a:ea typeface="Arial" pitchFamily="34" charset="-122"/>
                <a:cs typeface="Arial" pitchFamily="34" charset="-120"/>
              </a:rPr>
              <a:t>PORTADA</a:t>
            </a:r>
            <a:endParaRPr lang="en-US" sz="800" dirty="0"/>
          </a:p>
        </p:txBody>
      </p:sp>
      <p:sp>
        <p:nvSpPr>
          <p:cNvPr id="39" name="Text 37"/>
          <p:cNvSpPr/>
          <p:nvPr/>
        </p:nvSpPr>
        <p:spPr>
          <a:xfrm>
            <a:off x="7498080" y="4800600"/>
            <a:ext cx="1463040" cy="18288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1  /  13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A0A"/>
          </a:solidFill>
          <a:ln w="12700">
            <a:solidFill>
              <a:srgbClr val="0A0A0A"/>
            </a:solidFill>
            <a:prstDash val="solid"/>
          </a:ln>
        </p:spPr>
      </p:sp>
      <p:sp>
        <p:nvSpPr>
          <p:cNvPr id="3" name="Text 1"/>
          <p:cNvSpPr/>
          <p:nvPr/>
        </p:nvSpPr>
        <p:spPr>
          <a:xfrm>
            <a:off x="502920" y="365760"/>
            <a:ext cx="7315200" cy="228600"/>
          </a:xfrm>
          <a:prstGeom prst="rect">
            <a:avLst/>
          </a:prstGeom>
          <a:noFill/>
          <a:ln/>
        </p:spPr>
        <p:txBody>
          <a:bodyPr wrap="square" rtlCol="0" anchor="ctr"/>
          <a:lstStyle/>
          <a:p>
            <a:pPr indent="0" marL="0">
              <a:buNone/>
            </a:pPr>
            <a:r>
              <a:rPr lang="en-US" sz="900" b="1" spc="300" kern="0" dirty="0">
                <a:solidFill>
                  <a:srgbClr val="2ECC40"/>
                </a:solidFill>
                <a:latin typeface="Arial" pitchFamily="34" charset="0"/>
                <a:ea typeface="Arial" pitchFamily="34" charset="-122"/>
                <a:cs typeface="Arial" pitchFamily="34" charset="-120"/>
              </a:rPr>
              <a:t>👤  DESARROLLADOR</a:t>
            </a:r>
            <a:endParaRPr lang="en-US" sz="900" dirty="0"/>
          </a:p>
        </p:txBody>
      </p:sp>
      <p:sp>
        <p:nvSpPr>
          <p:cNvPr id="4" name="Text 2"/>
          <p:cNvSpPr/>
          <p:nvPr/>
        </p:nvSpPr>
        <p:spPr>
          <a:xfrm>
            <a:off x="502920" y="621792"/>
            <a:ext cx="7315200" cy="914400"/>
          </a:xfrm>
          <a:prstGeom prst="rect">
            <a:avLst/>
          </a:prstGeom>
          <a:noFill/>
          <a:ln/>
        </p:spPr>
        <p:txBody>
          <a:bodyPr wrap="square" lIns="0" tIns="0" rIns="0" bIns="0" rtlCol="0" anchor="ctr"/>
          <a:lstStyle/>
          <a:p>
            <a:pPr indent="0" marL="0">
              <a:lnSpc>
                <a:spcPct val="110000"/>
              </a:lnSpc>
              <a:buNone/>
            </a:pPr>
            <a:r>
              <a:rPr lang="en-US" sz="3200" b="1" dirty="0">
                <a:solidFill>
                  <a:srgbClr val="F5F5F0"/>
                </a:solidFill>
                <a:latin typeface="Arial Black" pitchFamily="34" charset="0"/>
                <a:ea typeface="Arial Black" pitchFamily="34" charset="-122"/>
                <a:cs typeface="Arial Black" pitchFamily="34" charset="-120"/>
              </a:rPr>
              <a:t>La persona</a:t>
            </a:r>
            <a:endParaRPr lang="en-US" sz="3200" dirty="0"/>
          </a:p>
          <a:p>
            <a:pPr indent="0" marL="0">
              <a:lnSpc>
                <a:spcPct val="110000"/>
              </a:lnSpc>
              <a:buNone/>
            </a:pPr>
            <a:r>
              <a:rPr lang="en-US" sz="3200" b="1" dirty="0">
                <a:solidFill>
                  <a:srgbClr val="F5F5F0"/>
                </a:solidFill>
                <a:latin typeface="Arial Black" pitchFamily="34" charset="0"/>
                <a:ea typeface="Arial Black" pitchFamily="34" charset="-122"/>
                <a:cs typeface="Arial Black" pitchFamily="34" charset="-120"/>
              </a:rPr>
              <a:t>detrás del proyecto</a:t>
            </a:r>
            <a:endParaRPr lang="en-US" sz="3200" dirty="0"/>
          </a:p>
        </p:txBody>
      </p:sp>
      <p:sp>
        <p:nvSpPr>
          <p:cNvPr id="5" name="Shape 3"/>
          <p:cNvSpPr/>
          <p:nvPr/>
        </p:nvSpPr>
        <p:spPr>
          <a:xfrm>
            <a:off x="2651760" y="1737360"/>
            <a:ext cx="3840480" cy="2194560"/>
          </a:xfrm>
          <a:prstGeom prst="rect">
            <a:avLst/>
          </a:prstGeom>
          <a:solidFill>
            <a:srgbClr val="161616"/>
          </a:solidFill>
          <a:ln w="12700">
            <a:solidFill>
              <a:srgbClr val="222222"/>
            </a:solidFill>
            <a:prstDash val="solid"/>
          </a:ln>
        </p:spPr>
      </p:sp>
      <p:sp>
        <p:nvSpPr>
          <p:cNvPr id="6" name="Shape 4"/>
          <p:cNvSpPr/>
          <p:nvPr/>
        </p:nvSpPr>
        <p:spPr>
          <a:xfrm>
            <a:off x="4206240" y="1965960"/>
            <a:ext cx="731520" cy="731520"/>
          </a:xfrm>
          <a:prstGeom prst="ellipse">
            <a:avLst/>
          </a:prstGeom>
          <a:solidFill>
            <a:srgbClr val="2ECC40">
              <a:alpha val="18000"/>
            </a:srgbClr>
          </a:solidFill>
          <a:ln w="19050">
            <a:solidFill>
              <a:srgbClr val="2ECC40"/>
            </a:solidFill>
            <a:prstDash val="solid"/>
          </a:ln>
        </p:spPr>
      </p:sp>
      <p:sp>
        <p:nvSpPr>
          <p:cNvPr id="7" name="Text 5"/>
          <p:cNvSpPr/>
          <p:nvPr/>
        </p:nvSpPr>
        <p:spPr>
          <a:xfrm>
            <a:off x="4206240" y="1965960"/>
            <a:ext cx="731520" cy="73152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8" name="Text 6"/>
          <p:cNvSpPr/>
          <p:nvPr/>
        </p:nvSpPr>
        <p:spPr>
          <a:xfrm>
            <a:off x="2834640" y="2816352"/>
            <a:ext cx="3474720" cy="347472"/>
          </a:xfrm>
          <a:prstGeom prst="rect">
            <a:avLst/>
          </a:prstGeom>
          <a:noFill/>
          <a:ln/>
        </p:spPr>
        <p:txBody>
          <a:bodyPr wrap="square" lIns="0" tIns="0" rIns="0" bIns="0" rtlCol="0" anchor="ctr"/>
          <a:lstStyle/>
          <a:p>
            <a:pPr algn="ctr" indent="0" marL="0">
              <a:buNone/>
            </a:pPr>
            <a:r>
              <a:rPr lang="en-US" sz="2000" b="1" dirty="0">
                <a:solidFill>
                  <a:srgbClr val="F5F5F0"/>
                </a:solidFill>
                <a:latin typeface="Arial Black" pitchFamily="34" charset="0"/>
                <a:ea typeface="Arial Black" pitchFamily="34" charset="-122"/>
                <a:cs typeface="Arial Black" pitchFamily="34" charset="-120"/>
              </a:rPr>
              <a:t>Miguel Estrada</a:t>
            </a:r>
            <a:endParaRPr lang="en-US" sz="2000" dirty="0"/>
          </a:p>
        </p:txBody>
      </p:sp>
      <p:sp>
        <p:nvSpPr>
          <p:cNvPr id="9" name="Text 7"/>
          <p:cNvSpPr/>
          <p:nvPr/>
        </p:nvSpPr>
        <p:spPr>
          <a:xfrm>
            <a:off x="2834640" y="3200400"/>
            <a:ext cx="3474720" cy="256032"/>
          </a:xfrm>
          <a:prstGeom prst="rect">
            <a:avLst/>
          </a:prstGeom>
          <a:noFill/>
          <a:ln/>
        </p:spPr>
        <p:txBody>
          <a:bodyPr wrap="square" lIns="0" tIns="0" rIns="0" bIns="0" rtlCol="0" anchor="ctr"/>
          <a:lstStyle/>
          <a:p>
            <a:pPr algn="ctr" indent="0" marL="0">
              <a:buNone/>
            </a:pPr>
            <a:r>
              <a:rPr lang="en-US" sz="1200" dirty="0">
                <a:solidFill>
                  <a:srgbClr val="2ECC40"/>
                </a:solidFill>
                <a:latin typeface="Calibri" pitchFamily="34" charset="0"/>
                <a:ea typeface="Calibri" pitchFamily="34" charset="-122"/>
                <a:cs typeface="Calibri" pitchFamily="34" charset="-120"/>
              </a:rPr>
              <a:t>Desarrollador Full Stack · Analista · QA</a:t>
            </a:r>
            <a:endParaRPr lang="en-US" sz="1200" dirty="0"/>
          </a:p>
        </p:txBody>
      </p:sp>
      <p:sp>
        <p:nvSpPr>
          <p:cNvPr id="10" name="Text 8"/>
          <p:cNvSpPr/>
          <p:nvPr/>
        </p:nvSpPr>
        <p:spPr>
          <a:xfrm>
            <a:off x="2834640" y="3493008"/>
            <a:ext cx="3474720" cy="256032"/>
          </a:xfrm>
          <a:prstGeom prst="rect">
            <a:avLst/>
          </a:prstGeom>
          <a:noFill/>
          <a:ln/>
        </p:spPr>
        <p:txBody>
          <a:bodyPr wrap="square" lIns="0" tIns="0" rIns="0" bIns="0" rtlCol="0" anchor="ctr"/>
          <a:lstStyle/>
          <a:p>
            <a:pPr algn="ctr" indent="0" marL="0">
              <a:buNone/>
            </a:pPr>
            <a:r>
              <a:rPr lang="en-US" sz="1000" dirty="0">
                <a:solidFill>
                  <a:srgbClr val="888888"/>
                </a:solidFill>
                <a:latin typeface="Calibri" pitchFamily="34" charset="0"/>
                <a:ea typeface="Calibri" pitchFamily="34" charset="-122"/>
                <a:cs typeface="Calibri" pitchFamily="34" charset="-120"/>
              </a:rPr>
              <a:t>MySQL · Blade Templates · Documentacion</a:t>
            </a:r>
            <a:endParaRPr lang="en-US" sz="1000" dirty="0"/>
          </a:p>
        </p:txBody>
      </p:sp>
      <p:sp>
        <p:nvSpPr>
          <p:cNvPr id="11" name="Text 9"/>
          <p:cNvSpPr/>
          <p:nvPr/>
        </p:nvSpPr>
        <p:spPr>
          <a:xfrm>
            <a:off x="5943600" y="182880"/>
            <a:ext cx="3017520" cy="201168"/>
          </a:xfrm>
          <a:prstGeom prst="rect">
            <a:avLst/>
          </a:prstGeom>
          <a:noFill/>
          <a:ln/>
        </p:spPr>
        <p:txBody>
          <a:bodyPr wrap="square" rtlCol="0" anchor="ctr"/>
          <a:lstStyle/>
          <a:p>
            <a:pPr algn="r" indent="0" marL="0">
              <a:buNone/>
            </a:pPr>
            <a:r>
              <a:rPr lang="en-US" sz="800" b="1" spc="200" kern="0" dirty="0">
                <a:solidFill>
                  <a:srgbClr val="2ECC40"/>
                </a:solidFill>
                <a:latin typeface="Arial" pitchFamily="34" charset="0"/>
                <a:ea typeface="Arial" pitchFamily="34" charset="-122"/>
                <a:cs typeface="Arial" pitchFamily="34" charset="-120"/>
              </a:rPr>
              <a:t>EQUIPO</a:t>
            </a:r>
            <a:endParaRPr lang="en-US" sz="800" dirty="0"/>
          </a:p>
        </p:txBody>
      </p:sp>
      <p:sp>
        <p:nvSpPr>
          <p:cNvPr id="12" name="Text 10"/>
          <p:cNvSpPr/>
          <p:nvPr/>
        </p:nvSpPr>
        <p:spPr>
          <a:xfrm>
            <a:off x="7498080" y="4800600"/>
            <a:ext cx="1463040" cy="18288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D0D"/>
          </a:solidFill>
          <a:ln w="12700">
            <a:solidFill>
              <a:srgbClr val="0D0D0D"/>
            </a:solidFill>
            <a:prstDash val="solid"/>
          </a:ln>
        </p:spPr>
      </p:sp>
      <p:sp>
        <p:nvSpPr>
          <p:cNvPr id="3" name="Text 1"/>
          <p:cNvSpPr/>
          <p:nvPr/>
        </p:nvSpPr>
        <p:spPr>
          <a:xfrm>
            <a:off x="457200" y="365760"/>
            <a:ext cx="3657600" cy="228600"/>
          </a:xfrm>
          <a:prstGeom prst="rect">
            <a:avLst/>
          </a:prstGeom>
          <a:noFill/>
          <a:ln/>
        </p:spPr>
        <p:txBody>
          <a:bodyPr wrap="square" rtlCol="0" anchor="ctr"/>
          <a:lstStyle/>
          <a:p>
            <a:pPr indent="0" marL="0">
              <a:buNone/>
            </a:pPr>
            <a:r>
              <a:rPr lang="en-US" sz="900" b="1" spc="300" kern="0" dirty="0">
                <a:solidFill>
                  <a:srgbClr val="FF4444"/>
                </a:solidFill>
                <a:latin typeface="Arial" pitchFamily="34" charset="0"/>
                <a:ea typeface="Arial" pitchFamily="34" charset="-122"/>
                <a:cs typeface="Arial" pitchFamily="34" charset="-120"/>
              </a:rPr>
              <a:t>⚠️  EL PROBLEMA</a:t>
            </a:r>
            <a:endParaRPr lang="en-US" sz="900" dirty="0"/>
          </a:p>
        </p:txBody>
      </p:sp>
      <p:sp>
        <p:nvSpPr>
          <p:cNvPr id="4" name="Text 2"/>
          <p:cNvSpPr/>
          <p:nvPr/>
        </p:nvSpPr>
        <p:spPr>
          <a:xfrm>
            <a:off x="457200" y="640080"/>
            <a:ext cx="3840480" cy="1463040"/>
          </a:xfrm>
          <a:prstGeom prst="rect">
            <a:avLst/>
          </a:prstGeom>
          <a:noFill/>
          <a:ln/>
        </p:spPr>
        <p:txBody>
          <a:bodyPr wrap="square" lIns="0" tIns="0" rIns="0" bIns="0" rtlCol="0" anchor="ctr"/>
          <a:lstStyle/>
          <a:p>
            <a:pPr indent="0" marL="0">
              <a:lnSpc>
                <a:spcPct val="110000"/>
              </a:lnSpc>
              <a:buNone/>
            </a:pPr>
            <a:r>
              <a:rPr lang="en-US" sz="2800" b="1" dirty="0">
                <a:solidFill>
                  <a:srgbClr val="F5F5F0"/>
                </a:solidFill>
                <a:latin typeface="Arial Black" pitchFamily="34" charset="0"/>
                <a:ea typeface="Arial Black" pitchFamily="34" charset="-122"/>
                <a:cs typeface="Arial Black" pitchFamily="34" charset="-120"/>
              </a:rPr>
              <a:t>Los negocios de barrio</a:t>
            </a:r>
            <a:endParaRPr lang="en-US" sz="2800" dirty="0"/>
          </a:p>
          <a:p>
            <a:pPr indent="0" marL="0">
              <a:lnSpc>
                <a:spcPct val="110000"/>
              </a:lnSpc>
              <a:buNone/>
            </a:pPr>
            <a:r>
              <a:rPr lang="en-US" sz="2800" b="1" dirty="0">
                <a:solidFill>
                  <a:srgbClr val="F5F5F0"/>
                </a:solidFill>
                <a:latin typeface="Arial Black" pitchFamily="34" charset="0"/>
                <a:ea typeface="Arial Black" pitchFamily="34" charset="-122"/>
                <a:cs typeface="Arial Black" pitchFamily="34" charset="-120"/>
              </a:rPr>
              <a:t>siguen atrapados</a:t>
            </a:r>
            <a:endParaRPr lang="en-US" sz="2800" dirty="0"/>
          </a:p>
          <a:p>
            <a:pPr indent="0" marL="0">
              <a:lnSpc>
                <a:spcPct val="110000"/>
              </a:lnSpc>
              <a:buNone/>
            </a:pPr>
            <a:r>
              <a:rPr lang="en-US" sz="2800" b="1" dirty="0">
                <a:solidFill>
                  <a:srgbClr val="F5F5F0"/>
                </a:solidFill>
                <a:latin typeface="Arial Black" pitchFamily="34" charset="0"/>
                <a:ea typeface="Arial Black" pitchFamily="34" charset="-122"/>
                <a:cs typeface="Arial Black" pitchFamily="34" charset="-120"/>
              </a:rPr>
              <a:t>en el pasado</a:t>
            </a:r>
            <a:endParaRPr lang="en-US" sz="2800" dirty="0"/>
          </a:p>
        </p:txBody>
      </p:sp>
      <p:sp>
        <p:nvSpPr>
          <p:cNvPr id="5" name="Text 3"/>
          <p:cNvSpPr/>
          <p:nvPr/>
        </p:nvSpPr>
        <p:spPr>
          <a:xfrm>
            <a:off x="457200" y="2194560"/>
            <a:ext cx="3657600" cy="822960"/>
          </a:xfrm>
          <a:prstGeom prst="rect">
            <a:avLst/>
          </a:prstGeom>
          <a:noFill/>
          <a:ln/>
        </p:spPr>
        <p:txBody>
          <a:bodyPr wrap="square" lIns="0" tIns="0" rIns="0" bIns="0" rtlCol="0" anchor="ctr"/>
          <a:lstStyle/>
          <a:p>
            <a:pPr indent="0" marL="0">
              <a:lnSpc>
                <a:spcPct val="140000"/>
              </a:lnSpc>
              <a:buNone/>
            </a:pPr>
            <a:r>
              <a:rPr lang="en-US" sz="1300" dirty="0">
                <a:solidFill>
                  <a:srgbClr val="888888"/>
                </a:solidFill>
                <a:latin typeface="Calibri" pitchFamily="34" charset="0"/>
                <a:ea typeface="Calibri" pitchFamily="34" charset="-122"/>
                <a:cs typeface="Calibri" pitchFamily="34" charset="-120"/>
              </a:rPr>
              <a:t>Cuadernos, calculadoras y hojas de papel. Asi manejan sus ventas miles de pequenos comerciantes hoy en dia.</a:t>
            </a:r>
            <a:endParaRPr lang="en-US" sz="1300" dirty="0"/>
          </a:p>
        </p:txBody>
      </p:sp>
      <p:sp>
        <p:nvSpPr>
          <p:cNvPr id="6" name="Shape 4"/>
          <p:cNvSpPr/>
          <p:nvPr/>
        </p:nvSpPr>
        <p:spPr>
          <a:xfrm>
            <a:off x="4572000" y="320040"/>
            <a:ext cx="4114800" cy="914400"/>
          </a:xfrm>
          <a:prstGeom prst="rect">
            <a:avLst/>
          </a:prstGeom>
          <a:solidFill>
            <a:srgbClr val="161616"/>
          </a:solidFill>
          <a:ln w="12700">
            <a:solidFill>
              <a:srgbClr val="222222"/>
            </a:solidFill>
            <a:prstDash val="solid"/>
          </a:ln>
        </p:spPr>
      </p:sp>
      <p:sp>
        <p:nvSpPr>
          <p:cNvPr id="7" name="Shape 5"/>
          <p:cNvSpPr/>
          <p:nvPr/>
        </p:nvSpPr>
        <p:spPr>
          <a:xfrm>
            <a:off x="4572000" y="320040"/>
            <a:ext cx="36576" cy="914400"/>
          </a:xfrm>
          <a:prstGeom prst="rect">
            <a:avLst/>
          </a:prstGeom>
          <a:solidFill>
            <a:srgbClr val="FF4444"/>
          </a:solidFill>
          <a:ln w="12700">
            <a:solidFill>
              <a:srgbClr val="FF4444"/>
            </a:solidFill>
            <a:prstDash val="solid"/>
          </a:ln>
        </p:spPr>
      </p:sp>
      <p:sp>
        <p:nvSpPr>
          <p:cNvPr id="8" name="Text 6"/>
          <p:cNvSpPr/>
          <p:nvPr/>
        </p:nvSpPr>
        <p:spPr>
          <a:xfrm>
            <a:off x="4681728" y="393192"/>
            <a:ext cx="45720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9" name="Text 7"/>
          <p:cNvSpPr/>
          <p:nvPr/>
        </p:nvSpPr>
        <p:spPr>
          <a:xfrm>
            <a:off x="5212080" y="393192"/>
            <a:ext cx="3291840" cy="256032"/>
          </a:xfrm>
          <a:prstGeom prst="rect">
            <a:avLst/>
          </a:prstGeom>
          <a:noFill/>
          <a:ln/>
        </p:spPr>
        <p:txBody>
          <a:bodyPr wrap="square" lIns="0" tIns="0" rIns="0" bIns="0" rtlCol="0" anchor="ctr"/>
          <a:lstStyle/>
          <a:p>
            <a:pPr indent="0" marL="0">
              <a:buNone/>
            </a:pPr>
            <a:r>
              <a:rPr lang="en-US" sz="1200" b="1" dirty="0">
                <a:solidFill>
                  <a:srgbClr val="F5F5F0"/>
                </a:solidFill>
                <a:latin typeface="Arial Black" pitchFamily="34" charset="0"/>
                <a:ea typeface="Arial Black" pitchFamily="34" charset="-122"/>
                <a:cs typeface="Arial Black" pitchFamily="34" charset="-120"/>
              </a:rPr>
              <a:t>Tiempo perdido</a:t>
            </a:r>
            <a:endParaRPr lang="en-US" sz="1200" dirty="0"/>
          </a:p>
        </p:txBody>
      </p:sp>
      <p:sp>
        <p:nvSpPr>
          <p:cNvPr id="10" name="Text 8"/>
          <p:cNvSpPr/>
          <p:nvPr/>
        </p:nvSpPr>
        <p:spPr>
          <a:xfrm>
            <a:off x="5212080" y="667512"/>
            <a:ext cx="3291840" cy="475488"/>
          </a:xfrm>
          <a:prstGeom prst="rect">
            <a:avLst/>
          </a:prstGeom>
          <a:noFill/>
          <a:ln/>
        </p:spPr>
        <p:txBody>
          <a:bodyPr wrap="square" lIns="0" tIns="0" rIns="0" bIns="0" rtlCol="0" anchor="ctr"/>
          <a:lstStyle/>
          <a:p>
            <a:pPr indent="0" marL="0">
              <a:lnSpc>
                <a:spcPct val="130000"/>
              </a:lnSpc>
              <a:buNone/>
            </a:pPr>
            <a:r>
              <a:rPr lang="en-US" sz="1050" dirty="0">
                <a:solidFill>
                  <a:srgbClr val="888888"/>
                </a:solidFill>
                <a:latin typeface="Calibri" pitchFamily="34" charset="0"/>
                <a:ea typeface="Calibri" pitchFamily="34" charset="-122"/>
                <a:cs typeface="Calibri" pitchFamily="34" charset="-120"/>
              </a:rPr>
              <a:t>Cada venta tarda 4-5 minutos calculando a mano. En un dia pueden ser horas perdidas.</a:t>
            </a:r>
            <a:endParaRPr lang="en-US" sz="1050" dirty="0"/>
          </a:p>
        </p:txBody>
      </p:sp>
      <p:sp>
        <p:nvSpPr>
          <p:cNvPr id="11" name="Shape 9"/>
          <p:cNvSpPr/>
          <p:nvPr/>
        </p:nvSpPr>
        <p:spPr>
          <a:xfrm>
            <a:off x="4572000" y="1325880"/>
            <a:ext cx="4114800" cy="914400"/>
          </a:xfrm>
          <a:prstGeom prst="rect">
            <a:avLst/>
          </a:prstGeom>
          <a:solidFill>
            <a:srgbClr val="161616"/>
          </a:solidFill>
          <a:ln w="12700">
            <a:solidFill>
              <a:srgbClr val="222222"/>
            </a:solidFill>
            <a:prstDash val="solid"/>
          </a:ln>
        </p:spPr>
      </p:sp>
      <p:sp>
        <p:nvSpPr>
          <p:cNvPr id="12" name="Shape 10"/>
          <p:cNvSpPr/>
          <p:nvPr/>
        </p:nvSpPr>
        <p:spPr>
          <a:xfrm>
            <a:off x="4572000" y="1325880"/>
            <a:ext cx="36576" cy="914400"/>
          </a:xfrm>
          <a:prstGeom prst="rect">
            <a:avLst/>
          </a:prstGeom>
          <a:solidFill>
            <a:srgbClr val="FF4444"/>
          </a:solidFill>
          <a:ln w="12700">
            <a:solidFill>
              <a:srgbClr val="FF4444"/>
            </a:solidFill>
            <a:prstDash val="solid"/>
          </a:ln>
        </p:spPr>
      </p:sp>
      <p:sp>
        <p:nvSpPr>
          <p:cNvPr id="13" name="Text 11"/>
          <p:cNvSpPr/>
          <p:nvPr/>
        </p:nvSpPr>
        <p:spPr>
          <a:xfrm>
            <a:off x="4681728" y="1399032"/>
            <a:ext cx="45720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4" name="Text 12"/>
          <p:cNvSpPr/>
          <p:nvPr/>
        </p:nvSpPr>
        <p:spPr>
          <a:xfrm>
            <a:off x="5212080" y="1399032"/>
            <a:ext cx="3291840" cy="256032"/>
          </a:xfrm>
          <a:prstGeom prst="rect">
            <a:avLst/>
          </a:prstGeom>
          <a:noFill/>
          <a:ln/>
        </p:spPr>
        <p:txBody>
          <a:bodyPr wrap="square" lIns="0" tIns="0" rIns="0" bIns="0" rtlCol="0" anchor="ctr"/>
          <a:lstStyle/>
          <a:p>
            <a:pPr indent="0" marL="0">
              <a:buNone/>
            </a:pPr>
            <a:r>
              <a:rPr lang="en-US" sz="1200" b="1" dirty="0">
                <a:solidFill>
                  <a:srgbClr val="F5F5F0"/>
                </a:solidFill>
                <a:latin typeface="Arial Black" pitchFamily="34" charset="0"/>
                <a:ea typeface="Arial Black" pitchFamily="34" charset="-122"/>
                <a:cs typeface="Arial Black" pitchFamily="34" charset="-120"/>
              </a:rPr>
              <a:t>Errores constantes</a:t>
            </a:r>
            <a:endParaRPr lang="en-US" sz="1200" dirty="0"/>
          </a:p>
        </p:txBody>
      </p:sp>
      <p:sp>
        <p:nvSpPr>
          <p:cNvPr id="15" name="Text 13"/>
          <p:cNvSpPr/>
          <p:nvPr/>
        </p:nvSpPr>
        <p:spPr>
          <a:xfrm>
            <a:off x="5212080" y="1673352"/>
            <a:ext cx="3291840" cy="475488"/>
          </a:xfrm>
          <a:prstGeom prst="rect">
            <a:avLst/>
          </a:prstGeom>
          <a:noFill/>
          <a:ln/>
        </p:spPr>
        <p:txBody>
          <a:bodyPr wrap="square" lIns="0" tIns="0" rIns="0" bIns="0" rtlCol="0" anchor="ctr"/>
          <a:lstStyle/>
          <a:p>
            <a:pPr indent="0" marL="0">
              <a:lnSpc>
                <a:spcPct val="130000"/>
              </a:lnSpc>
              <a:buNone/>
            </a:pPr>
            <a:r>
              <a:rPr lang="en-US" sz="1050" dirty="0">
                <a:solidFill>
                  <a:srgbClr val="888888"/>
                </a:solidFill>
                <a:latin typeface="Calibri" pitchFamily="34" charset="0"/>
                <a:ea typeface="Calibri" pitchFamily="34" charset="-122"/>
                <a:cs typeface="Calibri" pitchFamily="34" charset="-120"/>
              </a:rPr>
              <a:t>Descuadres de caja, productos mal contados, precios equivocados.</a:t>
            </a:r>
            <a:endParaRPr lang="en-US" sz="1050" dirty="0"/>
          </a:p>
        </p:txBody>
      </p:sp>
      <p:sp>
        <p:nvSpPr>
          <p:cNvPr id="16" name="Shape 14"/>
          <p:cNvSpPr/>
          <p:nvPr/>
        </p:nvSpPr>
        <p:spPr>
          <a:xfrm>
            <a:off x="4572000" y="2331720"/>
            <a:ext cx="4114800" cy="914400"/>
          </a:xfrm>
          <a:prstGeom prst="rect">
            <a:avLst/>
          </a:prstGeom>
          <a:solidFill>
            <a:srgbClr val="161616"/>
          </a:solidFill>
          <a:ln w="12700">
            <a:solidFill>
              <a:srgbClr val="222222"/>
            </a:solidFill>
            <a:prstDash val="solid"/>
          </a:ln>
        </p:spPr>
      </p:sp>
      <p:sp>
        <p:nvSpPr>
          <p:cNvPr id="17" name="Shape 15"/>
          <p:cNvSpPr/>
          <p:nvPr/>
        </p:nvSpPr>
        <p:spPr>
          <a:xfrm>
            <a:off x="4572000" y="2331720"/>
            <a:ext cx="36576" cy="914400"/>
          </a:xfrm>
          <a:prstGeom prst="rect">
            <a:avLst/>
          </a:prstGeom>
          <a:solidFill>
            <a:srgbClr val="FF4444"/>
          </a:solidFill>
          <a:ln w="12700">
            <a:solidFill>
              <a:srgbClr val="FF4444"/>
            </a:solidFill>
            <a:prstDash val="solid"/>
          </a:ln>
        </p:spPr>
      </p:sp>
      <p:sp>
        <p:nvSpPr>
          <p:cNvPr id="18" name="Text 16"/>
          <p:cNvSpPr/>
          <p:nvPr/>
        </p:nvSpPr>
        <p:spPr>
          <a:xfrm>
            <a:off x="4681728" y="2404872"/>
            <a:ext cx="45720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9" name="Text 17"/>
          <p:cNvSpPr/>
          <p:nvPr/>
        </p:nvSpPr>
        <p:spPr>
          <a:xfrm>
            <a:off x="5212080" y="2404872"/>
            <a:ext cx="3291840" cy="256032"/>
          </a:xfrm>
          <a:prstGeom prst="rect">
            <a:avLst/>
          </a:prstGeom>
          <a:noFill/>
          <a:ln/>
        </p:spPr>
        <p:txBody>
          <a:bodyPr wrap="square" lIns="0" tIns="0" rIns="0" bIns="0" rtlCol="0" anchor="ctr"/>
          <a:lstStyle/>
          <a:p>
            <a:pPr indent="0" marL="0">
              <a:buNone/>
            </a:pPr>
            <a:r>
              <a:rPr lang="en-US" sz="1200" b="1" dirty="0">
                <a:solidFill>
                  <a:srgbClr val="F5F5F0"/>
                </a:solidFill>
                <a:latin typeface="Arial Black" pitchFamily="34" charset="0"/>
                <a:ea typeface="Arial Black" pitchFamily="34" charset="-122"/>
                <a:cs typeface="Arial Black" pitchFamily="34" charset="-120"/>
              </a:rPr>
              <a:t>Sin control del inventario</a:t>
            </a:r>
            <a:endParaRPr lang="en-US" sz="1200" dirty="0"/>
          </a:p>
        </p:txBody>
      </p:sp>
      <p:sp>
        <p:nvSpPr>
          <p:cNvPr id="20" name="Text 18"/>
          <p:cNvSpPr/>
          <p:nvPr/>
        </p:nvSpPr>
        <p:spPr>
          <a:xfrm>
            <a:off x="5212080" y="2679192"/>
            <a:ext cx="3291840" cy="475488"/>
          </a:xfrm>
          <a:prstGeom prst="rect">
            <a:avLst/>
          </a:prstGeom>
          <a:noFill/>
          <a:ln/>
        </p:spPr>
        <p:txBody>
          <a:bodyPr wrap="square" lIns="0" tIns="0" rIns="0" bIns="0" rtlCol="0" anchor="ctr"/>
          <a:lstStyle/>
          <a:p>
            <a:pPr indent="0" marL="0">
              <a:lnSpc>
                <a:spcPct val="130000"/>
              </a:lnSpc>
              <a:buNone/>
            </a:pPr>
            <a:r>
              <a:rPr lang="en-US" sz="1050" dirty="0">
                <a:solidFill>
                  <a:srgbClr val="888888"/>
                </a:solidFill>
                <a:latin typeface="Calibri" pitchFamily="34" charset="0"/>
                <a:ea typeface="Calibri" pitchFamily="34" charset="-122"/>
                <a:cs typeface="Calibri" pitchFamily="34" charset="-120"/>
              </a:rPr>
              <a:t>No saben cuanto tienen en bodega hasta que se les acaba el producto.</a:t>
            </a:r>
            <a:endParaRPr lang="en-US" sz="1050" dirty="0"/>
          </a:p>
        </p:txBody>
      </p:sp>
      <p:sp>
        <p:nvSpPr>
          <p:cNvPr id="21" name="Shape 19"/>
          <p:cNvSpPr/>
          <p:nvPr/>
        </p:nvSpPr>
        <p:spPr>
          <a:xfrm>
            <a:off x="4572000" y="3337560"/>
            <a:ext cx="4114800" cy="914400"/>
          </a:xfrm>
          <a:prstGeom prst="rect">
            <a:avLst/>
          </a:prstGeom>
          <a:solidFill>
            <a:srgbClr val="161616"/>
          </a:solidFill>
          <a:ln w="12700">
            <a:solidFill>
              <a:srgbClr val="222222"/>
            </a:solidFill>
            <a:prstDash val="solid"/>
          </a:ln>
        </p:spPr>
      </p:sp>
      <p:sp>
        <p:nvSpPr>
          <p:cNvPr id="22" name="Shape 20"/>
          <p:cNvSpPr/>
          <p:nvPr/>
        </p:nvSpPr>
        <p:spPr>
          <a:xfrm>
            <a:off x="4572000" y="3337560"/>
            <a:ext cx="36576" cy="914400"/>
          </a:xfrm>
          <a:prstGeom prst="rect">
            <a:avLst/>
          </a:prstGeom>
          <a:solidFill>
            <a:srgbClr val="FF4444"/>
          </a:solidFill>
          <a:ln w="12700">
            <a:solidFill>
              <a:srgbClr val="FF4444"/>
            </a:solidFill>
            <a:prstDash val="solid"/>
          </a:ln>
        </p:spPr>
      </p:sp>
      <p:sp>
        <p:nvSpPr>
          <p:cNvPr id="23" name="Text 21"/>
          <p:cNvSpPr/>
          <p:nvPr/>
        </p:nvSpPr>
        <p:spPr>
          <a:xfrm>
            <a:off x="4681728" y="3410712"/>
            <a:ext cx="45720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4" name="Text 22"/>
          <p:cNvSpPr/>
          <p:nvPr/>
        </p:nvSpPr>
        <p:spPr>
          <a:xfrm>
            <a:off x="5212080" y="3410712"/>
            <a:ext cx="3291840" cy="256032"/>
          </a:xfrm>
          <a:prstGeom prst="rect">
            <a:avLst/>
          </a:prstGeom>
          <a:noFill/>
          <a:ln/>
        </p:spPr>
        <p:txBody>
          <a:bodyPr wrap="square" lIns="0" tIns="0" rIns="0" bIns="0" rtlCol="0" anchor="ctr"/>
          <a:lstStyle/>
          <a:p>
            <a:pPr indent="0" marL="0">
              <a:buNone/>
            </a:pPr>
            <a:r>
              <a:rPr lang="en-US" sz="1200" b="1" dirty="0">
                <a:solidFill>
                  <a:srgbClr val="F5F5F0"/>
                </a:solidFill>
                <a:latin typeface="Arial Black" pitchFamily="34" charset="0"/>
                <a:ea typeface="Arial Black" pitchFamily="34" charset="-122"/>
                <a:cs typeface="Arial Black" pitchFamily="34" charset="-120"/>
              </a:rPr>
              <a:t>Sin datos reales</a:t>
            </a:r>
            <a:endParaRPr lang="en-US" sz="1200" dirty="0"/>
          </a:p>
        </p:txBody>
      </p:sp>
      <p:sp>
        <p:nvSpPr>
          <p:cNvPr id="25" name="Text 23"/>
          <p:cNvSpPr/>
          <p:nvPr/>
        </p:nvSpPr>
        <p:spPr>
          <a:xfrm>
            <a:off x="5212080" y="3685032"/>
            <a:ext cx="3291840" cy="475488"/>
          </a:xfrm>
          <a:prstGeom prst="rect">
            <a:avLst/>
          </a:prstGeom>
          <a:noFill/>
          <a:ln/>
        </p:spPr>
        <p:txBody>
          <a:bodyPr wrap="square" lIns="0" tIns="0" rIns="0" bIns="0" rtlCol="0" anchor="ctr"/>
          <a:lstStyle/>
          <a:p>
            <a:pPr indent="0" marL="0">
              <a:lnSpc>
                <a:spcPct val="130000"/>
              </a:lnSpc>
              <a:buNone/>
            </a:pPr>
            <a:r>
              <a:rPr lang="en-US" sz="1050" dirty="0">
                <a:solidFill>
                  <a:srgbClr val="888888"/>
                </a:solidFill>
                <a:latin typeface="Calibri" pitchFamily="34" charset="0"/>
                <a:ea typeface="Calibri" pitchFamily="34" charset="-122"/>
                <a:cs typeface="Calibri" pitchFamily="34" charset="-120"/>
              </a:rPr>
              <a:t>No pueden saber que productos venden mas ni en que momento del mes venden mejor.</a:t>
            </a:r>
            <a:endParaRPr lang="en-US" sz="1050" dirty="0"/>
          </a:p>
        </p:txBody>
      </p:sp>
      <p:sp>
        <p:nvSpPr>
          <p:cNvPr id="26" name="Text 24"/>
          <p:cNvSpPr/>
          <p:nvPr/>
        </p:nvSpPr>
        <p:spPr>
          <a:xfrm>
            <a:off x="5943600" y="182880"/>
            <a:ext cx="3017520" cy="201168"/>
          </a:xfrm>
          <a:prstGeom prst="rect">
            <a:avLst/>
          </a:prstGeom>
          <a:noFill/>
          <a:ln/>
        </p:spPr>
        <p:txBody>
          <a:bodyPr wrap="square" rtlCol="0" anchor="ctr"/>
          <a:lstStyle/>
          <a:p>
            <a:pPr algn="r" indent="0" marL="0">
              <a:buNone/>
            </a:pPr>
            <a:r>
              <a:rPr lang="en-US" sz="800" b="1" spc="200" kern="0" dirty="0">
                <a:solidFill>
                  <a:srgbClr val="2ECC40"/>
                </a:solidFill>
                <a:latin typeface="Arial" pitchFamily="34" charset="0"/>
                <a:ea typeface="Arial" pitchFamily="34" charset="-122"/>
                <a:cs typeface="Arial" pitchFamily="34" charset="-120"/>
              </a:rPr>
              <a:t>PROBLEMA</a:t>
            </a:r>
            <a:endParaRPr lang="en-US" sz="800" dirty="0"/>
          </a:p>
        </p:txBody>
      </p:sp>
      <p:sp>
        <p:nvSpPr>
          <p:cNvPr id="27" name="Text 25"/>
          <p:cNvSpPr/>
          <p:nvPr/>
        </p:nvSpPr>
        <p:spPr>
          <a:xfrm>
            <a:off x="7498080" y="4800600"/>
            <a:ext cx="1463040" cy="18288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F0A"/>
          </a:solidFill>
          <a:ln w="12700">
            <a:solidFill>
              <a:srgbClr val="0A0F0A"/>
            </a:solidFill>
            <a:prstDash val="solid"/>
          </a:ln>
        </p:spPr>
      </p:sp>
      <p:sp>
        <p:nvSpPr>
          <p:cNvPr id="3" name="Text 1"/>
          <p:cNvSpPr/>
          <p:nvPr/>
        </p:nvSpPr>
        <p:spPr>
          <a:xfrm>
            <a:off x="457200" y="320040"/>
            <a:ext cx="7315200" cy="228600"/>
          </a:xfrm>
          <a:prstGeom prst="rect">
            <a:avLst/>
          </a:prstGeom>
          <a:noFill/>
          <a:ln/>
        </p:spPr>
        <p:txBody>
          <a:bodyPr wrap="square" rtlCol="0" anchor="ctr"/>
          <a:lstStyle/>
          <a:p>
            <a:pPr indent="0" marL="0">
              <a:buNone/>
            </a:pPr>
            <a:r>
              <a:rPr lang="en-US" sz="900" b="1" spc="300" kern="0" dirty="0">
                <a:solidFill>
                  <a:srgbClr val="2ECC40"/>
                </a:solidFill>
                <a:latin typeface="Arial" pitchFamily="34" charset="0"/>
                <a:ea typeface="Arial" pitchFamily="34" charset="-122"/>
                <a:cs typeface="Arial" pitchFamily="34" charset="-120"/>
              </a:rPr>
              <a:t>💬  LO QUE NOS DIJERON</a:t>
            </a:r>
            <a:endParaRPr lang="en-US" sz="900" dirty="0"/>
          </a:p>
        </p:txBody>
      </p:sp>
      <p:sp>
        <p:nvSpPr>
          <p:cNvPr id="4" name="Text 2"/>
          <p:cNvSpPr/>
          <p:nvPr/>
        </p:nvSpPr>
        <p:spPr>
          <a:xfrm>
            <a:off x="457200" y="576072"/>
            <a:ext cx="8229600" cy="914400"/>
          </a:xfrm>
          <a:prstGeom prst="rect">
            <a:avLst/>
          </a:prstGeom>
          <a:noFill/>
          <a:ln/>
        </p:spPr>
        <p:txBody>
          <a:bodyPr wrap="square" lIns="0" tIns="0" rIns="0" bIns="0" rtlCol="0" anchor="ctr"/>
          <a:lstStyle/>
          <a:p>
            <a:pPr indent="0" marL="0">
              <a:lnSpc>
                <a:spcPct val="110000"/>
              </a:lnSpc>
              <a:buNone/>
            </a:pPr>
            <a:r>
              <a:rPr lang="en-US" sz="3400" b="1" dirty="0">
                <a:solidFill>
                  <a:srgbClr val="F5F5F0"/>
                </a:solidFill>
                <a:latin typeface="Arial Black" pitchFamily="34" charset="0"/>
                <a:ea typeface="Arial Black" pitchFamily="34" charset="-122"/>
                <a:cs typeface="Arial Black" pitchFamily="34" charset="-120"/>
              </a:rPr>
              <a:t>La necesidad real</a:t>
            </a:r>
            <a:endParaRPr lang="en-US" sz="3400" dirty="0"/>
          </a:p>
          <a:p>
            <a:pPr indent="0" marL="0">
              <a:lnSpc>
                <a:spcPct val="110000"/>
              </a:lnSpc>
              <a:buNone/>
            </a:pPr>
            <a:r>
              <a:rPr lang="en-US" sz="3400" b="1" dirty="0">
                <a:solidFill>
                  <a:srgbClr val="F5F5F0"/>
                </a:solidFill>
                <a:latin typeface="Arial Black" pitchFamily="34" charset="0"/>
                <a:ea typeface="Arial Black" pitchFamily="34" charset="-122"/>
                <a:cs typeface="Arial Black" pitchFamily="34" charset="-120"/>
              </a:rPr>
              <a:t>del usuario</a:t>
            </a:r>
            <a:endParaRPr lang="en-US" sz="3400" dirty="0"/>
          </a:p>
        </p:txBody>
      </p:sp>
      <p:sp>
        <p:nvSpPr>
          <p:cNvPr id="5" name="Shape 3"/>
          <p:cNvSpPr/>
          <p:nvPr/>
        </p:nvSpPr>
        <p:spPr>
          <a:xfrm>
            <a:off x="457200" y="1600200"/>
            <a:ext cx="8229600" cy="1234440"/>
          </a:xfrm>
          <a:prstGeom prst="rect">
            <a:avLst/>
          </a:prstGeom>
          <a:solidFill>
            <a:srgbClr val="2ECC40">
              <a:alpha val="7000"/>
            </a:srgbClr>
          </a:solidFill>
          <a:ln w="12700">
            <a:solidFill>
              <a:srgbClr val="2ECC40"/>
            </a:solidFill>
            <a:prstDash val="solid"/>
          </a:ln>
        </p:spPr>
      </p:sp>
      <p:sp>
        <p:nvSpPr>
          <p:cNvPr id="6" name="Shape 4"/>
          <p:cNvSpPr/>
          <p:nvPr/>
        </p:nvSpPr>
        <p:spPr>
          <a:xfrm>
            <a:off x="457200" y="1600200"/>
            <a:ext cx="45720" cy="1234440"/>
          </a:xfrm>
          <a:prstGeom prst="rect">
            <a:avLst/>
          </a:prstGeom>
          <a:solidFill>
            <a:srgbClr val="2ECC40"/>
          </a:solidFill>
          <a:ln w="12700">
            <a:solidFill>
              <a:srgbClr val="2ECC40"/>
            </a:solidFill>
            <a:prstDash val="solid"/>
          </a:ln>
        </p:spPr>
      </p:sp>
      <p:sp>
        <p:nvSpPr>
          <p:cNvPr id="7" name="Text 5"/>
          <p:cNvSpPr/>
          <p:nvPr/>
        </p:nvSpPr>
        <p:spPr>
          <a:xfrm>
            <a:off x="640080" y="1664208"/>
            <a:ext cx="7863840" cy="822960"/>
          </a:xfrm>
          <a:prstGeom prst="rect">
            <a:avLst/>
          </a:prstGeom>
          <a:noFill/>
          <a:ln/>
        </p:spPr>
        <p:txBody>
          <a:bodyPr wrap="square" lIns="0" tIns="0" rIns="0" bIns="0" rtlCol="0" anchor="ctr"/>
          <a:lstStyle/>
          <a:p>
            <a:pPr indent="0" marL="0">
              <a:lnSpc>
                <a:spcPct val="130000"/>
              </a:lnSpc>
              <a:buNone/>
            </a:pPr>
            <a:r>
              <a:rPr lang="en-US" sz="1600" b="1" dirty="0">
                <a:solidFill>
                  <a:srgbClr val="F5F5F0"/>
                </a:solidFill>
                <a:latin typeface="Arial Black" pitchFamily="34" charset="0"/>
                <a:ea typeface="Arial Black" pitchFamily="34" charset="-122"/>
                <a:cs typeface="Arial Black" pitchFamily="34" charset="-120"/>
              </a:rPr>
              <a:t>"Yo lo que quiero es algo sencillo que me ayude a saber cuanto vendi hoy y que no me falte nada en la bodega. No necesito nada complicado."</a:t>
            </a:r>
            <a:endParaRPr lang="en-US" sz="1600" dirty="0"/>
          </a:p>
        </p:txBody>
      </p:sp>
      <p:sp>
        <p:nvSpPr>
          <p:cNvPr id="8" name="Text 6"/>
          <p:cNvSpPr/>
          <p:nvPr/>
        </p:nvSpPr>
        <p:spPr>
          <a:xfrm>
            <a:off x="640080" y="2514600"/>
            <a:ext cx="7863840" cy="228600"/>
          </a:xfrm>
          <a:prstGeom prst="rect">
            <a:avLst/>
          </a:prstGeom>
          <a:noFill/>
          <a:ln/>
        </p:spPr>
        <p:txBody>
          <a:bodyPr wrap="square" lIns="0" tIns="0" rIns="0" bIns="0" rtlCol="0" anchor="ctr"/>
          <a:lstStyle/>
          <a:p>
            <a:pPr indent="0" marL="0">
              <a:buNone/>
            </a:pPr>
            <a:r>
              <a:rPr lang="en-US" sz="1000" dirty="0">
                <a:solidFill>
                  <a:srgbClr val="2ECC40"/>
                </a:solidFill>
                <a:latin typeface="Calibri" pitchFamily="34" charset="0"/>
                <a:ea typeface="Calibri" pitchFamily="34" charset="-122"/>
                <a:cs typeface="Calibri" pitchFamily="34" charset="-120"/>
              </a:rPr>
              <a:t>— Don Carlos, Supermercado La Esquina · Entrevista de levantamiento de informacion</a:t>
            </a:r>
            <a:endParaRPr lang="en-US" sz="1000" dirty="0"/>
          </a:p>
        </p:txBody>
      </p:sp>
      <p:sp>
        <p:nvSpPr>
          <p:cNvPr id="9" name="Shape 7"/>
          <p:cNvSpPr/>
          <p:nvPr/>
        </p:nvSpPr>
        <p:spPr>
          <a:xfrm>
            <a:off x="457200" y="3017520"/>
            <a:ext cx="2651760" cy="868680"/>
          </a:xfrm>
          <a:prstGeom prst="rect">
            <a:avLst/>
          </a:prstGeom>
          <a:solidFill>
            <a:srgbClr val="161616"/>
          </a:solidFill>
          <a:ln w="12700">
            <a:solidFill>
              <a:srgbClr val="222222"/>
            </a:solidFill>
            <a:prstDash val="solid"/>
          </a:ln>
        </p:spPr>
      </p:sp>
      <p:sp>
        <p:nvSpPr>
          <p:cNvPr id="10" name="Text 8"/>
          <p:cNvSpPr/>
          <p:nvPr/>
        </p:nvSpPr>
        <p:spPr>
          <a:xfrm>
            <a:off x="457200" y="3090672"/>
            <a:ext cx="2651760" cy="32004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548640" y="3410712"/>
            <a:ext cx="2468880" cy="411480"/>
          </a:xfrm>
          <a:prstGeom prst="rect">
            <a:avLst/>
          </a:prstGeom>
          <a:noFill/>
          <a:ln/>
        </p:spPr>
        <p:txBody>
          <a:bodyPr wrap="square" lIns="0" tIns="0" rIns="0" bIns="0" rtlCol="0" anchor="ctr"/>
          <a:lstStyle/>
          <a:p>
            <a:pPr algn="ctr" indent="0" marL="0">
              <a:lnSpc>
                <a:spcPct val="130000"/>
              </a:lnSpc>
              <a:buNone/>
            </a:pPr>
            <a:r>
              <a:rPr lang="en-US" sz="1100" dirty="0">
                <a:solidFill>
                  <a:srgbClr val="888888"/>
                </a:solidFill>
                <a:latin typeface="Calibri" pitchFamily="34" charset="0"/>
                <a:ea typeface="Calibri" pitchFamily="34" charset="-122"/>
                <a:cs typeface="Calibri" pitchFamily="34" charset="-120"/>
              </a:rPr>
              <a:t>Saber exactamente cuanto vende cada dia</a:t>
            </a:r>
            <a:endParaRPr lang="en-US" sz="1100" dirty="0"/>
          </a:p>
        </p:txBody>
      </p:sp>
      <p:sp>
        <p:nvSpPr>
          <p:cNvPr id="12" name="Shape 10"/>
          <p:cNvSpPr/>
          <p:nvPr/>
        </p:nvSpPr>
        <p:spPr>
          <a:xfrm>
            <a:off x="3218688" y="3017520"/>
            <a:ext cx="2651760" cy="868680"/>
          </a:xfrm>
          <a:prstGeom prst="rect">
            <a:avLst/>
          </a:prstGeom>
          <a:solidFill>
            <a:srgbClr val="161616"/>
          </a:solidFill>
          <a:ln w="12700">
            <a:solidFill>
              <a:srgbClr val="222222"/>
            </a:solidFill>
            <a:prstDash val="solid"/>
          </a:ln>
        </p:spPr>
      </p:sp>
      <p:sp>
        <p:nvSpPr>
          <p:cNvPr id="13" name="Text 11"/>
          <p:cNvSpPr/>
          <p:nvPr/>
        </p:nvSpPr>
        <p:spPr>
          <a:xfrm>
            <a:off x="3218688" y="3090672"/>
            <a:ext cx="2651760" cy="32004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310128" y="3410712"/>
            <a:ext cx="2468880" cy="411480"/>
          </a:xfrm>
          <a:prstGeom prst="rect">
            <a:avLst/>
          </a:prstGeom>
          <a:noFill/>
          <a:ln/>
        </p:spPr>
        <p:txBody>
          <a:bodyPr wrap="square" lIns="0" tIns="0" rIns="0" bIns="0" rtlCol="0" anchor="ctr"/>
          <a:lstStyle/>
          <a:p>
            <a:pPr algn="ctr" indent="0" marL="0">
              <a:lnSpc>
                <a:spcPct val="130000"/>
              </a:lnSpc>
              <a:buNone/>
            </a:pPr>
            <a:r>
              <a:rPr lang="en-US" sz="1100" dirty="0">
                <a:solidFill>
                  <a:srgbClr val="888888"/>
                </a:solidFill>
                <a:latin typeface="Calibri" pitchFamily="34" charset="0"/>
                <a:ea typeface="Calibri" pitchFamily="34" charset="-122"/>
                <a:cs typeface="Calibri" pitchFamily="34" charset="-120"/>
              </a:rPr>
              <a:t>Controlar el inventario sin contarlo a mano</a:t>
            </a:r>
            <a:endParaRPr lang="en-US" sz="1100" dirty="0"/>
          </a:p>
        </p:txBody>
      </p:sp>
      <p:sp>
        <p:nvSpPr>
          <p:cNvPr id="15" name="Shape 13"/>
          <p:cNvSpPr/>
          <p:nvPr/>
        </p:nvSpPr>
        <p:spPr>
          <a:xfrm>
            <a:off x="5980176" y="3017520"/>
            <a:ext cx="2651760" cy="868680"/>
          </a:xfrm>
          <a:prstGeom prst="rect">
            <a:avLst/>
          </a:prstGeom>
          <a:solidFill>
            <a:srgbClr val="161616"/>
          </a:solidFill>
          <a:ln w="12700">
            <a:solidFill>
              <a:srgbClr val="222222"/>
            </a:solidFill>
            <a:prstDash val="solid"/>
          </a:ln>
        </p:spPr>
      </p:sp>
      <p:sp>
        <p:nvSpPr>
          <p:cNvPr id="16" name="Text 14"/>
          <p:cNvSpPr/>
          <p:nvPr/>
        </p:nvSpPr>
        <p:spPr>
          <a:xfrm>
            <a:off x="5980176" y="3090672"/>
            <a:ext cx="2651760" cy="32004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6071616" y="3410712"/>
            <a:ext cx="2468880" cy="411480"/>
          </a:xfrm>
          <a:prstGeom prst="rect">
            <a:avLst/>
          </a:prstGeom>
          <a:noFill/>
          <a:ln/>
        </p:spPr>
        <p:txBody>
          <a:bodyPr wrap="square" lIns="0" tIns="0" rIns="0" bIns="0" rtlCol="0" anchor="ctr"/>
          <a:lstStyle/>
          <a:p>
            <a:pPr algn="ctr" indent="0" marL="0">
              <a:lnSpc>
                <a:spcPct val="130000"/>
              </a:lnSpc>
              <a:buNone/>
            </a:pPr>
            <a:r>
              <a:rPr lang="en-US" sz="1100" dirty="0">
                <a:solidFill>
                  <a:srgbClr val="888888"/>
                </a:solidFill>
                <a:latin typeface="Calibri" pitchFamily="34" charset="0"/>
                <a:ea typeface="Calibri" pitchFamily="34" charset="-122"/>
                <a:cs typeface="Calibri" pitchFamily="34" charset="-120"/>
              </a:rPr>
              <a:t>Algo facil que cualquier empleado pueda usar</a:t>
            </a:r>
            <a:endParaRPr lang="en-US" sz="1100" dirty="0"/>
          </a:p>
        </p:txBody>
      </p:sp>
      <p:sp>
        <p:nvSpPr>
          <p:cNvPr id="18" name="Text 16"/>
          <p:cNvSpPr/>
          <p:nvPr/>
        </p:nvSpPr>
        <p:spPr>
          <a:xfrm>
            <a:off x="5943600" y="182880"/>
            <a:ext cx="3017520" cy="201168"/>
          </a:xfrm>
          <a:prstGeom prst="rect">
            <a:avLst/>
          </a:prstGeom>
          <a:noFill/>
          <a:ln/>
        </p:spPr>
        <p:txBody>
          <a:bodyPr wrap="square" rtlCol="0" anchor="ctr"/>
          <a:lstStyle/>
          <a:p>
            <a:pPr algn="r" indent="0" marL="0">
              <a:buNone/>
            </a:pPr>
            <a:r>
              <a:rPr lang="en-US" sz="800" b="1" spc="200" kern="0" dirty="0">
                <a:solidFill>
                  <a:srgbClr val="2ECC40"/>
                </a:solidFill>
                <a:latin typeface="Arial" pitchFamily="34" charset="0"/>
                <a:ea typeface="Arial" pitchFamily="34" charset="-122"/>
                <a:cs typeface="Arial" pitchFamily="34" charset="-120"/>
              </a:rPr>
              <a:t>NECESIDAD</a:t>
            </a:r>
            <a:endParaRPr lang="en-US" sz="800" dirty="0"/>
          </a:p>
        </p:txBody>
      </p:sp>
      <p:sp>
        <p:nvSpPr>
          <p:cNvPr id="19" name="Text 17"/>
          <p:cNvSpPr/>
          <p:nvPr/>
        </p:nvSpPr>
        <p:spPr>
          <a:xfrm>
            <a:off x="7498080" y="4800600"/>
            <a:ext cx="1463040" cy="18288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20D04"/>
          </a:solidFill>
          <a:ln w="12700">
            <a:solidFill>
              <a:srgbClr val="020D04"/>
            </a:solidFill>
            <a:prstDash val="solid"/>
          </a:ln>
        </p:spPr>
      </p:sp>
      <p:sp>
        <p:nvSpPr>
          <p:cNvPr id="3" name="Shape 1"/>
          <p:cNvSpPr/>
          <p:nvPr/>
        </p:nvSpPr>
        <p:spPr>
          <a:xfrm>
            <a:off x="1371600" y="-457200"/>
            <a:ext cx="6400800" cy="6400800"/>
          </a:xfrm>
          <a:prstGeom prst="ellipse">
            <a:avLst/>
          </a:prstGeom>
          <a:solidFill>
            <a:srgbClr val="2ECC40">
              <a:alpha val="10000"/>
            </a:srgbClr>
          </a:solidFill>
          <a:ln w="12700">
            <a:solidFill>
              <a:srgbClr val="2ECC40"/>
            </a:solidFill>
            <a:prstDash val="solid"/>
          </a:ln>
        </p:spPr>
      </p:sp>
      <p:sp>
        <p:nvSpPr>
          <p:cNvPr id="4" name="Text 2"/>
          <p:cNvSpPr/>
          <p:nvPr/>
        </p:nvSpPr>
        <p:spPr>
          <a:xfrm>
            <a:off x="0" y="457200"/>
            <a:ext cx="9144000" cy="731520"/>
          </a:xfrm>
          <a:prstGeom prst="rect">
            <a:avLst/>
          </a:prstGeom>
          <a:noFill/>
          <a:ln/>
        </p:spPr>
        <p:txBody>
          <a:bodyPr wrap="square" rtlCol="0" anchor="ctr"/>
          <a:lstStyle/>
          <a:p>
            <a:pPr algn="ctr" indent="0" marL="0">
              <a:buNone/>
            </a:pPr>
            <a:r>
              <a:rPr lang="en-US" sz="5200" dirty="0">
                <a:solidFill>
                  <a:srgbClr val="000000"/>
                </a:solidFill>
              </a:rPr>
              <a:t>🛒</a:t>
            </a:r>
            <a:endParaRPr lang="en-US" sz="5200" dirty="0"/>
          </a:p>
        </p:txBody>
      </p:sp>
      <p:sp>
        <p:nvSpPr>
          <p:cNvPr id="5" name="Text 3"/>
          <p:cNvSpPr/>
          <p:nvPr/>
        </p:nvSpPr>
        <p:spPr>
          <a:xfrm>
            <a:off x="914400" y="1280160"/>
            <a:ext cx="7315200" cy="502920"/>
          </a:xfrm>
          <a:prstGeom prst="rect">
            <a:avLst/>
          </a:prstGeom>
          <a:noFill/>
          <a:ln/>
        </p:spPr>
        <p:txBody>
          <a:bodyPr wrap="square" lIns="0" tIns="0" rIns="0" bIns="0" rtlCol="0" anchor="ctr"/>
          <a:lstStyle/>
          <a:p>
            <a:pPr algn="ctr" indent="0" marL="0">
              <a:buNone/>
            </a:pPr>
            <a:r>
              <a:rPr lang="en-US" sz="3600" b="1" dirty="0">
                <a:solidFill>
                  <a:srgbClr val="F5F5F0"/>
                </a:solidFill>
                <a:latin typeface="Arial Black" pitchFamily="34" charset="0"/>
                <a:ea typeface="Arial Black" pitchFamily="34" charset="-122"/>
                <a:cs typeface="Arial Black" pitchFamily="34" charset="-120"/>
              </a:rPr>
              <a:t>La solución:</a:t>
            </a:r>
            <a:endParaRPr lang="en-US" sz="3600" dirty="0"/>
          </a:p>
        </p:txBody>
      </p:sp>
      <p:sp>
        <p:nvSpPr>
          <p:cNvPr id="6" name="Text 4"/>
          <p:cNvSpPr/>
          <p:nvPr/>
        </p:nvSpPr>
        <p:spPr>
          <a:xfrm>
            <a:off x="914400" y="1764792"/>
            <a:ext cx="7315200" cy="594360"/>
          </a:xfrm>
          <a:prstGeom prst="rect">
            <a:avLst/>
          </a:prstGeom>
          <a:noFill/>
          <a:ln/>
        </p:spPr>
        <p:txBody>
          <a:bodyPr wrap="square" lIns="0" tIns="0" rIns="0" bIns="0" rtlCol="0" anchor="ctr"/>
          <a:lstStyle/>
          <a:p>
            <a:pPr algn="ctr" indent="0" marL="0">
              <a:buNone/>
            </a:pPr>
            <a:r>
              <a:rPr lang="en-US" sz="4200" b="1" dirty="0">
                <a:solidFill>
                  <a:srgbClr val="2ECC40"/>
                </a:solidFill>
                <a:latin typeface="Arial Black" pitchFamily="34" charset="0"/>
                <a:ea typeface="Arial Black" pitchFamily="34" charset="-122"/>
                <a:cs typeface="Arial Black" pitchFamily="34" charset="-120"/>
              </a:rPr>
              <a:t>Sistema La Esquina</a:t>
            </a:r>
            <a:endParaRPr lang="en-US" sz="4200" dirty="0"/>
          </a:p>
        </p:txBody>
      </p:sp>
      <p:sp>
        <p:nvSpPr>
          <p:cNvPr id="7" name="Text 5"/>
          <p:cNvSpPr/>
          <p:nvPr/>
        </p:nvSpPr>
        <p:spPr>
          <a:xfrm>
            <a:off x="1371600" y="2468880"/>
            <a:ext cx="6400800" cy="822960"/>
          </a:xfrm>
          <a:prstGeom prst="rect">
            <a:avLst/>
          </a:prstGeom>
          <a:noFill/>
          <a:ln/>
        </p:spPr>
        <p:txBody>
          <a:bodyPr wrap="square" lIns="0" tIns="0" rIns="0" bIns="0" rtlCol="0" anchor="ctr"/>
          <a:lstStyle/>
          <a:p>
            <a:pPr algn="ctr" indent="0" marL="0">
              <a:lnSpc>
                <a:spcPct val="150000"/>
              </a:lnSpc>
              <a:buNone/>
            </a:pPr>
            <a:r>
              <a:rPr lang="en-US" sz="1300" dirty="0">
                <a:solidFill>
                  <a:srgbClr val="888888"/>
                </a:solidFill>
                <a:latin typeface="Calibri" pitchFamily="34" charset="0"/>
                <a:ea typeface="Calibri" pitchFamily="34" charset="-122"/>
                <a:cs typeface="Calibri" pitchFamily="34" charset="-120"/>
              </a:rPr>
              <a:t>Una aplicacion web que digitaliza las ventas y el inventario de pequenos comercios. Simple, rapida y accesible para cualquier persona, sin importar si sabe de tecnologia o no.</a:t>
            </a:r>
            <a:endParaRPr lang="en-US" sz="1300" dirty="0"/>
          </a:p>
        </p:txBody>
      </p:sp>
      <p:sp>
        <p:nvSpPr>
          <p:cNvPr id="8" name="Shape 6"/>
          <p:cNvSpPr/>
          <p:nvPr/>
        </p:nvSpPr>
        <p:spPr>
          <a:xfrm>
            <a:off x="1325880" y="3429000"/>
            <a:ext cx="1554480" cy="274320"/>
          </a:xfrm>
          <a:prstGeom prst="roundRect">
            <a:avLst>
              <a:gd name="adj" fmla="val 50000"/>
            </a:avLst>
          </a:prstGeom>
          <a:solidFill>
            <a:srgbClr val="2ECC40">
              <a:alpha val="12000"/>
            </a:srgbClr>
          </a:solidFill>
          <a:ln w="12700">
            <a:solidFill>
              <a:srgbClr val="2ECC40">
                <a:alpha val="40000"/>
              </a:srgbClr>
            </a:solidFill>
            <a:prstDash val="solid"/>
          </a:ln>
        </p:spPr>
      </p:sp>
      <p:sp>
        <p:nvSpPr>
          <p:cNvPr id="9" name="Text 7"/>
          <p:cNvSpPr/>
          <p:nvPr/>
        </p:nvSpPr>
        <p:spPr>
          <a:xfrm>
            <a:off x="1325880" y="3429000"/>
            <a:ext cx="1554480" cy="274320"/>
          </a:xfrm>
          <a:prstGeom prst="rect">
            <a:avLst/>
          </a:prstGeom>
          <a:noFill/>
          <a:ln/>
        </p:spPr>
        <p:txBody>
          <a:bodyPr wrap="square" rtlCol="0" anchor="ctr"/>
          <a:lstStyle/>
          <a:p>
            <a:pPr algn="ctr" indent="0" marL="0">
              <a:buNone/>
            </a:pPr>
            <a:r>
              <a:rPr lang="en-US" sz="1000" b="1" dirty="0">
                <a:solidFill>
                  <a:srgbClr val="A8F0B0"/>
                </a:solidFill>
                <a:latin typeface="Arial" pitchFamily="34" charset="0"/>
                <a:ea typeface="Arial" pitchFamily="34" charset="-122"/>
                <a:cs typeface="Arial" pitchFamily="34" charset="-120"/>
              </a:rPr>
              <a:t>MySQL</a:t>
            </a:r>
            <a:endParaRPr lang="en-US" sz="1000" dirty="0"/>
          </a:p>
        </p:txBody>
      </p:sp>
      <p:sp>
        <p:nvSpPr>
          <p:cNvPr id="10" name="Shape 8"/>
          <p:cNvSpPr/>
          <p:nvPr/>
        </p:nvSpPr>
        <p:spPr>
          <a:xfrm>
            <a:off x="2971800" y="3429000"/>
            <a:ext cx="1554480" cy="274320"/>
          </a:xfrm>
          <a:prstGeom prst="roundRect">
            <a:avLst>
              <a:gd name="adj" fmla="val 50000"/>
            </a:avLst>
          </a:prstGeom>
          <a:solidFill>
            <a:srgbClr val="2ECC40">
              <a:alpha val="12000"/>
            </a:srgbClr>
          </a:solidFill>
          <a:ln w="12700">
            <a:solidFill>
              <a:srgbClr val="2ECC40">
                <a:alpha val="40000"/>
              </a:srgbClr>
            </a:solidFill>
            <a:prstDash val="solid"/>
          </a:ln>
        </p:spPr>
      </p:sp>
      <p:sp>
        <p:nvSpPr>
          <p:cNvPr id="11" name="Text 9"/>
          <p:cNvSpPr/>
          <p:nvPr/>
        </p:nvSpPr>
        <p:spPr>
          <a:xfrm>
            <a:off x="2971800" y="3429000"/>
            <a:ext cx="1554480" cy="274320"/>
          </a:xfrm>
          <a:prstGeom prst="rect">
            <a:avLst/>
          </a:prstGeom>
          <a:noFill/>
          <a:ln/>
        </p:spPr>
        <p:txBody>
          <a:bodyPr wrap="square" rtlCol="0" anchor="ctr"/>
          <a:lstStyle/>
          <a:p>
            <a:pPr algn="ctr" indent="0" marL="0">
              <a:buNone/>
            </a:pPr>
            <a:r>
              <a:rPr lang="en-US" sz="1000" b="1" dirty="0">
                <a:solidFill>
                  <a:srgbClr val="A8F0B0"/>
                </a:solidFill>
                <a:latin typeface="Arial" pitchFamily="34" charset="0"/>
                <a:ea typeface="Arial" pitchFamily="34" charset="-122"/>
                <a:cs typeface="Arial" pitchFamily="34" charset="-120"/>
              </a:rPr>
              <a:t>Blade Templates</a:t>
            </a:r>
            <a:endParaRPr lang="en-US" sz="1000" dirty="0"/>
          </a:p>
        </p:txBody>
      </p:sp>
      <p:sp>
        <p:nvSpPr>
          <p:cNvPr id="12" name="Shape 10"/>
          <p:cNvSpPr/>
          <p:nvPr/>
        </p:nvSpPr>
        <p:spPr>
          <a:xfrm>
            <a:off x="4617720" y="3429000"/>
            <a:ext cx="1554480" cy="274320"/>
          </a:xfrm>
          <a:prstGeom prst="roundRect">
            <a:avLst>
              <a:gd name="adj" fmla="val 50000"/>
            </a:avLst>
          </a:prstGeom>
          <a:solidFill>
            <a:srgbClr val="2ECC40">
              <a:alpha val="12000"/>
            </a:srgbClr>
          </a:solidFill>
          <a:ln w="12700">
            <a:solidFill>
              <a:srgbClr val="2ECC40">
                <a:alpha val="40000"/>
              </a:srgbClr>
            </a:solidFill>
            <a:prstDash val="solid"/>
          </a:ln>
        </p:spPr>
      </p:sp>
      <p:sp>
        <p:nvSpPr>
          <p:cNvPr id="13" name="Text 11"/>
          <p:cNvSpPr/>
          <p:nvPr/>
        </p:nvSpPr>
        <p:spPr>
          <a:xfrm>
            <a:off x="4617720" y="3429000"/>
            <a:ext cx="1554480" cy="274320"/>
          </a:xfrm>
          <a:prstGeom prst="rect">
            <a:avLst/>
          </a:prstGeom>
          <a:noFill/>
          <a:ln/>
        </p:spPr>
        <p:txBody>
          <a:bodyPr wrap="square" rtlCol="0" anchor="ctr"/>
          <a:lstStyle/>
          <a:p>
            <a:pPr algn="ctr" indent="0" marL="0">
              <a:buNone/>
            </a:pPr>
            <a:r>
              <a:rPr lang="en-US" sz="1000" b="1" dirty="0">
                <a:solidFill>
                  <a:srgbClr val="A8F0B0"/>
                </a:solidFill>
                <a:latin typeface="Arial" pitchFamily="34" charset="0"/>
                <a:ea typeface="Arial" pitchFamily="34" charset="-122"/>
                <a:cs typeface="Arial" pitchFamily="34" charset="-120"/>
              </a:rPr>
              <a:t>Responsive Web</a:t>
            </a:r>
            <a:endParaRPr lang="en-US" sz="1000" dirty="0"/>
          </a:p>
        </p:txBody>
      </p:sp>
      <p:sp>
        <p:nvSpPr>
          <p:cNvPr id="14" name="Shape 12"/>
          <p:cNvSpPr/>
          <p:nvPr/>
        </p:nvSpPr>
        <p:spPr>
          <a:xfrm>
            <a:off x="6263640" y="3429000"/>
            <a:ext cx="1554480" cy="274320"/>
          </a:xfrm>
          <a:prstGeom prst="roundRect">
            <a:avLst>
              <a:gd name="adj" fmla="val 50000"/>
            </a:avLst>
          </a:prstGeom>
          <a:solidFill>
            <a:srgbClr val="2ECC40">
              <a:alpha val="12000"/>
            </a:srgbClr>
          </a:solidFill>
          <a:ln w="12700">
            <a:solidFill>
              <a:srgbClr val="2ECC40">
                <a:alpha val="40000"/>
              </a:srgbClr>
            </a:solidFill>
            <a:prstDash val="solid"/>
          </a:ln>
        </p:spPr>
      </p:sp>
      <p:sp>
        <p:nvSpPr>
          <p:cNvPr id="15" name="Text 13"/>
          <p:cNvSpPr/>
          <p:nvPr/>
        </p:nvSpPr>
        <p:spPr>
          <a:xfrm>
            <a:off x="6263640" y="3429000"/>
            <a:ext cx="1554480" cy="274320"/>
          </a:xfrm>
          <a:prstGeom prst="rect">
            <a:avLst/>
          </a:prstGeom>
          <a:noFill/>
          <a:ln/>
        </p:spPr>
        <p:txBody>
          <a:bodyPr wrap="square" rtlCol="0" anchor="ctr"/>
          <a:lstStyle/>
          <a:p>
            <a:pPr algn="ctr" indent="0" marL="0">
              <a:buNone/>
            </a:pPr>
            <a:r>
              <a:rPr lang="en-US" sz="1000" b="1" dirty="0">
                <a:solidFill>
                  <a:srgbClr val="A8F0B0"/>
                </a:solidFill>
                <a:latin typeface="Arial" pitchFamily="34" charset="0"/>
                <a:ea typeface="Arial" pitchFamily="34" charset="-122"/>
                <a:cs typeface="Arial" pitchFamily="34" charset="-120"/>
              </a:rPr>
              <a:t>Panel de Administracion</a:t>
            </a:r>
            <a:endParaRPr lang="en-US" sz="1000" dirty="0"/>
          </a:p>
        </p:txBody>
      </p:sp>
      <p:sp>
        <p:nvSpPr>
          <p:cNvPr id="16" name="Text 14"/>
          <p:cNvSpPr/>
          <p:nvPr/>
        </p:nvSpPr>
        <p:spPr>
          <a:xfrm>
            <a:off x="5943600" y="182880"/>
            <a:ext cx="3017520" cy="201168"/>
          </a:xfrm>
          <a:prstGeom prst="rect">
            <a:avLst/>
          </a:prstGeom>
          <a:noFill/>
          <a:ln/>
        </p:spPr>
        <p:txBody>
          <a:bodyPr wrap="square" rtlCol="0" anchor="ctr"/>
          <a:lstStyle/>
          <a:p>
            <a:pPr algn="r" indent="0" marL="0">
              <a:buNone/>
            </a:pPr>
            <a:r>
              <a:rPr lang="en-US" sz="800" b="1" spc="200" kern="0" dirty="0">
                <a:solidFill>
                  <a:srgbClr val="2ECC40"/>
                </a:solidFill>
                <a:latin typeface="Arial" pitchFamily="34" charset="0"/>
                <a:ea typeface="Arial" pitchFamily="34" charset="-122"/>
                <a:cs typeface="Arial" pitchFamily="34" charset="-120"/>
              </a:rPr>
              <a:t>SOLUCIÓN</a:t>
            </a:r>
            <a:endParaRPr lang="en-US" sz="800" dirty="0"/>
          </a:p>
        </p:txBody>
      </p:sp>
      <p:sp>
        <p:nvSpPr>
          <p:cNvPr id="17" name="Text 15"/>
          <p:cNvSpPr/>
          <p:nvPr/>
        </p:nvSpPr>
        <p:spPr>
          <a:xfrm>
            <a:off x="7498080" y="4800600"/>
            <a:ext cx="1463040" cy="18288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D0D"/>
          </a:solidFill>
          <a:ln w="12700">
            <a:solidFill>
              <a:srgbClr val="0D0D0D"/>
            </a:solidFill>
            <a:prstDash val="solid"/>
          </a:ln>
        </p:spPr>
      </p:sp>
      <p:sp>
        <p:nvSpPr>
          <p:cNvPr id="3" name="Text 1"/>
          <p:cNvSpPr/>
          <p:nvPr/>
        </p:nvSpPr>
        <p:spPr>
          <a:xfrm>
            <a:off x="457200" y="320040"/>
            <a:ext cx="8229600" cy="594360"/>
          </a:xfrm>
          <a:prstGeom prst="rect">
            <a:avLst/>
          </a:prstGeom>
          <a:noFill/>
          <a:ln/>
        </p:spPr>
        <p:txBody>
          <a:bodyPr wrap="square" lIns="0" tIns="0" rIns="0" bIns="0" rtlCol="0" anchor="ctr"/>
          <a:lstStyle/>
          <a:p>
            <a:pPr indent="0" marL="0">
              <a:buNone/>
            </a:pPr>
            <a:r>
              <a:rPr lang="en-US" sz="3200" b="1" dirty="0">
                <a:solidFill>
                  <a:srgbClr val="F5F5F0"/>
                </a:solidFill>
                <a:latin typeface="Arial Black" pitchFamily="34" charset="0"/>
                <a:ea typeface="Arial Black" pitchFamily="34" charset="-122"/>
                <a:cs typeface="Arial Black" pitchFamily="34" charset="-120"/>
              </a:rPr>
              <a:t>¿Cómo funciona en la vida real?</a:t>
            </a:r>
            <a:endParaRPr lang="en-US" sz="3200" dirty="0"/>
          </a:p>
        </p:txBody>
      </p:sp>
      <p:sp>
        <p:nvSpPr>
          <p:cNvPr id="4" name="Shape 2"/>
          <p:cNvSpPr/>
          <p:nvPr/>
        </p:nvSpPr>
        <p:spPr>
          <a:xfrm>
            <a:off x="960120" y="1280160"/>
            <a:ext cx="640080" cy="640080"/>
          </a:xfrm>
          <a:prstGeom prst="ellipse">
            <a:avLst/>
          </a:prstGeom>
          <a:solidFill>
            <a:srgbClr val="2ECC40">
              <a:alpha val="12000"/>
            </a:srgbClr>
          </a:solidFill>
          <a:ln w="19050">
            <a:solidFill>
              <a:srgbClr val="2ECC40">
                <a:alpha val="45000"/>
              </a:srgbClr>
            </a:solidFill>
            <a:prstDash val="solid"/>
          </a:ln>
        </p:spPr>
      </p:sp>
      <p:sp>
        <p:nvSpPr>
          <p:cNvPr id="5" name="Text 3"/>
          <p:cNvSpPr/>
          <p:nvPr/>
        </p:nvSpPr>
        <p:spPr>
          <a:xfrm>
            <a:off x="960120" y="128016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6" name="Text 4"/>
          <p:cNvSpPr/>
          <p:nvPr/>
        </p:nvSpPr>
        <p:spPr>
          <a:xfrm>
            <a:off x="502920" y="2011680"/>
            <a:ext cx="1554480" cy="320040"/>
          </a:xfrm>
          <a:prstGeom prst="rect">
            <a:avLst/>
          </a:prstGeom>
          <a:noFill/>
          <a:ln/>
        </p:spPr>
        <p:txBody>
          <a:bodyPr wrap="square" lIns="0" tIns="0" rIns="0" bIns="0" rtlCol="0" anchor="ctr"/>
          <a:lstStyle/>
          <a:p>
            <a:pPr algn="ctr" indent="0" marL="0">
              <a:buNone/>
            </a:pPr>
            <a:r>
              <a:rPr lang="en-US" sz="1100" b="1" dirty="0">
                <a:solidFill>
                  <a:srgbClr val="F5F5F0"/>
                </a:solidFill>
                <a:latin typeface="Arial Black" pitchFamily="34" charset="0"/>
                <a:ea typeface="Arial Black" pitchFamily="34" charset="-122"/>
                <a:cs typeface="Arial Black" pitchFamily="34" charset="-120"/>
              </a:rPr>
              <a:t>Inicia sesión</a:t>
            </a:r>
            <a:endParaRPr lang="en-US" sz="1100" dirty="0"/>
          </a:p>
        </p:txBody>
      </p:sp>
      <p:sp>
        <p:nvSpPr>
          <p:cNvPr id="7" name="Text 5"/>
          <p:cNvSpPr/>
          <p:nvPr/>
        </p:nvSpPr>
        <p:spPr>
          <a:xfrm>
            <a:off x="502920" y="2359152"/>
            <a:ext cx="1554480" cy="640080"/>
          </a:xfrm>
          <a:prstGeom prst="rect">
            <a:avLst/>
          </a:prstGeom>
          <a:noFill/>
          <a:ln/>
        </p:spPr>
        <p:txBody>
          <a:bodyPr wrap="square" lIns="0" tIns="0" rIns="0" bIns="0" rtlCol="0" anchor="ctr"/>
          <a:lstStyle/>
          <a:p>
            <a:pPr algn="ctr" indent="0" marL="0">
              <a:lnSpc>
                <a:spcPct val="130000"/>
              </a:lnSpc>
              <a:buNone/>
            </a:pPr>
            <a:r>
              <a:rPr lang="en-US" sz="1000" dirty="0">
                <a:solidFill>
                  <a:srgbClr val="888888"/>
                </a:solidFill>
                <a:latin typeface="Calibri" pitchFamily="34" charset="0"/>
                <a:ea typeface="Calibri" pitchFamily="34" charset="-122"/>
                <a:cs typeface="Calibri" pitchFamily="34" charset="-120"/>
              </a:rPr>
              <a:t>Cajero o admin accede con usuario y contraseña</a:t>
            </a:r>
            <a:endParaRPr lang="en-US" sz="1000" dirty="0"/>
          </a:p>
        </p:txBody>
      </p:sp>
      <p:sp>
        <p:nvSpPr>
          <p:cNvPr id="8" name="Text 6"/>
          <p:cNvSpPr/>
          <p:nvPr/>
        </p:nvSpPr>
        <p:spPr>
          <a:xfrm>
            <a:off x="2011680" y="1371600"/>
            <a:ext cx="274320" cy="457200"/>
          </a:xfrm>
          <a:prstGeom prst="rect">
            <a:avLst/>
          </a:prstGeom>
          <a:noFill/>
          <a:ln/>
        </p:spPr>
        <p:txBody>
          <a:bodyPr wrap="square" rtlCol="0" anchor="ctr"/>
          <a:lstStyle/>
          <a:p>
            <a:pPr algn="ctr" indent="0" marL="0">
              <a:buNone/>
            </a:pPr>
            <a:r>
              <a:rPr lang="en-US" sz="1800" dirty="0">
                <a:solidFill>
                  <a:srgbClr val="2ECC40"/>
                </a:solidFill>
              </a:rPr>
              <a:t>→</a:t>
            </a:r>
            <a:endParaRPr lang="en-US" sz="1800" dirty="0"/>
          </a:p>
        </p:txBody>
      </p:sp>
      <p:sp>
        <p:nvSpPr>
          <p:cNvPr id="9" name="Shape 7"/>
          <p:cNvSpPr/>
          <p:nvPr/>
        </p:nvSpPr>
        <p:spPr>
          <a:xfrm>
            <a:off x="2606040" y="1280160"/>
            <a:ext cx="640080" cy="640080"/>
          </a:xfrm>
          <a:prstGeom prst="ellipse">
            <a:avLst/>
          </a:prstGeom>
          <a:solidFill>
            <a:srgbClr val="2ECC40">
              <a:alpha val="12000"/>
            </a:srgbClr>
          </a:solidFill>
          <a:ln w="19050">
            <a:solidFill>
              <a:srgbClr val="2ECC40">
                <a:alpha val="45000"/>
              </a:srgbClr>
            </a:solidFill>
            <a:prstDash val="solid"/>
          </a:ln>
        </p:spPr>
      </p:sp>
      <p:sp>
        <p:nvSpPr>
          <p:cNvPr id="10" name="Text 8"/>
          <p:cNvSpPr/>
          <p:nvPr/>
        </p:nvSpPr>
        <p:spPr>
          <a:xfrm>
            <a:off x="2606040" y="128016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1" name="Text 9"/>
          <p:cNvSpPr/>
          <p:nvPr/>
        </p:nvSpPr>
        <p:spPr>
          <a:xfrm>
            <a:off x="2148840" y="2011680"/>
            <a:ext cx="1554480" cy="320040"/>
          </a:xfrm>
          <a:prstGeom prst="rect">
            <a:avLst/>
          </a:prstGeom>
          <a:noFill/>
          <a:ln/>
        </p:spPr>
        <p:txBody>
          <a:bodyPr wrap="square" lIns="0" tIns="0" rIns="0" bIns="0" rtlCol="0" anchor="ctr"/>
          <a:lstStyle/>
          <a:p>
            <a:pPr algn="ctr" indent="0" marL="0">
              <a:buNone/>
            </a:pPr>
            <a:r>
              <a:rPr lang="en-US" sz="1100" b="1" dirty="0">
                <a:solidFill>
                  <a:srgbClr val="F5F5F0"/>
                </a:solidFill>
                <a:latin typeface="Arial Black" pitchFamily="34" charset="0"/>
                <a:ea typeface="Arial Black" pitchFamily="34" charset="-122"/>
                <a:cs typeface="Arial Black" pitchFamily="34" charset="-120"/>
              </a:rPr>
              <a:t>Busca producto</a:t>
            </a:r>
            <a:endParaRPr lang="en-US" sz="1100" dirty="0"/>
          </a:p>
        </p:txBody>
      </p:sp>
      <p:sp>
        <p:nvSpPr>
          <p:cNvPr id="12" name="Text 10"/>
          <p:cNvSpPr/>
          <p:nvPr/>
        </p:nvSpPr>
        <p:spPr>
          <a:xfrm>
            <a:off x="2148840" y="2359152"/>
            <a:ext cx="1554480" cy="640080"/>
          </a:xfrm>
          <a:prstGeom prst="rect">
            <a:avLst/>
          </a:prstGeom>
          <a:noFill/>
          <a:ln/>
        </p:spPr>
        <p:txBody>
          <a:bodyPr wrap="square" lIns="0" tIns="0" rIns="0" bIns="0" rtlCol="0" anchor="ctr"/>
          <a:lstStyle/>
          <a:p>
            <a:pPr algn="ctr" indent="0" marL="0">
              <a:lnSpc>
                <a:spcPct val="130000"/>
              </a:lnSpc>
              <a:buNone/>
            </a:pPr>
            <a:r>
              <a:rPr lang="en-US" sz="1000" dirty="0">
                <a:solidFill>
                  <a:srgbClr val="888888"/>
                </a:solidFill>
                <a:latin typeface="Calibri" pitchFamily="34" charset="0"/>
                <a:ea typeface="Calibri" pitchFamily="34" charset="-122"/>
                <a:cs typeface="Calibri" pitchFamily="34" charset="-120"/>
              </a:rPr>
              <a:t>Busca por nombre o codigo rapidamente</a:t>
            </a:r>
            <a:endParaRPr lang="en-US" sz="1000" dirty="0"/>
          </a:p>
        </p:txBody>
      </p:sp>
      <p:sp>
        <p:nvSpPr>
          <p:cNvPr id="13" name="Text 11"/>
          <p:cNvSpPr/>
          <p:nvPr/>
        </p:nvSpPr>
        <p:spPr>
          <a:xfrm>
            <a:off x="3657600" y="1371600"/>
            <a:ext cx="274320" cy="457200"/>
          </a:xfrm>
          <a:prstGeom prst="rect">
            <a:avLst/>
          </a:prstGeom>
          <a:noFill/>
          <a:ln/>
        </p:spPr>
        <p:txBody>
          <a:bodyPr wrap="square" rtlCol="0" anchor="ctr"/>
          <a:lstStyle/>
          <a:p>
            <a:pPr algn="ctr" indent="0" marL="0">
              <a:buNone/>
            </a:pPr>
            <a:r>
              <a:rPr lang="en-US" sz="1800" dirty="0">
                <a:solidFill>
                  <a:srgbClr val="2ECC40"/>
                </a:solidFill>
              </a:rPr>
              <a:t>→</a:t>
            </a:r>
            <a:endParaRPr lang="en-US" sz="1800" dirty="0"/>
          </a:p>
        </p:txBody>
      </p:sp>
      <p:sp>
        <p:nvSpPr>
          <p:cNvPr id="14" name="Shape 12"/>
          <p:cNvSpPr/>
          <p:nvPr/>
        </p:nvSpPr>
        <p:spPr>
          <a:xfrm>
            <a:off x="4251960" y="1280160"/>
            <a:ext cx="640080" cy="640080"/>
          </a:xfrm>
          <a:prstGeom prst="ellipse">
            <a:avLst/>
          </a:prstGeom>
          <a:solidFill>
            <a:srgbClr val="2ECC40">
              <a:alpha val="12000"/>
            </a:srgbClr>
          </a:solidFill>
          <a:ln w="19050">
            <a:solidFill>
              <a:srgbClr val="2ECC40">
                <a:alpha val="45000"/>
              </a:srgbClr>
            </a:solidFill>
            <a:prstDash val="solid"/>
          </a:ln>
        </p:spPr>
      </p:sp>
      <p:sp>
        <p:nvSpPr>
          <p:cNvPr id="15" name="Text 13"/>
          <p:cNvSpPr/>
          <p:nvPr/>
        </p:nvSpPr>
        <p:spPr>
          <a:xfrm>
            <a:off x="4251960" y="128016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6" name="Text 14"/>
          <p:cNvSpPr/>
          <p:nvPr/>
        </p:nvSpPr>
        <p:spPr>
          <a:xfrm>
            <a:off x="3794760" y="2011680"/>
            <a:ext cx="1554480" cy="320040"/>
          </a:xfrm>
          <a:prstGeom prst="rect">
            <a:avLst/>
          </a:prstGeom>
          <a:noFill/>
          <a:ln/>
        </p:spPr>
        <p:txBody>
          <a:bodyPr wrap="square" lIns="0" tIns="0" rIns="0" bIns="0" rtlCol="0" anchor="ctr"/>
          <a:lstStyle/>
          <a:p>
            <a:pPr algn="ctr" indent="0" marL="0">
              <a:buNone/>
            </a:pPr>
            <a:r>
              <a:rPr lang="en-US" sz="1100" b="1" dirty="0">
                <a:solidFill>
                  <a:srgbClr val="F5F5F0"/>
                </a:solidFill>
                <a:latin typeface="Arial Black" pitchFamily="34" charset="0"/>
                <a:ea typeface="Arial Black" pitchFamily="34" charset="-122"/>
                <a:cs typeface="Arial Black" pitchFamily="34" charset="-120"/>
              </a:rPr>
              <a:t>Agrega items</a:t>
            </a:r>
            <a:endParaRPr lang="en-US" sz="1100" dirty="0"/>
          </a:p>
        </p:txBody>
      </p:sp>
      <p:sp>
        <p:nvSpPr>
          <p:cNvPr id="17" name="Text 15"/>
          <p:cNvSpPr/>
          <p:nvPr/>
        </p:nvSpPr>
        <p:spPr>
          <a:xfrm>
            <a:off x="3794760" y="2359152"/>
            <a:ext cx="1554480" cy="640080"/>
          </a:xfrm>
          <a:prstGeom prst="rect">
            <a:avLst/>
          </a:prstGeom>
          <a:noFill/>
          <a:ln/>
        </p:spPr>
        <p:txBody>
          <a:bodyPr wrap="square" lIns="0" tIns="0" rIns="0" bIns="0" rtlCol="0" anchor="ctr"/>
          <a:lstStyle/>
          <a:p>
            <a:pPr algn="ctr" indent="0" marL="0">
              <a:lnSpc>
                <a:spcPct val="130000"/>
              </a:lnSpc>
              <a:buNone/>
            </a:pPr>
            <a:r>
              <a:rPr lang="en-US" sz="1000" dirty="0">
                <a:solidFill>
                  <a:srgbClr val="888888"/>
                </a:solidFill>
                <a:latin typeface="Calibri" pitchFamily="34" charset="0"/>
                <a:ea typeface="Calibri" pitchFamily="34" charset="-122"/>
                <a:cs typeface="Calibri" pitchFamily="34" charset="-120"/>
              </a:rPr>
              <a:t>Selecciona productos y cantidades</a:t>
            </a:r>
            <a:endParaRPr lang="en-US" sz="1000" dirty="0"/>
          </a:p>
        </p:txBody>
      </p:sp>
      <p:sp>
        <p:nvSpPr>
          <p:cNvPr id="18" name="Text 16"/>
          <p:cNvSpPr/>
          <p:nvPr/>
        </p:nvSpPr>
        <p:spPr>
          <a:xfrm>
            <a:off x="5303520" y="1371600"/>
            <a:ext cx="274320" cy="457200"/>
          </a:xfrm>
          <a:prstGeom prst="rect">
            <a:avLst/>
          </a:prstGeom>
          <a:noFill/>
          <a:ln/>
        </p:spPr>
        <p:txBody>
          <a:bodyPr wrap="square" rtlCol="0" anchor="ctr"/>
          <a:lstStyle/>
          <a:p>
            <a:pPr algn="ctr" indent="0" marL="0">
              <a:buNone/>
            </a:pPr>
            <a:r>
              <a:rPr lang="en-US" sz="1800" dirty="0">
                <a:solidFill>
                  <a:srgbClr val="2ECC40"/>
                </a:solidFill>
              </a:rPr>
              <a:t>→</a:t>
            </a:r>
            <a:endParaRPr lang="en-US" sz="1800" dirty="0"/>
          </a:p>
        </p:txBody>
      </p:sp>
      <p:sp>
        <p:nvSpPr>
          <p:cNvPr id="19" name="Shape 17"/>
          <p:cNvSpPr/>
          <p:nvPr/>
        </p:nvSpPr>
        <p:spPr>
          <a:xfrm>
            <a:off x="5897880" y="1280160"/>
            <a:ext cx="640080" cy="640080"/>
          </a:xfrm>
          <a:prstGeom prst="ellipse">
            <a:avLst/>
          </a:prstGeom>
          <a:solidFill>
            <a:srgbClr val="2ECC40">
              <a:alpha val="12000"/>
            </a:srgbClr>
          </a:solidFill>
          <a:ln w="19050">
            <a:solidFill>
              <a:srgbClr val="2ECC40">
                <a:alpha val="45000"/>
              </a:srgbClr>
            </a:solidFill>
            <a:prstDash val="solid"/>
          </a:ln>
        </p:spPr>
      </p:sp>
      <p:sp>
        <p:nvSpPr>
          <p:cNvPr id="20" name="Text 18"/>
          <p:cNvSpPr/>
          <p:nvPr/>
        </p:nvSpPr>
        <p:spPr>
          <a:xfrm>
            <a:off x="5897880" y="128016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1" name="Text 19"/>
          <p:cNvSpPr/>
          <p:nvPr/>
        </p:nvSpPr>
        <p:spPr>
          <a:xfrm>
            <a:off x="5440680" y="2011680"/>
            <a:ext cx="1554480" cy="320040"/>
          </a:xfrm>
          <a:prstGeom prst="rect">
            <a:avLst/>
          </a:prstGeom>
          <a:noFill/>
          <a:ln/>
        </p:spPr>
        <p:txBody>
          <a:bodyPr wrap="square" lIns="0" tIns="0" rIns="0" bIns="0" rtlCol="0" anchor="ctr"/>
          <a:lstStyle/>
          <a:p>
            <a:pPr algn="ctr" indent="0" marL="0">
              <a:buNone/>
            </a:pPr>
            <a:r>
              <a:rPr lang="en-US" sz="1100" b="1" dirty="0">
                <a:solidFill>
                  <a:srgbClr val="F5F5F0"/>
                </a:solidFill>
                <a:latin typeface="Arial Black" pitchFamily="34" charset="0"/>
                <a:ea typeface="Arial Black" pitchFamily="34" charset="-122"/>
                <a:cs typeface="Arial Black" pitchFamily="34" charset="-120"/>
              </a:rPr>
              <a:t>Cobra y confirma</a:t>
            </a:r>
            <a:endParaRPr lang="en-US" sz="1100" dirty="0"/>
          </a:p>
        </p:txBody>
      </p:sp>
      <p:sp>
        <p:nvSpPr>
          <p:cNvPr id="22" name="Text 20"/>
          <p:cNvSpPr/>
          <p:nvPr/>
        </p:nvSpPr>
        <p:spPr>
          <a:xfrm>
            <a:off x="5440680" y="2359152"/>
            <a:ext cx="1554480" cy="640080"/>
          </a:xfrm>
          <a:prstGeom prst="rect">
            <a:avLst/>
          </a:prstGeom>
          <a:noFill/>
          <a:ln/>
        </p:spPr>
        <p:txBody>
          <a:bodyPr wrap="square" lIns="0" tIns="0" rIns="0" bIns="0" rtlCol="0" anchor="ctr"/>
          <a:lstStyle/>
          <a:p>
            <a:pPr algn="ctr" indent="0" marL="0">
              <a:lnSpc>
                <a:spcPct val="130000"/>
              </a:lnSpc>
              <a:buNone/>
            </a:pPr>
            <a:r>
              <a:rPr lang="en-US" sz="1000" dirty="0">
                <a:solidFill>
                  <a:srgbClr val="888888"/>
                </a:solidFill>
                <a:latin typeface="Calibri" pitchFamily="34" charset="0"/>
                <a:ea typeface="Calibri" pitchFamily="34" charset="-122"/>
                <a:cs typeface="Calibri" pitchFamily="34" charset="-120"/>
              </a:rPr>
              <a:t>El sistema calcula el total al instante</a:t>
            </a:r>
            <a:endParaRPr lang="en-US" sz="1000" dirty="0"/>
          </a:p>
        </p:txBody>
      </p:sp>
      <p:sp>
        <p:nvSpPr>
          <p:cNvPr id="23" name="Text 21"/>
          <p:cNvSpPr/>
          <p:nvPr/>
        </p:nvSpPr>
        <p:spPr>
          <a:xfrm>
            <a:off x="6949440" y="1371600"/>
            <a:ext cx="274320" cy="457200"/>
          </a:xfrm>
          <a:prstGeom prst="rect">
            <a:avLst/>
          </a:prstGeom>
          <a:noFill/>
          <a:ln/>
        </p:spPr>
        <p:txBody>
          <a:bodyPr wrap="square" rtlCol="0" anchor="ctr"/>
          <a:lstStyle/>
          <a:p>
            <a:pPr algn="ctr" indent="0" marL="0">
              <a:buNone/>
            </a:pPr>
            <a:r>
              <a:rPr lang="en-US" sz="1800" dirty="0">
                <a:solidFill>
                  <a:srgbClr val="2ECC40"/>
                </a:solidFill>
              </a:rPr>
              <a:t>→</a:t>
            </a:r>
            <a:endParaRPr lang="en-US" sz="1800" dirty="0"/>
          </a:p>
        </p:txBody>
      </p:sp>
      <p:sp>
        <p:nvSpPr>
          <p:cNvPr id="24" name="Shape 22"/>
          <p:cNvSpPr/>
          <p:nvPr/>
        </p:nvSpPr>
        <p:spPr>
          <a:xfrm>
            <a:off x="7543800" y="1280160"/>
            <a:ext cx="640080" cy="640080"/>
          </a:xfrm>
          <a:prstGeom prst="ellipse">
            <a:avLst/>
          </a:prstGeom>
          <a:solidFill>
            <a:srgbClr val="2ECC40">
              <a:alpha val="12000"/>
            </a:srgbClr>
          </a:solidFill>
          <a:ln w="19050">
            <a:solidFill>
              <a:srgbClr val="2ECC40">
                <a:alpha val="45000"/>
              </a:srgbClr>
            </a:solidFill>
            <a:prstDash val="solid"/>
          </a:ln>
        </p:spPr>
      </p:sp>
      <p:sp>
        <p:nvSpPr>
          <p:cNvPr id="25" name="Text 23"/>
          <p:cNvSpPr/>
          <p:nvPr/>
        </p:nvSpPr>
        <p:spPr>
          <a:xfrm>
            <a:off x="7543800" y="128016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6" name="Text 24"/>
          <p:cNvSpPr/>
          <p:nvPr/>
        </p:nvSpPr>
        <p:spPr>
          <a:xfrm>
            <a:off x="7086600" y="2011680"/>
            <a:ext cx="1554480" cy="320040"/>
          </a:xfrm>
          <a:prstGeom prst="rect">
            <a:avLst/>
          </a:prstGeom>
          <a:noFill/>
          <a:ln/>
        </p:spPr>
        <p:txBody>
          <a:bodyPr wrap="square" lIns="0" tIns="0" rIns="0" bIns="0" rtlCol="0" anchor="ctr"/>
          <a:lstStyle/>
          <a:p>
            <a:pPr algn="ctr" indent="0" marL="0">
              <a:buNone/>
            </a:pPr>
            <a:r>
              <a:rPr lang="en-US" sz="1100" b="1" dirty="0">
                <a:solidFill>
                  <a:srgbClr val="F5F5F0"/>
                </a:solidFill>
                <a:latin typeface="Arial Black" pitchFamily="34" charset="0"/>
                <a:ea typeface="Arial Black" pitchFamily="34" charset="-122"/>
                <a:cs typeface="Arial Black" pitchFamily="34" charset="-120"/>
              </a:rPr>
              <a:t>Sistema actualiza</a:t>
            </a:r>
            <a:endParaRPr lang="en-US" sz="1100" dirty="0"/>
          </a:p>
        </p:txBody>
      </p:sp>
      <p:sp>
        <p:nvSpPr>
          <p:cNvPr id="27" name="Text 25"/>
          <p:cNvSpPr/>
          <p:nvPr/>
        </p:nvSpPr>
        <p:spPr>
          <a:xfrm>
            <a:off x="7086600" y="2359152"/>
            <a:ext cx="1554480" cy="640080"/>
          </a:xfrm>
          <a:prstGeom prst="rect">
            <a:avLst/>
          </a:prstGeom>
          <a:noFill/>
          <a:ln/>
        </p:spPr>
        <p:txBody>
          <a:bodyPr wrap="square" lIns="0" tIns="0" rIns="0" bIns="0" rtlCol="0" anchor="ctr"/>
          <a:lstStyle/>
          <a:p>
            <a:pPr algn="ctr" indent="0" marL="0">
              <a:lnSpc>
                <a:spcPct val="130000"/>
              </a:lnSpc>
              <a:buNone/>
            </a:pPr>
            <a:r>
              <a:rPr lang="en-US" sz="1000" dirty="0">
                <a:solidFill>
                  <a:srgbClr val="888888"/>
                </a:solidFill>
                <a:latin typeface="Calibri" pitchFamily="34" charset="0"/>
                <a:ea typeface="Calibri" pitchFamily="34" charset="-122"/>
                <a:cs typeface="Calibri" pitchFamily="34" charset="-120"/>
              </a:rPr>
              <a:t>Inventario y reportes se actualizan solos</a:t>
            </a:r>
            <a:endParaRPr lang="en-US" sz="1000" dirty="0"/>
          </a:p>
        </p:txBody>
      </p:sp>
      <p:sp>
        <p:nvSpPr>
          <p:cNvPr id="28" name="Text 26"/>
          <p:cNvSpPr/>
          <p:nvPr/>
        </p:nvSpPr>
        <p:spPr>
          <a:xfrm>
            <a:off x="5943600" y="182880"/>
            <a:ext cx="3017520" cy="201168"/>
          </a:xfrm>
          <a:prstGeom prst="rect">
            <a:avLst/>
          </a:prstGeom>
          <a:noFill/>
          <a:ln/>
        </p:spPr>
        <p:txBody>
          <a:bodyPr wrap="square" rtlCol="0" anchor="ctr"/>
          <a:lstStyle/>
          <a:p>
            <a:pPr algn="r" indent="0" marL="0">
              <a:buNone/>
            </a:pPr>
            <a:r>
              <a:rPr lang="en-US" sz="800" b="1" spc="200" kern="0" dirty="0">
                <a:solidFill>
                  <a:srgbClr val="2ECC40"/>
                </a:solidFill>
                <a:latin typeface="Arial" pitchFamily="34" charset="0"/>
                <a:ea typeface="Arial" pitchFamily="34" charset="-122"/>
                <a:cs typeface="Arial" pitchFamily="34" charset="-120"/>
              </a:rPr>
              <a:t>¿CÓMO FUNCIONA?</a:t>
            </a:r>
            <a:endParaRPr lang="en-US" sz="800" dirty="0"/>
          </a:p>
        </p:txBody>
      </p:sp>
      <p:sp>
        <p:nvSpPr>
          <p:cNvPr id="29" name="Text 27"/>
          <p:cNvSpPr/>
          <p:nvPr/>
        </p:nvSpPr>
        <p:spPr>
          <a:xfrm>
            <a:off x="7498080" y="4800600"/>
            <a:ext cx="1463040" cy="18288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A0A"/>
          </a:solidFill>
          <a:ln w="12700">
            <a:solidFill>
              <a:srgbClr val="0A0A0A"/>
            </a:solidFill>
            <a:prstDash val="solid"/>
          </a:ln>
        </p:spPr>
      </p:sp>
      <p:sp>
        <p:nvSpPr>
          <p:cNvPr id="3" name="Text 1"/>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F5F5F0"/>
                </a:solidFill>
                <a:latin typeface="Arial Black" pitchFamily="34" charset="0"/>
                <a:ea typeface="Arial Black" pitchFamily="34" charset="-122"/>
                <a:cs typeface="Arial Black" pitchFamily="34" charset="-120"/>
              </a:rPr>
              <a:t>Las funciones principales</a:t>
            </a:r>
            <a:endParaRPr lang="en-US" sz="3200" dirty="0"/>
          </a:p>
        </p:txBody>
      </p:sp>
      <p:sp>
        <p:nvSpPr>
          <p:cNvPr id="4" name="Shape 2"/>
          <p:cNvSpPr/>
          <p:nvPr/>
        </p:nvSpPr>
        <p:spPr>
          <a:xfrm>
            <a:off x="457200" y="1005840"/>
            <a:ext cx="2651760" cy="1554480"/>
          </a:xfrm>
          <a:prstGeom prst="rect">
            <a:avLst/>
          </a:prstGeom>
          <a:solidFill>
            <a:srgbClr val="161616"/>
          </a:solidFill>
          <a:ln w="12700">
            <a:solidFill>
              <a:srgbClr val="222222"/>
            </a:solidFill>
            <a:prstDash val="solid"/>
          </a:ln>
        </p:spPr>
      </p:sp>
      <p:sp>
        <p:nvSpPr>
          <p:cNvPr id="5" name="Text 3"/>
          <p:cNvSpPr/>
          <p:nvPr/>
        </p:nvSpPr>
        <p:spPr>
          <a:xfrm>
            <a:off x="594360" y="1143000"/>
            <a:ext cx="457200" cy="36576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6" name="Text 4"/>
          <p:cNvSpPr/>
          <p:nvPr/>
        </p:nvSpPr>
        <p:spPr>
          <a:xfrm>
            <a:off x="594360" y="1554480"/>
            <a:ext cx="2377440" cy="256032"/>
          </a:xfrm>
          <a:prstGeom prst="rect">
            <a:avLst/>
          </a:prstGeom>
          <a:noFill/>
          <a:ln/>
        </p:spPr>
        <p:txBody>
          <a:bodyPr wrap="square" lIns="0" tIns="0" rIns="0" bIns="0" rtlCol="0" anchor="ctr"/>
          <a:lstStyle/>
          <a:p>
            <a:pPr indent="0" marL="0">
              <a:buNone/>
            </a:pPr>
            <a:r>
              <a:rPr lang="en-US" sz="1200" b="1" dirty="0">
                <a:solidFill>
                  <a:srgbClr val="F5F5F0"/>
                </a:solidFill>
                <a:latin typeface="Arial Black" pitchFamily="34" charset="0"/>
                <a:ea typeface="Arial Black" pitchFamily="34" charset="-122"/>
                <a:cs typeface="Arial Black" pitchFamily="34" charset="-120"/>
              </a:rPr>
              <a:t>Registro de Ventas</a:t>
            </a:r>
            <a:endParaRPr lang="en-US" sz="1200" dirty="0"/>
          </a:p>
        </p:txBody>
      </p:sp>
      <p:sp>
        <p:nvSpPr>
          <p:cNvPr id="7" name="Text 5"/>
          <p:cNvSpPr/>
          <p:nvPr/>
        </p:nvSpPr>
        <p:spPr>
          <a:xfrm>
            <a:off x="594360" y="1828800"/>
            <a:ext cx="2377440" cy="502920"/>
          </a:xfrm>
          <a:prstGeom prst="rect">
            <a:avLst/>
          </a:prstGeom>
          <a:noFill/>
          <a:ln/>
        </p:spPr>
        <p:txBody>
          <a:bodyPr wrap="square" lIns="0" tIns="0" rIns="0" bIns="0" rtlCol="0" anchor="ctr"/>
          <a:lstStyle/>
          <a:p>
            <a:pPr indent="0" marL="0">
              <a:lnSpc>
                <a:spcPct val="130000"/>
              </a:lnSpc>
              <a:buNone/>
            </a:pPr>
            <a:r>
              <a:rPr lang="en-US" sz="1000" dirty="0">
                <a:solidFill>
                  <a:srgbClr val="888888"/>
                </a:solidFill>
                <a:latin typeface="Calibri" pitchFamily="34" charset="0"/>
                <a:ea typeface="Calibri" pitchFamily="34" charset="-122"/>
                <a:cs typeface="Calibri" pitchFamily="34" charset="-120"/>
              </a:rPr>
              <a:t>Registra ventas rapidamente, calcula el total automatico y genera recibo para el cliente.</a:t>
            </a:r>
            <a:endParaRPr lang="en-US" sz="1000" dirty="0"/>
          </a:p>
        </p:txBody>
      </p:sp>
      <p:sp>
        <p:nvSpPr>
          <p:cNvPr id="8" name="Shape 6"/>
          <p:cNvSpPr/>
          <p:nvPr/>
        </p:nvSpPr>
        <p:spPr>
          <a:xfrm>
            <a:off x="594360" y="2350008"/>
            <a:ext cx="1005840" cy="164592"/>
          </a:xfrm>
          <a:prstGeom prst="roundRect">
            <a:avLst>
              <a:gd name="adj" fmla="val 50000"/>
            </a:avLst>
          </a:prstGeom>
          <a:solidFill>
            <a:srgbClr val="2ECC40">
              <a:alpha val="12000"/>
            </a:srgbClr>
          </a:solidFill>
          <a:ln w="12700">
            <a:solidFill>
              <a:srgbClr val="2ECC40"/>
            </a:solidFill>
            <a:prstDash val="solid"/>
          </a:ln>
        </p:spPr>
      </p:sp>
      <p:sp>
        <p:nvSpPr>
          <p:cNvPr id="9" name="Text 7"/>
          <p:cNvSpPr/>
          <p:nvPr/>
        </p:nvSpPr>
        <p:spPr>
          <a:xfrm>
            <a:off x="594360" y="2350008"/>
            <a:ext cx="1005840" cy="164592"/>
          </a:xfrm>
          <a:prstGeom prst="rect">
            <a:avLst/>
          </a:prstGeom>
          <a:noFill/>
          <a:ln/>
        </p:spPr>
        <p:txBody>
          <a:bodyPr wrap="square" rtlCol="0" anchor="ctr"/>
          <a:lstStyle/>
          <a:p>
            <a:pPr algn="ctr" indent="0" marL="0">
              <a:buNone/>
            </a:pPr>
            <a:r>
              <a:rPr lang="en-US" sz="800" b="1" dirty="0">
                <a:solidFill>
                  <a:srgbClr val="2ECC40"/>
                </a:solidFill>
                <a:latin typeface="Arial" pitchFamily="34" charset="0"/>
                <a:ea typeface="Arial" pitchFamily="34" charset="-122"/>
                <a:cs typeface="Arial" pitchFamily="34" charset="-120"/>
              </a:rPr>
              <a:t>Uso diario</a:t>
            </a:r>
            <a:endParaRPr lang="en-US" sz="800" dirty="0"/>
          </a:p>
        </p:txBody>
      </p:sp>
      <p:sp>
        <p:nvSpPr>
          <p:cNvPr id="10" name="Shape 8"/>
          <p:cNvSpPr/>
          <p:nvPr/>
        </p:nvSpPr>
        <p:spPr>
          <a:xfrm>
            <a:off x="3246120" y="1005840"/>
            <a:ext cx="2651760" cy="1554480"/>
          </a:xfrm>
          <a:prstGeom prst="rect">
            <a:avLst/>
          </a:prstGeom>
          <a:solidFill>
            <a:srgbClr val="161616"/>
          </a:solidFill>
          <a:ln w="12700">
            <a:solidFill>
              <a:srgbClr val="222222"/>
            </a:solidFill>
            <a:prstDash val="solid"/>
          </a:ln>
        </p:spPr>
      </p:sp>
      <p:sp>
        <p:nvSpPr>
          <p:cNvPr id="11" name="Text 9"/>
          <p:cNvSpPr/>
          <p:nvPr/>
        </p:nvSpPr>
        <p:spPr>
          <a:xfrm>
            <a:off x="3383280" y="1143000"/>
            <a:ext cx="457200" cy="36576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12" name="Text 10"/>
          <p:cNvSpPr/>
          <p:nvPr/>
        </p:nvSpPr>
        <p:spPr>
          <a:xfrm>
            <a:off x="3383280" y="1554480"/>
            <a:ext cx="2377440" cy="256032"/>
          </a:xfrm>
          <a:prstGeom prst="rect">
            <a:avLst/>
          </a:prstGeom>
          <a:noFill/>
          <a:ln/>
        </p:spPr>
        <p:txBody>
          <a:bodyPr wrap="square" lIns="0" tIns="0" rIns="0" bIns="0" rtlCol="0" anchor="ctr"/>
          <a:lstStyle/>
          <a:p>
            <a:pPr indent="0" marL="0">
              <a:buNone/>
            </a:pPr>
            <a:r>
              <a:rPr lang="en-US" sz="1200" b="1" dirty="0">
                <a:solidFill>
                  <a:srgbClr val="F5F5F0"/>
                </a:solidFill>
                <a:latin typeface="Arial Black" pitchFamily="34" charset="0"/>
                <a:ea typeface="Arial Black" pitchFamily="34" charset="-122"/>
                <a:cs typeface="Arial Black" pitchFamily="34" charset="-120"/>
              </a:rPr>
              <a:t>Control de Inventario</a:t>
            </a:r>
            <a:endParaRPr lang="en-US" sz="1200" dirty="0"/>
          </a:p>
        </p:txBody>
      </p:sp>
      <p:sp>
        <p:nvSpPr>
          <p:cNvPr id="13" name="Text 11"/>
          <p:cNvSpPr/>
          <p:nvPr/>
        </p:nvSpPr>
        <p:spPr>
          <a:xfrm>
            <a:off x="3383280" y="1828800"/>
            <a:ext cx="2377440" cy="502920"/>
          </a:xfrm>
          <a:prstGeom prst="rect">
            <a:avLst/>
          </a:prstGeom>
          <a:noFill/>
          <a:ln/>
        </p:spPr>
        <p:txBody>
          <a:bodyPr wrap="square" lIns="0" tIns="0" rIns="0" bIns="0" rtlCol="0" anchor="ctr"/>
          <a:lstStyle/>
          <a:p>
            <a:pPr indent="0" marL="0">
              <a:lnSpc>
                <a:spcPct val="130000"/>
              </a:lnSpc>
              <a:buNone/>
            </a:pPr>
            <a:r>
              <a:rPr lang="en-US" sz="1000" dirty="0">
                <a:solidFill>
                  <a:srgbClr val="888888"/>
                </a:solidFill>
                <a:latin typeface="Calibri" pitchFamily="34" charset="0"/>
                <a:ea typeface="Calibri" pitchFamily="34" charset="-122"/>
                <a:cs typeface="Calibri" pitchFamily="34" charset="-120"/>
              </a:rPr>
              <a:t>El stock se descuenta solo con cada venta. Alertas cuando un producto este por acabarse.</a:t>
            </a:r>
            <a:endParaRPr lang="en-US" sz="1000" dirty="0"/>
          </a:p>
        </p:txBody>
      </p:sp>
      <p:sp>
        <p:nvSpPr>
          <p:cNvPr id="14" name="Shape 12"/>
          <p:cNvSpPr/>
          <p:nvPr/>
        </p:nvSpPr>
        <p:spPr>
          <a:xfrm>
            <a:off x="3383280" y="2350008"/>
            <a:ext cx="1005840" cy="164592"/>
          </a:xfrm>
          <a:prstGeom prst="roundRect">
            <a:avLst>
              <a:gd name="adj" fmla="val 50000"/>
            </a:avLst>
          </a:prstGeom>
          <a:solidFill>
            <a:srgbClr val="2ECC40">
              <a:alpha val="12000"/>
            </a:srgbClr>
          </a:solidFill>
          <a:ln w="12700">
            <a:solidFill>
              <a:srgbClr val="2ECC40"/>
            </a:solidFill>
            <a:prstDash val="solid"/>
          </a:ln>
        </p:spPr>
      </p:sp>
      <p:sp>
        <p:nvSpPr>
          <p:cNvPr id="15" name="Text 13"/>
          <p:cNvSpPr/>
          <p:nvPr/>
        </p:nvSpPr>
        <p:spPr>
          <a:xfrm>
            <a:off x="3383280" y="2350008"/>
            <a:ext cx="1005840" cy="164592"/>
          </a:xfrm>
          <a:prstGeom prst="rect">
            <a:avLst/>
          </a:prstGeom>
          <a:noFill/>
          <a:ln/>
        </p:spPr>
        <p:txBody>
          <a:bodyPr wrap="square" rtlCol="0" anchor="ctr"/>
          <a:lstStyle/>
          <a:p>
            <a:pPr algn="ctr" indent="0" marL="0">
              <a:buNone/>
            </a:pPr>
            <a:r>
              <a:rPr lang="en-US" sz="800" b="1" dirty="0">
                <a:solidFill>
                  <a:srgbClr val="2ECC40"/>
                </a:solidFill>
                <a:latin typeface="Arial" pitchFamily="34" charset="0"/>
                <a:ea typeface="Arial" pitchFamily="34" charset="-122"/>
                <a:cs typeface="Arial" pitchFamily="34" charset="-120"/>
              </a:rPr>
              <a:t>Automatico</a:t>
            </a:r>
            <a:endParaRPr lang="en-US" sz="800" dirty="0"/>
          </a:p>
        </p:txBody>
      </p:sp>
      <p:sp>
        <p:nvSpPr>
          <p:cNvPr id="16" name="Shape 14"/>
          <p:cNvSpPr/>
          <p:nvPr/>
        </p:nvSpPr>
        <p:spPr>
          <a:xfrm>
            <a:off x="6035040" y="1005840"/>
            <a:ext cx="2651760" cy="1554480"/>
          </a:xfrm>
          <a:prstGeom prst="rect">
            <a:avLst/>
          </a:prstGeom>
          <a:solidFill>
            <a:srgbClr val="161616"/>
          </a:solidFill>
          <a:ln w="12700">
            <a:solidFill>
              <a:srgbClr val="222222"/>
            </a:solidFill>
            <a:prstDash val="solid"/>
          </a:ln>
        </p:spPr>
      </p:sp>
      <p:sp>
        <p:nvSpPr>
          <p:cNvPr id="17" name="Text 15"/>
          <p:cNvSpPr/>
          <p:nvPr/>
        </p:nvSpPr>
        <p:spPr>
          <a:xfrm>
            <a:off x="6172200" y="1143000"/>
            <a:ext cx="457200" cy="36576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18" name="Text 16"/>
          <p:cNvSpPr/>
          <p:nvPr/>
        </p:nvSpPr>
        <p:spPr>
          <a:xfrm>
            <a:off x="6172200" y="1554480"/>
            <a:ext cx="2377440" cy="256032"/>
          </a:xfrm>
          <a:prstGeom prst="rect">
            <a:avLst/>
          </a:prstGeom>
          <a:noFill/>
          <a:ln/>
        </p:spPr>
        <p:txBody>
          <a:bodyPr wrap="square" lIns="0" tIns="0" rIns="0" bIns="0" rtlCol="0" anchor="ctr"/>
          <a:lstStyle/>
          <a:p>
            <a:pPr indent="0" marL="0">
              <a:buNone/>
            </a:pPr>
            <a:r>
              <a:rPr lang="en-US" sz="1200" b="1" dirty="0">
                <a:solidFill>
                  <a:srgbClr val="F5F5F0"/>
                </a:solidFill>
                <a:latin typeface="Arial Black" pitchFamily="34" charset="0"/>
                <a:ea typeface="Arial Black" pitchFamily="34" charset="-122"/>
                <a:cs typeface="Arial Black" pitchFamily="34" charset="-120"/>
              </a:rPr>
              <a:t>Catalogo de Productos</a:t>
            </a:r>
            <a:endParaRPr lang="en-US" sz="1200" dirty="0"/>
          </a:p>
        </p:txBody>
      </p:sp>
      <p:sp>
        <p:nvSpPr>
          <p:cNvPr id="19" name="Text 17"/>
          <p:cNvSpPr/>
          <p:nvPr/>
        </p:nvSpPr>
        <p:spPr>
          <a:xfrm>
            <a:off x="6172200" y="1828800"/>
            <a:ext cx="2377440" cy="502920"/>
          </a:xfrm>
          <a:prstGeom prst="rect">
            <a:avLst/>
          </a:prstGeom>
          <a:noFill/>
          <a:ln/>
        </p:spPr>
        <p:txBody>
          <a:bodyPr wrap="square" lIns="0" tIns="0" rIns="0" bIns="0" rtlCol="0" anchor="ctr"/>
          <a:lstStyle/>
          <a:p>
            <a:pPr indent="0" marL="0">
              <a:lnSpc>
                <a:spcPct val="130000"/>
              </a:lnSpc>
              <a:buNone/>
            </a:pPr>
            <a:r>
              <a:rPr lang="en-US" sz="1000" dirty="0">
                <a:solidFill>
                  <a:srgbClr val="888888"/>
                </a:solidFill>
                <a:latin typeface="Calibri" pitchFamily="34" charset="0"/>
                <a:ea typeface="Calibri" pitchFamily="34" charset="-122"/>
                <a:cs typeface="Calibri" pitchFamily="34" charset="-120"/>
              </a:rPr>
              <a:t>Agrega, edita y organiza todos los productos con precio, categoria y proveedor.</a:t>
            </a:r>
            <a:endParaRPr lang="en-US" sz="1000" dirty="0"/>
          </a:p>
        </p:txBody>
      </p:sp>
      <p:sp>
        <p:nvSpPr>
          <p:cNvPr id="20" name="Shape 18"/>
          <p:cNvSpPr/>
          <p:nvPr/>
        </p:nvSpPr>
        <p:spPr>
          <a:xfrm>
            <a:off x="6172200" y="2350008"/>
            <a:ext cx="1005840" cy="164592"/>
          </a:xfrm>
          <a:prstGeom prst="roundRect">
            <a:avLst>
              <a:gd name="adj" fmla="val 50000"/>
            </a:avLst>
          </a:prstGeom>
          <a:solidFill>
            <a:srgbClr val="2ECC40">
              <a:alpha val="12000"/>
            </a:srgbClr>
          </a:solidFill>
          <a:ln w="12700">
            <a:solidFill>
              <a:srgbClr val="2ECC40"/>
            </a:solidFill>
            <a:prstDash val="solid"/>
          </a:ln>
        </p:spPr>
      </p:sp>
      <p:sp>
        <p:nvSpPr>
          <p:cNvPr id="21" name="Text 19"/>
          <p:cNvSpPr/>
          <p:nvPr/>
        </p:nvSpPr>
        <p:spPr>
          <a:xfrm>
            <a:off x="6172200" y="2350008"/>
            <a:ext cx="1005840" cy="164592"/>
          </a:xfrm>
          <a:prstGeom prst="rect">
            <a:avLst/>
          </a:prstGeom>
          <a:noFill/>
          <a:ln/>
        </p:spPr>
        <p:txBody>
          <a:bodyPr wrap="square" rtlCol="0" anchor="ctr"/>
          <a:lstStyle/>
          <a:p>
            <a:pPr algn="ctr" indent="0" marL="0">
              <a:buNone/>
            </a:pPr>
            <a:r>
              <a:rPr lang="en-US" sz="800" b="1" dirty="0">
                <a:solidFill>
                  <a:srgbClr val="2ECC40"/>
                </a:solidFill>
                <a:latin typeface="Arial" pitchFamily="34" charset="0"/>
                <a:ea typeface="Arial" pitchFamily="34" charset="-122"/>
                <a:cs typeface="Arial" pitchFamily="34" charset="-120"/>
              </a:rPr>
              <a:t>Administrador</a:t>
            </a:r>
            <a:endParaRPr lang="en-US" sz="800" dirty="0"/>
          </a:p>
        </p:txBody>
      </p:sp>
      <p:sp>
        <p:nvSpPr>
          <p:cNvPr id="22" name="Shape 20"/>
          <p:cNvSpPr/>
          <p:nvPr/>
        </p:nvSpPr>
        <p:spPr>
          <a:xfrm>
            <a:off x="457200" y="2697480"/>
            <a:ext cx="2651760" cy="1554480"/>
          </a:xfrm>
          <a:prstGeom prst="rect">
            <a:avLst/>
          </a:prstGeom>
          <a:solidFill>
            <a:srgbClr val="161616"/>
          </a:solidFill>
          <a:ln w="12700">
            <a:solidFill>
              <a:srgbClr val="222222"/>
            </a:solidFill>
            <a:prstDash val="solid"/>
          </a:ln>
        </p:spPr>
      </p:sp>
      <p:sp>
        <p:nvSpPr>
          <p:cNvPr id="23" name="Text 21"/>
          <p:cNvSpPr/>
          <p:nvPr/>
        </p:nvSpPr>
        <p:spPr>
          <a:xfrm>
            <a:off x="594360" y="2834640"/>
            <a:ext cx="457200" cy="36576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24" name="Text 22"/>
          <p:cNvSpPr/>
          <p:nvPr/>
        </p:nvSpPr>
        <p:spPr>
          <a:xfrm>
            <a:off x="594360" y="3246120"/>
            <a:ext cx="2377440" cy="256032"/>
          </a:xfrm>
          <a:prstGeom prst="rect">
            <a:avLst/>
          </a:prstGeom>
          <a:noFill/>
          <a:ln/>
        </p:spPr>
        <p:txBody>
          <a:bodyPr wrap="square" lIns="0" tIns="0" rIns="0" bIns="0" rtlCol="0" anchor="ctr"/>
          <a:lstStyle/>
          <a:p>
            <a:pPr indent="0" marL="0">
              <a:buNone/>
            </a:pPr>
            <a:r>
              <a:rPr lang="en-US" sz="1200" b="1" dirty="0">
                <a:solidFill>
                  <a:srgbClr val="F5F5F0"/>
                </a:solidFill>
                <a:latin typeface="Arial Black" pitchFamily="34" charset="0"/>
                <a:ea typeface="Arial Black" pitchFamily="34" charset="-122"/>
                <a:cs typeface="Arial Black" pitchFamily="34" charset="-120"/>
              </a:rPr>
              <a:t>Reportes de Ventas</a:t>
            </a:r>
            <a:endParaRPr lang="en-US" sz="1200" dirty="0"/>
          </a:p>
        </p:txBody>
      </p:sp>
      <p:sp>
        <p:nvSpPr>
          <p:cNvPr id="25" name="Text 23"/>
          <p:cNvSpPr/>
          <p:nvPr/>
        </p:nvSpPr>
        <p:spPr>
          <a:xfrm>
            <a:off x="594360" y="3520440"/>
            <a:ext cx="2377440" cy="502920"/>
          </a:xfrm>
          <a:prstGeom prst="rect">
            <a:avLst/>
          </a:prstGeom>
          <a:noFill/>
          <a:ln/>
        </p:spPr>
        <p:txBody>
          <a:bodyPr wrap="square" lIns="0" tIns="0" rIns="0" bIns="0" rtlCol="0" anchor="ctr"/>
          <a:lstStyle/>
          <a:p>
            <a:pPr indent="0" marL="0">
              <a:lnSpc>
                <a:spcPct val="130000"/>
              </a:lnSpc>
              <a:buNone/>
            </a:pPr>
            <a:r>
              <a:rPr lang="en-US" sz="1000" dirty="0">
                <a:solidFill>
                  <a:srgbClr val="888888"/>
                </a:solidFill>
                <a:latin typeface="Calibri" pitchFamily="34" charset="0"/>
                <a:ea typeface="Calibri" pitchFamily="34" charset="-122"/>
                <a:cs typeface="Calibri" pitchFamily="34" charset="-120"/>
              </a:rPr>
              <a:t>Consulta ventas por dia, semana o mes. Ve los productos mas vendidos.</a:t>
            </a:r>
            <a:endParaRPr lang="en-US" sz="1000" dirty="0"/>
          </a:p>
        </p:txBody>
      </p:sp>
      <p:sp>
        <p:nvSpPr>
          <p:cNvPr id="26" name="Shape 24"/>
          <p:cNvSpPr/>
          <p:nvPr/>
        </p:nvSpPr>
        <p:spPr>
          <a:xfrm>
            <a:off x="594360" y="4041648"/>
            <a:ext cx="1005840" cy="164592"/>
          </a:xfrm>
          <a:prstGeom prst="roundRect">
            <a:avLst>
              <a:gd name="adj" fmla="val 50000"/>
            </a:avLst>
          </a:prstGeom>
          <a:solidFill>
            <a:srgbClr val="2ECC40">
              <a:alpha val="12000"/>
            </a:srgbClr>
          </a:solidFill>
          <a:ln w="12700">
            <a:solidFill>
              <a:srgbClr val="2ECC40"/>
            </a:solidFill>
            <a:prstDash val="solid"/>
          </a:ln>
        </p:spPr>
      </p:sp>
      <p:sp>
        <p:nvSpPr>
          <p:cNvPr id="27" name="Text 25"/>
          <p:cNvSpPr/>
          <p:nvPr/>
        </p:nvSpPr>
        <p:spPr>
          <a:xfrm>
            <a:off x="594360" y="4041648"/>
            <a:ext cx="1005840" cy="164592"/>
          </a:xfrm>
          <a:prstGeom prst="rect">
            <a:avLst/>
          </a:prstGeom>
          <a:noFill/>
          <a:ln/>
        </p:spPr>
        <p:txBody>
          <a:bodyPr wrap="square" rtlCol="0" anchor="ctr"/>
          <a:lstStyle/>
          <a:p>
            <a:pPr algn="ctr" indent="0" marL="0">
              <a:buNone/>
            </a:pPr>
            <a:r>
              <a:rPr lang="en-US" sz="800" b="1" dirty="0">
                <a:solidFill>
                  <a:srgbClr val="2ECC40"/>
                </a:solidFill>
                <a:latin typeface="Arial" pitchFamily="34" charset="0"/>
                <a:ea typeface="Arial" pitchFamily="34" charset="-122"/>
                <a:cs typeface="Arial" pitchFamily="34" charset="-120"/>
              </a:rPr>
              <a:t>Inteligencia</a:t>
            </a:r>
            <a:endParaRPr lang="en-US" sz="800" dirty="0"/>
          </a:p>
        </p:txBody>
      </p:sp>
      <p:sp>
        <p:nvSpPr>
          <p:cNvPr id="28" name="Shape 26"/>
          <p:cNvSpPr/>
          <p:nvPr/>
        </p:nvSpPr>
        <p:spPr>
          <a:xfrm>
            <a:off x="3246120" y="2697480"/>
            <a:ext cx="2651760" cy="1554480"/>
          </a:xfrm>
          <a:prstGeom prst="rect">
            <a:avLst/>
          </a:prstGeom>
          <a:solidFill>
            <a:srgbClr val="161616"/>
          </a:solidFill>
          <a:ln w="12700">
            <a:solidFill>
              <a:srgbClr val="222222"/>
            </a:solidFill>
            <a:prstDash val="solid"/>
          </a:ln>
        </p:spPr>
      </p:sp>
      <p:sp>
        <p:nvSpPr>
          <p:cNvPr id="29" name="Text 27"/>
          <p:cNvSpPr/>
          <p:nvPr/>
        </p:nvSpPr>
        <p:spPr>
          <a:xfrm>
            <a:off x="3383280" y="2834640"/>
            <a:ext cx="457200" cy="36576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30" name="Text 28"/>
          <p:cNvSpPr/>
          <p:nvPr/>
        </p:nvSpPr>
        <p:spPr>
          <a:xfrm>
            <a:off x="3383280" y="3246120"/>
            <a:ext cx="2377440" cy="256032"/>
          </a:xfrm>
          <a:prstGeom prst="rect">
            <a:avLst/>
          </a:prstGeom>
          <a:noFill/>
          <a:ln/>
        </p:spPr>
        <p:txBody>
          <a:bodyPr wrap="square" lIns="0" tIns="0" rIns="0" bIns="0" rtlCol="0" anchor="ctr"/>
          <a:lstStyle/>
          <a:p>
            <a:pPr indent="0" marL="0">
              <a:buNone/>
            </a:pPr>
            <a:r>
              <a:rPr lang="en-US" sz="1200" b="1" dirty="0">
                <a:solidFill>
                  <a:srgbClr val="F5F5F0"/>
                </a:solidFill>
                <a:latin typeface="Arial Black" pitchFamily="34" charset="0"/>
                <a:ea typeface="Arial Black" pitchFamily="34" charset="-122"/>
                <a:cs typeface="Arial Black" pitchFamily="34" charset="-120"/>
              </a:rPr>
              <a:t>Gestion de Usuarios</a:t>
            </a:r>
            <a:endParaRPr lang="en-US" sz="1200" dirty="0"/>
          </a:p>
        </p:txBody>
      </p:sp>
      <p:sp>
        <p:nvSpPr>
          <p:cNvPr id="31" name="Text 29"/>
          <p:cNvSpPr/>
          <p:nvPr/>
        </p:nvSpPr>
        <p:spPr>
          <a:xfrm>
            <a:off x="3383280" y="3520440"/>
            <a:ext cx="2377440" cy="502920"/>
          </a:xfrm>
          <a:prstGeom prst="rect">
            <a:avLst/>
          </a:prstGeom>
          <a:noFill/>
          <a:ln/>
        </p:spPr>
        <p:txBody>
          <a:bodyPr wrap="square" lIns="0" tIns="0" rIns="0" bIns="0" rtlCol="0" anchor="ctr"/>
          <a:lstStyle/>
          <a:p>
            <a:pPr indent="0" marL="0">
              <a:lnSpc>
                <a:spcPct val="130000"/>
              </a:lnSpc>
              <a:buNone/>
            </a:pPr>
            <a:r>
              <a:rPr lang="en-US" sz="1000" dirty="0">
                <a:solidFill>
                  <a:srgbClr val="888888"/>
                </a:solidFill>
                <a:latin typeface="Calibri" pitchFamily="34" charset="0"/>
                <a:ea typeface="Calibri" pitchFamily="34" charset="-122"/>
                <a:cs typeface="Calibri" pitchFamily="34" charset="-120"/>
              </a:rPr>
              <a:t>Crea cuentas para cajeros y administradores con diferentes permisos.</a:t>
            </a:r>
            <a:endParaRPr lang="en-US" sz="1000" dirty="0"/>
          </a:p>
        </p:txBody>
      </p:sp>
      <p:sp>
        <p:nvSpPr>
          <p:cNvPr id="32" name="Shape 30"/>
          <p:cNvSpPr/>
          <p:nvPr/>
        </p:nvSpPr>
        <p:spPr>
          <a:xfrm>
            <a:off x="3383280" y="4041648"/>
            <a:ext cx="1005840" cy="164592"/>
          </a:xfrm>
          <a:prstGeom prst="roundRect">
            <a:avLst>
              <a:gd name="adj" fmla="val 50000"/>
            </a:avLst>
          </a:prstGeom>
          <a:solidFill>
            <a:srgbClr val="2ECC40">
              <a:alpha val="12000"/>
            </a:srgbClr>
          </a:solidFill>
          <a:ln w="12700">
            <a:solidFill>
              <a:srgbClr val="2ECC40"/>
            </a:solidFill>
            <a:prstDash val="solid"/>
          </a:ln>
        </p:spPr>
      </p:sp>
      <p:sp>
        <p:nvSpPr>
          <p:cNvPr id="33" name="Text 31"/>
          <p:cNvSpPr/>
          <p:nvPr/>
        </p:nvSpPr>
        <p:spPr>
          <a:xfrm>
            <a:off x="3383280" y="4041648"/>
            <a:ext cx="1005840" cy="164592"/>
          </a:xfrm>
          <a:prstGeom prst="rect">
            <a:avLst/>
          </a:prstGeom>
          <a:noFill/>
          <a:ln/>
        </p:spPr>
        <p:txBody>
          <a:bodyPr wrap="square" rtlCol="0" anchor="ctr"/>
          <a:lstStyle/>
          <a:p>
            <a:pPr algn="ctr" indent="0" marL="0">
              <a:buNone/>
            </a:pPr>
            <a:r>
              <a:rPr lang="en-US" sz="800" b="1" dirty="0">
                <a:solidFill>
                  <a:srgbClr val="2ECC40"/>
                </a:solidFill>
                <a:latin typeface="Arial" pitchFamily="34" charset="0"/>
                <a:ea typeface="Arial" pitchFamily="34" charset="-122"/>
                <a:cs typeface="Arial" pitchFamily="34" charset="-120"/>
              </a:rPr>
              <a:t>Seguridad</a:t>
            </a:r>
            <a:endParaRPr lang="en-US" sz="800" dirty="0"/>
          </a:p>
        </p:txBody>
      </p:sp>
      <p:sp>
        <p:nvSpPr>
          <p:cNvPr id="34" name="Shape 32"/>
          <p:cNvSpPr/>
          <p:nvPr/>
        </p:nvSpPr>
        <p:spPr>
          <a:xfrm>
            <a:off x="6035040" y="2697480"/>
            <a:ext cx="2651760" cy="1554480"/>
          </a:xfrm>
          <a:prstGeom prst="rect">
            <a:avLst/>
          </a:prstGeom>
          <a:solidFill>
            <a:srgbClr val="161616"/>
          </a:solidFill>
          <a:ln w="12700">
            <a:solidFill>
              <a:srgbClr val="222222"/>
            </a:solidFill>
            <a:prstDash val="solid"/>
          </a:ln>
        </p:spPr>
      </p:sp>
      <p:sp>
        <p:nvSpPr>
          <p:cNvPr id="35" name="Text 33"/>
          <p:cNvSpPr/>
          <p:nvPr/>
        </p:nvSpPr>
        <p:spPr>
          <a:xfrm>
            <a:off x="6172200" y="2834640"/>
            <a:ext cx="457200" cy="36576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36" name="Text 34"/>
          <p:cNvSpPr/>
          <p:nvPr/>
        </p:nvSpPr>
        <p:spPr>
          <a:xfrm>
            <a:off x="6172200" y="3246120"/>
            <a:ext cx="2377440" cy="256032"/>
          </a:xfrm>
          <a:prstGeom prst="rect">
            <a:avLst/>
          </a:prstGeom>
          <a:noFill/>
          <a:ln/>
        </p:spPr>
        <p:txBody>
          <a:bodyPr wrap="square" lIns="0" tIns="0" rIns="0" bIns="0" rtlCol="0" anchor="ctr"/>
          <a:lstStyle/>
          <a:p>
            <a:pPr indent="0" marL="0">
              <a:buNone/>
            </a:pPr>
            <a:r>
              <a:rPr lang="en-US" sz="1200" b="1" dirty="0">
                <a:solidFill>
                  <a:srgbClr val="F5F5F0"/>
                </a:solidFill>
                <a:latin typeface="Arial Black" pitchFamily="34" charset="0"/>
                <a:ea typeface="Arial Black" pitchFamily="34" charset="-122"/>
                <a:cs typeface="Arial Black" pitchFamily="34" charset="-120"/>
              </a:rPr>
              <a:t>Proveedores</a:t>
            </a:r>
            <a:endParaRPr lang="en-US" sz="1200" dirty="0"/>
          </a:p>
        </p:txBody>
      </p:sp>
      <p:sp>
        <p:nvSpPr>
          <p:cNvPr id="37" name="Text 35"/>
          <p:cNvSpPr/>
          <p:nvPr/>
        </p:nvSpPr>
        <p:spPr>
          <a:xfrm>
            <a:off x="6172200" y="3520440"/>
            <a:ext cx="2377440" cy="502920"/>
          </a:xfrm>
          <a:prstGeom prst="rect">
            <a:avLst/>
          </a:prstGeom>
          <a:noFill/>
          <a:ln/>
        </p:spPr>
        <p:txBody>
          <a:bodyPr wrap="square" lIns="0" tIns="0" rIns="0" bIns="0" rtlCol="0" anchor="ctr"/>
          <a:lstStyle/>
          <a:p>
            <a:pPr indent="0" marL="0">
              <a:lnSpc>
                <a:spcPct val="130000"/>
              </a:lnSpc>
              <a:buNone/>
            </a:pPr>
            <a:r>
              <a:rPr lang="en-US" sz="1000" dirty="0">
                <a:solidFill>
                  <a:srgbClr val="888888"/>
                </a:solidFill>
                <a:latin typeface="Calibri" pitchFamily="34" charset="0"/>
                <a:ea typeface="Calibri" pitchFamily="34" charset="-122"/>
                <a:cs typeface="Calibri" pitchFamily="34" charset="-120"/>
              </a:rPr>
              <a:t>Registra proveedores y asocialos a productos para tener todo organizado.</a:t>
            </a:r>
            <a:endParaRPr lang="en-US" sz="1000" dirty="0"/>
          </a:p>
        </p:txBody>
      </p:sp>
      <p:sp>
        <p:nvSpPr>
          <p:cNvPr id="38" name="Shape 36"/>
          <p:cNvSpPr/>
          <p:nvPr/>
        </p:nvSpPr>
        <p:spPr>
          <a:xfrm>
            <a:off x="6172200" y="4041648"/>
            <a:ext cx="1005840" cy="164592"/>
          </a:xfrm>
          <a:prstGeom prst="roundRect">
            <a:avLst>
              <a:gd name="adj" fmla="val 50000"/>
            </a:avLst>
          </a:prstGeom>
          <a:solidFill>
            <a:srgbClr val="2ECC40">
              <a:alpha val="12000"/>
            </a:srgbClr>
          </a:solidFill>
          <a:ln w="12700">
            <a:solidFill>
              <a:srgbClr val="2ECC40"/>
            </a:solidFill>
            <a:prstDash val="solid"/>
          </a:ln>
        </p:spPr>
      </p:sp>
      <p:sp>
        <p:nvSpPr>
          <p:cNvPr id="39" name="Text 37"/>
          <p:cNvSpPr/>
          <p:nvPr/>
        </p:nvSpPr>
        <p:spPr>
          <a:xfrm>
            <a:off x="6172200" y="4041648"/>
            <a:ext cx="1005840" cy="164592"/>
          </a:xfrm>
          <a:prstGeom prst="rect">
            <a:avLst/>
          </a:prstGeom>
          <a:noFill/>
          <a:ln/>
        </p:spPr>
        <p:txBody>
          <a:bodyPr wrap="square" rtlCol="0" anchor="ctr"/>
          <a:lstStyle/>
          <a:p>
            <a:pPr algn="ctr" indent="0" marL="0">
              <a:buNone/>
            </a:pPr>
            <a:r>
              <a:rPr lang="en-US" sz="800" b="1" dirty="0">
                <a:solidFill>
                  <a:srgbClr val="2ECC40"/>
                </a:solidFill>
                <a:latin typeface="Arial" pitchFamily="34" charset="0"/>
                <a:ea typeface="Arial" pitchFamily="34" charset="-122"/>
                <a:cs typeface="Arial" pitchFamily="34" charset="-120"/>
              </a:rPr>
              <a:t>Organizacion</a:t>
            </a:r>
            <a:endParaRPr lang="en-US" sz="800" dirty="0"/>
          </a:p>
        </p:txBody>
      </p:sp>
      <p:sp>
        <p:nvSpPr>
          <p:cNvPr id="40" name="Text 38"/>
          <p:cNvSpPr/>
          <p:nvPr/>
        </p:nvSpPr>
        <p:spPr>
          <a:xfrm>
            <a:off x="5943600" y="182880"/>
            <a:ext cx="3017520" cy="201168"/>
          </a:xfrm>
          <a:prstGeom prst="rect">
            <a:avLst/>
          </a:prstGeom>
          <a:noFill/>
          <a:ln/>
        </p:spPr>
        <p:txBody>
          <a:bodyPr wrap="square" rtlCol="0" anchor="ctr"/>
          <a:lstStyle/>
          <a:p>
            <a:pPr algn="r" indent="0" marL="0">
              <a:buNone/>
            </a:pPr>
            <a:r>
              <a:rPr lang="en-US" sz="800" b="1" spc="200" kern="0" dirty="0">
                <a:solidFill>
                  <a:srgbClr val="2ECC40"/>
                </a:solidFill>
                <a:latin typeface="Arial" pitchFamily="34" charset="0"/>
                <a:ea typeface="Arial" pitchFamily="34" charset="-122"/>
                <a:cs typeface="Arial" pitchFamily="34" charset="-120"/>
              </a:rPr>
              <a:t>FUNCIONES</a:t>
            </a:r>
            <a:endParaRPr lang="en-US" sz="800" dirty="0"/>
          </a:p>
        </p:txBody>
      </p:sp>
      <p:sp>
        <p:nvSpPr>
          <p:cNvPr id="41" name="Text 39"/>
          <p:cNvSpPr/>
          <p:nvPr/>
        </p:nvSpPr>
        <p:spPr>
          <a:xfrm>
            <a:off x="7498080" y="4800600"/>
            <a:ext cx="1463040" cy="18288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40C05"/>
          </a:solidFill>
          <a:ln w="12700">
            <a:solidFill>
              <a:srgbClr val="040C05"/>
            </a:solidFill>
            <a:prstDash val="solid"/>
          </a:ln>
        </p:spPr>
      </p:sp>
      <p:sp>
        <p:nvSpPr>
          <p:cNvPr id="3" name="Text 1"/>
          <p:cNvSpPr/>
          <p:nvPr/>
        </p:nvSpPr>
        <p:spPr>
          <a:xfrm>
            <a:off x="457200" y="274320"/>
            <a:ext cx="3840480" cy="1371600"/>
          </a:xfrm>
          <a:prstGeom prst="rect">
            <a:avLst/>
          </a:prstGeom>
          <a:noFill/>
          <a:ln/>
        </p:spPr>
        <p:txBody>
          <a:bodyPr wrap="square" lIns="0" tIns="0" rIns="0" bIns="0" rtlCol="0" anchor="ctr"/>
          <a:lstStyle/>
          <a:p>
            <a:pPr indent="0" marL="0">
              <a:lnSpc>
                <a:spcPct val="115000"/>
              </a:lnSpc>
              <a:buNone/>
            </a:pPr>
            <a:r>
              <a:rPr lang="en-US" sz="2800" b="1" dirty="0">
                <a:solidFill>
                  <a:srgbClr val="F5F5F0"/>
                </a:solidFill>
                <a:latin typeface="Arial Black" pitchFamily="34" charset="0"/>
                <a:ea typeface="Arial Black" pitchFamily="34" charset="-122"/>
                <a:cs typeface="Arial Black" pitchFamily="34" charset="-120"/>
              </a:rPr>
              <a:t>Lo que </a:t>
            </a:r>
            <a:pPr indent="0" marL="0">
              <a:lnSpc>
                <a:spcPct val="115000"/>
              </a:lnSpc>
              <a:buNone/>
            </a:pPr>
            <a:r>
              <a:rPr lang="en-US" sz="2800" b="1" dirty="0">
                <a:solidFill>
                  <a:srgbClr val="2ECC40"/>
                </a:solidFill>
                <a:latin typeface="Arial Black" pitchFamily="34" charset="0"/>
                <a:ea typeface="Arial Black" pitchFamily="34" charset="-122"/>
                <a:cs typeface="Arial Black" pitchFamily="34" charset="-120"/>
              </a:rPr>
              <a:t>realmente
</a:t>
            </a:r>
            <a:pPr indent="0" marL="0">
              <a:lnSpc>
                <a:spcPct val="115000"/>
              </a:lnSpc>
              <a:buNone/>
            </a:pPr>
            <a:r>
              <a:rPr lang="en-US" sz="2800" b="1" dirty="0">
                <a:solidFill>
                  <a:srgbClr val="F5F5F0"/>
                </a:solidFill>
                <a:latin typeface="Arial Black" pitchFamily="34" charset="0"/>
                <a:ea typeface="Arial Black" pitchFamily="34" charset="-122"/>
                <a:cs typeface="Arial Black" pitchFamily="34" charset="-120"/>
              </a:rPr>
              <a:t>gana el negocio</a:t>
            </a:r>
            <a:endParaRPr lang="en-US" sz="2800" dirty="0"/>
          </a:p>
        </p:txBody>
      </p:sp>
      <p:sp>
        <p:nvSpPr>
          <p:cNvPr id="4" name="Text 2"/>
          <p:cNvSpPr/>
          <p:nvPr/>
        </p:nvSpPr>
        <p:spPr>
          <a:xfrm>
            <a:off x="457200" y="1417320"/>
            <a:ext cx="3657600" cy="640080"/>
          </a:xfrm>
          <a:prstGeom prst="rect">
            <a:avLst/>
          </a:prstGeom>
          <a:noFill/>
          <a:ln/>
        </p:spPr>
        <p:txBody>
          <a:bodyPr wrap="square" lIns="0" tIns="0" rIns="0" bIns="0" rtlCol="0" anchor="ctr"/>
          <a:lstStyle/>
          <a:p>
            <a:pPr indent="0" marL="0">
              <a:lnSpc>
                <a:spcPct val="140000"/>
              </a:lnSpc>
              <a:buNone/>
            </a:pPr>
            <a:r>
              <a:rPr lang="en-US" sz="1200" dirty="0">
                <a:solidFill>
                  <a:srgbClr val="888888"/>
                </a:solidFill>
                <a:latin typeface="Calibri" pitchFamily="34" charset="0"/>
                <a:ea typeface="Calibri" pitchFamily="34" charset="-122"/>
                <a:cs typeface="Calibri" pitchFamily="34" charset="-120"/>
              </a:rPr>
              <a:t>Beneficios concretos, medibles y reales para el dia a dia de cualquier pequeno comercio.</a:t>
            </a:r>
            <a:endParaRPr lang="en-US" sz="1200" dirty="0"/>
          </a:p>
        </p:txBody>
      </p:sp>
      <p:sp>
        <p:nvSpPr>
          <p:cNvPr id="5" name="Shape 3"/>
          <p:cNvSpPr/>
          <p:nvPr/>
        </p:nvSpPr>
        <p:spPr>
          <a:xfrm>
            <a:off x="5486400" y="457200"/>
            <a:ext cx="4114800" cy="4114800"/>
          </a:xfrm>
          <a:prstGeom prst="ellipse">
            <a:avLst/>
          </a:prstGeom>
          <a:solidFill>
            <a:srgbClr val="2ECC40">
              <a:alpha val="8000"/>
            </a:srgbClr>
          </a:solidFill>
          <a:ln w="12700">
            <a:solidFill>
              <a:srgbClr val="2ECC40"/>
            </a:solidFill>
            <a:prstDash val="solid"/>
          </a:ln>
        </p:spPr>
      </p:sp>
      <p:sp>
        <p:nvSpPr>
          <p:cNvPr id="6" name="Shape 4"/>
          <p:cNvSpPr/>
          <p:nvPr/>
        </p:nvSpPr>
        <p:spPr>
          <a:xfrm>
            <a:off x="4572000" y="320040"/>
            <a:ext cx="4389120" cy="658368"/>
          </a:xfrm>
          <a:prstGeom prst="rect">
            <a:avLst/>
          </a:prstGeom>
          <a:solidFill>
            <a:srgbClr val="161616"/>
          </a:solidFill>
          <a:ln w="12700">
            <a:solidFill>
              <a:srgbClr val="222222"/>
            </a:solidFill>
            <a:prstDash val="solid"/>
          </a:ln>
        </p:spPr>
      </p:sp>
      <p:sp>
        <p:nvSpPr>
          <p:cNvPr id="7" name="Text 5"/>
          <p:cNvSpPr/>
          <p:nvPr/>
        </p:nvSpPr>
        <p:spPr>
          <a:xfrm>
            <a:off x="4681728" y="393192"/>
            <a:ext cx="41148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8" name="Text 6"/>
          <p:cNvSpPr/>
          <p:nvPr/>
        </p:nvSpPr>
        <p:spPr>
          <a:xfrm>
            <a:off x="5166360" y="393192"/>
            <a:ext cx="3566160" cy="256032"/>
          </a:xfrm>
          <a:prstGeom prst="rect">
            <a:avLst/>
          </a:prstGeom>
          <a:noFill/>
          <a:ln/>
        </p:spPr>
        <p:txBody>
          <a:bodyPr wrap="square" lIns="0" tIns="0" rIns="0" bIns="0" rtlCol="0" anchor="ctr"/>
          <a:lstStyle/>
          <a:p>
            <a:pPr indent="0" marL="0">
              <a:buNone/>
            </a:pPr>
            <a:r>
              <a:rPr lang="en-US" sz="1200" b="1" dirty="0">
                <a:solidFill>
                  <a:srgbClr val="F5F5F0"/>
                </a:solidFill>
                <a:latin typeface="Arial Black" pitchFamily="34" charset="0"/>
                <a:ea typeface="Arial Black" pitchFamily="34" charset="-122"/>
                <a:cs typeface="Arial Black" pitchFamily="34" charset="-120"/>
              </a:rPr>
              <a:t>Ventas 4x mas rapidas</a:t>
            </a:r>
            <a:endParaRPr lang="en-US" sz="1200" dirty="0"/>
          </a:p>
        </p:txBody>
      </p:sp>
      <p:sp>
        <p:nvSpPr>
          <p:cNvPr id="9" name="Text 7"/>
          <p:cNvSpPr/>
          <p:nvPr/>
        </p:nvSpPr>
        <p:spPr>
          <a:xfrm>
            <a:off x="5166360" y="667512"/>
            <a:ext cx="3566160" cy="22860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De 4 minutos a menos de 1 por venta</a:t>
            </a:r>
            <a:endParaRPr lang="en-US" sz="1000" dirty="0"/>
          </a:p>
        </p:txBody>
      </p:sp>
      <p:sp>
        <p:nvSpPr>
          <p:cNvPr id="10" name="Shape 8"/>
          <p:cNvSpPr/>
          <p:nvPr/>
        </p:nvSpPr>
        <p:spPr>
          <a:xfrm>
            <a:off x="4572000" y="1069848"/>
            <a:ext cx="4389120" cy="658368"/>
          </a:xfrm>
          <a:prstGeom prst="rect">
            <a:avLst/>
          </a:prstGeom>
          <a:solidFill>
            <a:srgbClr val="161616"/>
          </a:solidFill>
          <a:ln w="12700">
            <a:solidFill>
              <a:srgbClr val="222222"/>
            </a:solidFill>
            <a:prstDash val="solid"/>
          </a:ln>
        </p:spPr>
      </p:sp>
      <p:sp>
        <p:nvSpPr>
          <p:cNvPr id="11" name="Text 9"/>
          <p:cNvSpPr/>
          <p:nvPr/>
        </p:nvSpPr>
        <p:spPr>
          <a:xfrm>
            <a:off x="4681728" y="1143000"/>
            <a:ext cx="41148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5166360" y="1143000"/>
            <a:ext cx="3566160" cy="256032"/>
          </a:xfrm>
          <a:prstGeom prst="rect">
            <a:avLst/>
          </a:prstGeom>
          <a:noFill/>
          <a:ln/>
        </p:spPr>
        <p:txBody>
          <a:bodyPr wrap="square" lIns="0" tIns="0" rIns="0" bIns="0" rtlCol="0" anchor="ctr"/>
          <a:lstStyle/>
          <a:p>
            <a:pPr indent="0" marL="0">
              <a:buNone/>
            </a:pPr>
            <a:r>
              <a:rPr lang="en-US" sz="1200" b="1" dirty="0">
                <a:solidFill>
                  <a:srgbClr val="F5F5F0"/>
                </a:solidFill>
                <a:latin typeface="Arial Black" pitchFamily="34" charset="0"/>
                <a:ea typeface="Arial Black" pitchFamily="34" charset="-122"/>
                <a:cs typeface="Arial Black" pitchFamily="34" charset="-120"/>
              </a:rPr>
              <a:t>Cero errores de calculo</a:t>
            </a:r>
            <a:endParaRPr lang="en-US" sz="1200" dirty="0"/>
          </a:p>
        </p:txBody>
      </p:sp>
      <p:sp>
        <p:nvSpPr>
          <p:cNvPr id="13" name="Text 11"/>
          <p:cNvSpPr/>
          <p:nvPr/>
        </p:nvSpPr>
        <p:spPr>
          <a:xfrm>
            <a:off x="5166360" y="1417320"/>
            <a:ext cx="3566160" cy="22860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El sistema suma, no las personas</a:t>
            </a:r>
            <a:endParaRPr lang="en-US" sz="1000" dirty="0"/>
          </a:p>
        </p:txBody>
      </p:sp>
      <p:sp>
        <p:nvSpPr>
          <p:cNvPr id="14" name="Shape 12"/>
          <p:cNvSpPr/>
          <p:nvPr/>
        </p:nvSpPr>
        <p:spPr>
          <a:xfrm>
            <a:off x="4572000" y="1819656"/>
            <a:ext cx="4389120" cy="658368"/>
          </a:xfrm>
          <a:prstGeom prst="rect">
            <a:avLst/>
          </a:prstGeom>
          <a:solidFill>
            <a:srgbClr val="161616"/>
          </a:solidFill>
          <a:ln w="12700">
            <a:solidFill>
              <a:srgbClr val="222222"/>
            </a:solidFill>
            <a:prstDash val="solid"/>
          </a:ln>
        </p:spPr>
      </p:sp>
      <p:sp>
        <p:nvSpPr>
          <p:cNvPr id="15" name="Text 13"/>
          <p:cNvSpPr/>
          <p:nvPr/>
        </p:nvSpPr>
        <p:spPr>
          <a:xfrm>
            <a:off x="4681728" y="1892808"/>
            <a:ext cx="41148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6" name="Text 14"/>
          <p:cNvSpPr/>
          <p:nvPr/>
        </p:nvSpPr>
        <p:spPr>
          <a:xfrm>
            <a:off x="5166360" y="1892808"/>
            <a:ext cx="3566160" cy="256032"/>
          </a:xfrm>
          <a:prstGeom prst="rect">
            <a:avLst/>
          </a:prstGeom>
          <a:noFill/>
          <a:ln/>
        </p:spPr>
        <p:txBody>
          <a:bodyPr wrap="square" lIns="0" tIns="0" rIns="0" bIns="0" rtlCol="0" anchor="ctr"/>
          <a:lstStyle/>
          <a:p>
            <a:pPr indent="0" marL="0">
              <a:buNone/>
            </a:pPr>
            <a:r>
              <a:rPr lang="en-US" sz="1200" b="1" dirty="0">
                <a:solidFill>
                  <a:srgbClr val="F5F5F0"/>
                </a:solidFill>
                <a:latin typeface="Arial Black" pitchFamily="34" charset="0"/>
                <a:ea typeface="Arial Black" pitchFamily="34" charset="-122"/>
                <a:cs typeface="Arial Black" pitchFamily="34" charset="-120"/>
              </a:rPr>
              <a:t>Datos reales del negocio</a:t>
            </a:r>
            <a:endParaRPr lang="en-US" sz="1200" dirty="0"/>
          </a:p>
        </p:txBody>
      </p:sp>
      <p:sp>
        <p:nvSpPr>
          <p:cNvPr id="17" name="Text 15"/>
          <p:cNvSpPr/>
          <p:nvPr/>
        </p:nvSpPr>
        <p:spPr>
          <a:xfrm>
            <a:off x="5166360" y="2167128"/>
            <a:ext cx="3566160" cy="22860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Reportes para tomar mejores decisiones</a:t>
            </a:r>
            <a:endParaRPr lang="en-US" sz="1000" dirty="0"/>
          </a:p>
        </p:txBody>
      </p:sp>
      <p:sp>
        <p:nvSpPr>
          <p:cNvPr id="18" name="Shape 16"/>
          <p:cNvSpPr/>
          <p:nvPr/>
        </p:nvSpPr>
        <p:spPr>
          <a:xfrm>
            <a:off x="4572000" y="2569464"/>
            <a:ext cx="4389120" cy="658368"/>
          </a:xfrm>
          <a:prstGeom prst="rect">
            <a:avLst/>
          </a:prstGeom>
          <a:solidFill>
            <a:srgbClr val="161616"/>
          </a:solidFill>
          <a:ln w="12700">
            <a:solidFill>
              <a:srgbClr val="222222"/>
            </a:solidFill>
            <a:prstDash val="solid"/>
          </a:ln>
        </p:spPr>
      </p:sp>
      <p:sp>
        <p:nvSpPr>
          <p:cNvPr id="19" name="Text 17"/>
          <p:cNvSpPr/>
          <p:nvPr/>
        </p:nvSpPr>
        <p:spPr>
          <a:xfrm>
            <a:off x="4681728" y="2642616"/>
            <a:ext cx="41148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0" name="Text 18"/>
          <p:cNvSpPr/>
          <p:nvPr/>
        </p:nvSpPr>
        <p:spPr>
          <a:xfrm>
            <a:off x="5166360" y="2642616"/>
            <a:ext cx="3566160" cy="256032"/>
          </a:xfrm>
          <a:prstGeom prst="rect">
            <a:avLst/>
          </a:prstGeom>
          <a:noFill/>
          <a:ln/>
        </p:spPr>
        <p:txBody>
          <a:bodyPr wrap="square" lIns="0" tIns="0" rIns="0" bIns="0" rtlCol="0" anchor="ctr"/>
          <a:lstStyle/>
          <a:p>
            <a:pPr indent="0" marL="0">
              <a:buNone/>
            </a:pPr>
            <a:r>
              <a:rPr lang="en-US" sz="1200" b="1" dirty="0">
                <a:solidFill>
                  <a:srgbClr val="F5F5F0"/>
                </a:solidFill>
                <a:latin typeface="Arial Black" pitchFamily="34" charset="0"/>
                <a:ea typeface="Arial Black" pitchFamily="34" charset="-122"/>
                <a:cs typeface="Arial Black" pitchFamily="34" charset="-120"/>
              </a:rPr>
              <a:t>Mayor control y seguridad</a:t>
            </a:r>
            <a:endParaRPr lang="en-US" sz="1200" dirty="0"/>
          </a:p>
        </p:txBody>
      </p:sp>
      <p:sp>
        <p:nvSpPr>
          <p:cNvPr id="21" name="Text 19"/>
          <p:cNvSpPr/>
          <p:nvPr/>
        </p:nvSpPr>
        <p:spPr>
          <a:xfrm>
            <a:off x="5166360" y="2916936"/>
            <a:ext cx="3566160" cy="22860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Acceso por roles, historial de operaciones</a:t>
            </a:r>
            <a:endParaRPr lang="en-US" sz="1000" dirty="0"/>
          </a:p>
        </p:txBody>
      </p:sp>
      <p:sp>
        <p:nvSpPr>
          <p:cNvPr id="22" name="Shape 20"/>
          <p:cNvSpPr/>
          <p:nvPr/>
        </p:nvSpPr>
        <p:spPr>
          <a:xfrm>
            <a:off x="4572000" y="3319272"/>
            <a:ext cx="4389120" cy="658368"/>
          </a:xfrm>
          <a:prstGeom prst="rect">
            <a:avLst/>
          </a:prstGeom>
          <a:solidFill>
            <a:srgbClr val="161616"/>
          </a:solidFill>
          <a:ln w="12700">
            <a:solidFill>
              <a:srgbClr val="222222"/>
            </a:solidFill>
            <a:prstDash val="solid"/>
          </a:ln>
        </p:spPr>
      </p:sp>
      <p:sp>
        <p:nvSpPr>
          <p:cNvPr id="23" name="Text 21"/>
          <p:cNvSpPr/>
          <p:nvPr/>
        </p:nvSpPr>
        <p:spPr>
          <a:xfrm>
            <a:off x="4681728" y="3392424"/>
            <a:ext cx="41148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4" name="Text 22"/>
          <p:cNvSpPr/>
          <p:nvPr/>
        </p:nvSpPr>
        <p:spPr>
          <a:xfrm>
            <a:off x="5166360" y="3392424"/>
            <a:ext cx="3566160" cy="256032"/>
          </a:xfrm>
          <a:prstGeom prst="rect">
            <a:avLst/>
          </a:prstGeom>
          <a:noFill/>
          <a:ln/>
        </p:spPr>
        <p:txBody>
          <a:bodyPr wrap="square" lIns="0" tIns="0" rIns="0" bIns="0" rtlCol="0" anchor="ctr"/>
          <a:lstStyle/>
          <a:p>
            <a:pPr indent="0" marL="0">
              <a:buNone/>
            </a:pPr>
            <a:r>
              <a:rPr lang="en-US" sz="1200" b="1" dirty="0">
                <a:solidFill>
                  <a:srgbClr val="F5F5F0"/>
                </a:solidFill>
                <a:latin typeface="Arial Black" pitchFamily="34" charset="0"/>
                <a:ea typeface="Arial Black" pitchFamily="34" charset="-122"/>
                <a:cs typeface="Arial Black" pitchFamily="34" charset="-120"/>
              </a:rPr>
              <a:t>Ahorro de dinero</a:t>
            </a:r>
            <a:endParaRPr lang="en-US" sz="1200" dirty="0"/>
          </a:p>
        </p:txBody>
      </p:sp>
      <p:sp>
        <p:nvSpPr>
          <p:cNvPr id="25" name="Text 23"/>
          <p:cNvSpPr/>
          <p:nvPr/>
        </p:nvSpPr>
        <p:spPr>
          <a:xfrm>
            <a:off x="5166360" y="3666744"/>
            <a:ext cx="3566160" cy="22860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Menos perdidas por errores y descuadres de caja</a:t>
            </a:r>
            <a:endParaRPr lang="en-US" sz="1000" dirty="0"/>
          </a:p>
        </p:txBody>
      </p:sp>
      <p:sp>
        <p:nvSpPr>
          <p:cNvPr id="26" name="Text 24"/>
          <p:cNvSpPr/>
          <p:nvPr/>
        </p:nvSpPr>
        <p:spPr>
          <a:xfrm>
            <a:off x="5943600" y="182880"/>
            <a:ext cx="3017520" cy="201168"/>
          </a:xfrm>
          <a:prstGeom prst="rect">
            <a:avLst/>
          </a:prstGeom>
          <a:noFill/>
          <a:ln/>
        </p:spPr>
        <p:txBody>
          <a:bodyPr wrap="square" rtlCol="0" anchor="ctr"/>
          <a:lstStyle/>
          <a:p>
            <a:pPr algn="r" indent="0" marL="0">
              <a:buNone/>
            </a:pPr>
            <a:r>
              <a:rPr lang="en-US" sz="800" b="1" spc="200" kern="0" dirty="0">
                <a:solidFill>
                  <a:srgbClr val="2ECC40"/>
                </a:solidFill>
                <a:latin typeface="Arial" pitchFamily="34" charset="0"/>
                <a:ea typeface="Arial" pitchFamily="34" charset="-122"/>
                <a:cs typeface="Arial" pitchFamily="34" charset="-120"/>
              </a:rPr>
              <a:t>BENEFICIOS</a:t>
            </a:r>
            <a:endParaRPr lang="en-US" sz="800" dirty="0"/>
          </a:p>
        </p:txBody>
      </p:sp>
      <p:sp>
        <p:nvSpPr>
          <p:cNvPr id="27" name="Text 25"/>
          <p:cNvSpPr/>
          <p:nvPr/>
        </p:nvSpPr>
        <p:spPr>
          <a:xfrm>
            <a:off x="7498080" y="4800600"/>
            <a:ext cx="1463040" cy="18288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D0D"/>
          </a:solidFill>
          <a:ln w="12700">
            <a:solidFill>
              <a:srgbClr val="0D0D0D"/>
            </a:solidFill>
            <a:prstDash val="solid"/>
          </a:ln>
        </p:spPr>
      </p:sp>
      <p:sp>
        <p:nvSpPr>
          <p:cNvPr id="3" name="Text 1"/>
          <p:cNvSpPr/>
          <p:nvPr/>
        </p:nvSpPr>
        <p:spPr>
          <a:xfrm>
            <a:off x="457200" y="274320"/>
            <a:ext cx="8229600" cy="914400"/>
          </a:xfrm>
          <a:prstGeom prst="rect">
            <a:avLst/>
          </a:prstGeom>
          <a:noFill/>
          <a:ln/>
        </p:spPr>
        <p:txBody>
          <a:bodyPr wrap="square" lIns="0" tIns="0" rIns="0" bIns="0" rtlCol="0" anchor="ctr"/>
          <a:lstStyle/>
          <a:p>
            <a:pPr indent="0" marL="0">
              <a:lnSpc>
                <a:spcPct val="110000"/>
              </a:lnSpc>
              <a:buNone/>
            </a:pPr>
            <a:r>
              <a:rPr lang="en-US" sz="3400" b="1" dirty="0">
                <a:solidFill>
                  <a:srgbClr val="F5F5F0"/>
                </a:solidFill>
                <a:latin typeface="Arial Black" pitchFamily="34" charset="0"/>
                <a:ea typeface="Arial Black" pitchFamily="34" charset="-122"/>
                <a:cs typeface="Arial Black" pitchFamily="34" charset="-120"/>
              </a:rPr>
              <a:t>Para quién es</a:t>
            </a:r>
            <a:endParaRPr lang="en-US" sz="3400" dirty="0"/>
          </a:p>
          <a:p>
            <a:pPr indent="0" marL="0">
              <a:lnSpc>
                <a:spcPct val="110000"/>
              </a:lnSpc>
              <a:buNone/>
            </a:pPr>
            <a:r>
              <a:rPr lang="en-US" sz="3400" b="1" dirty="0">
                <a:solidFill>
                  <a:srgbClr val="F5F5F0"/>
                </a:solidFill>
                <a:latin typeface="Arial Black" pitchFamily="34" charset="0"/>
                <a:ea typeface="Arial Black" pitchFamily="34" charset="-122"/>
                <a:cs typeface="Arial Black" pitchFamily="34" charset="-120"/>
              </a:rPr>
              <a:t>este sistema</a:t>
            </a:r>
            <a:endParaRPr lang="en-US" sz="3400" dirty="0"/>
          </a:p>
        </p:txBody>
      </p:sp>
      <p:sp>
        <p:nvSpPr>
          <p:cNvPr id="4" name="Shape 2"/>
          <p:cNvSpPr/>
          <p:nvPr/>
        </p:nvSpPr>
        <p:spPr>
          <a:xfrm>
            <a:off x="320040" y="1325880"/>
            <a:ext cx="2743200" cy="2606040"/>
          </a:xfrm>
          <a:prstGeom prst="rect">
            <a:avLst/>
          </a:prstGeom>
          <a:solidFill>
            <a:srgbClr val="161616"/>
          </a:solidFill>
          <a:ln w="12700">
            <a:solidFill>
              <a:srgbClr val="222222"/>
            </a:solidFill>
            <a:prstDash val="solid"/>
          </a:ln>
        </p:spPr>
      </p:sp>
      <p:sp>
        <p:nvSpPr>
          <p:cNvPr id="5" name="Text 3"/>
          <p:cNvSpPr/>
          <p:nvPr/>
        </p:nvSpPr>
        <p:spPr>
          <a:xfrm>
            <a:off x="320040" y="1508760"/>
            <a:ext cx="2743200" cy="594360"/>
          </a:xfrm>
          <a:prstGeom prst="rect">
            <a:avLst/>
          </a:prstGeom>
          <a:noFill/>
          <a:ln/>
        </p:spPr>
        <p:txBody>
          <a:bodyPr wrap="square" rtlCol="0" anchor="ctr"/>
          <a:lstStyle/>
          <a:p>
            <a:pPr algn="ctr" indent="0" marL="0">
              <a:buNone/>
            </a:pPr>
            <a:r>
              <a:rPr lang="en-US" sz="4200" dirty="0">
                <a:solidFill>
                  <a:srgbClr val="000000"/>
                </a:solidFill>
              </a:rPr>
              <a:t>🏪</a:t>
            </a:r>
            <a:endParaRPr lang="en-US" sz="4200" dirty="0"/>
          </a:p>
        </p:txBody>
      </p:sp>
      <p:sp>
        <p:nvSpPr>
          <p:cNvPr id="6" name="Text 4"/>
          <p:cNvSpPr/>
          <p:nvPr/>
        </p:nvSpPr>
        <p:spPr>
          <a:xfrm>
            <a:off x="429768" y="2148840"/>
            <a:ext cx="2523744" cy="320040"/>
          </a:xfrm>
          <a:prstGeom prst="rect">
            <a:avLst/>
          </a:prstGeom>
          <a:noFill/>
          <a:ln/>
        </p:spPr>
        <p:txBody>
          <a:bodyPr wrap="square" lIns="0" tIns="0" rIns="0" bIns="0" rtlCol="0" anchor="ctr"/>
          <a:lstStyle/>
          <a:p>
            <a:pPr algn="ctr" indent="0" marL="0">
              <a:buNone/>
            </a:pPr>
            <a:r>
              <a:rPr lang="en-US" sz="1500" b="1" dirty="0">
                <a:solidFill>
                  <a:srgbClr val="F5F5F0"/>
                </a:solidFill>
                <a:latin typeface="Arial Black" pitchFamily="34" charset="0"/>
                <a:ea typeface="Arial Black" pitchFamily="34" charset="-122"/>
                <a:cs typeface="Arial Black" pitchFamily="34" charset="-120"/>
              </a:rPr>
              <a:t>El Dueño</a:t>
            </a:r>
            <a:endParaRPr lang="en-US" sz="1500" dirty="0"/>
          </a:p>
        </p:txBody>
      </p:sp>
      <p:sp>
        <p:nvSpPr>
          <p:cNvPr id="7" name="Text 5"/>
          <p:cNvSpPr/>
          <p:nvPr/>
        </p:nvSpPr>
        <p:spPr>
          <a:xfrm>
            <a:off x="429768" y="2496312"/>
            <a:ext cx="2523744" cy="868680"/>
          </a:xfrm>
          <a:prstGeom prst="rect">
            <a:avLst/>
          </a:prstGeom>
          <a:noFill/>
          <a:ln/>
        </p:spPr>
        <p:txBody>
          <a:bodyPr wrap="square" lIns="0" tIns="0" rIns="0" bIns="0" rtlCol="0" anchor="ctr"/>
          <a:lstStyle/>
          <a:p>
            <a:pPr algn="ctr" indent="0" marL="0">
              <a:lnSpc>
                <a:spcPct val="135000"/>
              </a:lnSpc>
              <a:buNone/>
            </a:pPr>
            <a:r>
              <a:rPr lang="en-US" sz="1050" dirty="0">
                <a:solidFill>
                  <a:srgbClr val="888888"/>
                </a:solidFill>
                <a:latin typeface="Calibri" pitchFamily="34" charset="0"/>
                <a:ea typeface="Calibri" pitchFamily="34" charset="-122"/>
                <a:cs typeface="Calibri" pitchFamily="34" charset="-120"/>
              </a:rPr>
              <a:t>Don Carlos: quiere controlar su negocio, ver reportes y saber que va bien sin complicarse.</a:t>
            </a:r>
            <a:endParaRPr lang="en-US" sz="1050" dirty="0"/>
          </a:p>
        </p:txBody>
      </p:sp>
      <p:sp>
        <p:nvSpPr>
          <p:cNvPr id="8" name="Text 6"/>
          <p:cNvSpPr/>
          <p:nvPr/>
        </p:nvSpPr>
        <p:spPr>
          <a:xfrm>
            <a:off x="429768" y="3547872"/>
            <a:ext cx="2523744" cy="256032"/>
          </a:xfrm>
          <a:prstGeom prst="rect">
            <a:avLst/>
          </a:prstGeom>
          <a:noFill/>
          <a:ln/>
        </p:spPr>
        <p:txBody>
          <a:bodyPr wrap="square" lIns="0" tIns="0" rIns="0" bIns="0" rtlCol="0" anchor="ctr"/>
          <a:lstStyle/>
          <a:p>
            <a:pPr algn="ctr" indent="0" marL="0">
              <a:buNone/>
            </a:pPr>
            <a:r>
              <a:rPr lang="en-US" sz="1000" b="1" dirty="0">
                <a:solidFill>
                  <a:srgbClr val="2ECC40"/>
                </a:solidFill>
                <a:latin typeface="Arial" pitchFamily="34" charset="0"/>
                <a:ea typeface="Arial" pitchFamily="34" charset="-122"/>
                <a:cs typeface="Arial" pitchFamily="34" charset="-120"/>
              </a:rPr>
              <a:t>✓ Panel admin completo</a:t>
            </a:r>
            <a:endParaRPr lang="en-US" sz="1000" dirty="0"/>
          </a:p>
        </p:txBody>
      </p:sp>
      <p:sp>
        <p:nvSpPr>
          <p:cNvPr id="9" name="Shape 7"/>
          <p:cNvSpPr/>
          <p:nvPr/>
        </p:nvSpPr>
        <p:spPr>
          <a:xfrm>
            <a:off x="3200400" y="1325880"/>
            <a:ext cx="2743200" cy="2606040"/>
          </a:xfrm>
          <a:prstGeom prst="rect">
            <a:avLst/>
          </a:prstGeom>
          <a:solidFill>
            <a:srgbClr val="161616"/>
          </a:solidFill>
          <a:ln w="12700">
            <a:solidFill>
              <a:srgbClr val="222222"/>
            </a:solidFill>
            <a:prstDash val="solid"/>
          </a:ln>
        </p:spPr>
      </p:sp>
      <p:sp>
        <p:nvSpPr>
          <p:cNvPr id="10" name="Text 8"/>
          <p:cNvSpPr/>
          <p:nvPr/>
        </p:nvSpPr>
        <p:spPr>
          <a:xfrm>
            <a:off x="3200400" y="1508760"/>
            <a:ext cx="2743200" cy="594360"/>
          </a:xfrm>
          <a:prstGeom prst="rect">
            <a:avLst/>
          </a:prstGeom>
          <a:noFill/>
          <a:ln/>
        </p:spPr>
        <p:txBody>
          <a:bodyPr wrap="square" rtlCol="0" anchor="ctr"/>
          <a:lstStyle/>
          <a:p>
            <a:pPr algn="ctr" indent="0" marL="0">
              <a:buNone/>
            </a:pPr>
            <a:r>
              <a:rPr lang="en-US" sz="4200" dirty="0">
                <a:solidFill>
                  <a:srgbClr val="000000"/>
                </a:solidFill>
              </a:rPr>
              <a:t>🧑‍💼</a:t>
            </a:r>
            <a:endParaRPr lang="en-US" sz="4200" dirty="0"/>
          </a:p>
        </p:txBody>
      </p:sp>
      <p:sp>
        <p:nvSpPr>
          <p:cNvPr id="11" name="Text 9"/>
          <p:cNvSpPr/>
          <p:nvPr/>
        </p:nvSpPr>
        <p:spPr>
          <a:xfrm>
            <a:off x="3310128" y="2148840"/>
            <a:ext cx="2523744" cy="320040"/>
          </a:xfrm>
          <a:prstGeom prst="rect">
            <a:avLst/>
          </a:prstGeom>
          <a:noFill/>
          <a:ln/>
        </p:spPr>
        <p:txBody>
          <a:bodyPr wrap="square" lIns="0" tIns="0" rIns="0" bIns="0" rtlCol="0" anchor="ctr"/>
          <a:lstStyle/>
          <a:p>
            <a:pPr algn="ctr" indent="0" marL="0">
              <a:buNone/>
            </a:pPr>
            <a:r>
              <a:rPr lang="en-US" sz="1500" b="1" dirty="0">
                <a:solidFill>
                  <a:srgbClr val="F5F5F0"/>
                </a:solidFill>
                <a:latin typeface="Arial Black" pitchFamily="34" charset="0"/>
                <a:ea typeface="Arial Black" pitchFamily="34" charset="-122"/>
                <a:cs typeface="Arial Black" pitchFamily="34" charset="-120"/>
              </a:rPr>
              <a:t>El Cajero</a:t>
            </a:r>
            <a:endParaRPr lang="en-US" sz="1500" dirty="0"/>
          </a:p>
        </p:txBody>
      </p:sp>
      <p:sp>
        <p:nvSpPr>
          <p:cNvPr id="12" name="Text 10"/>
          <p:cNvSpPr/>
          <p:nvPr/>
        </p:nvSpPr>
        <p:spPr>
          <a:xfrm>
            <a:off x="3310128" y="2496312"/>
            <a:ext cx="2523744" cy="868680"/>
          </a:xfrm>
          <a:prstGeom prst="rect">
            <a:avLst/>
          </a:prstGeom>
          <a:noFill/>
          <a:ln/>
        </p:spPr>
        <p:txBody>
          <a:bodyPr wrap="square" lIns="0" tIns="0" rIns="0" bIns="0" rtlCol="0" anchor="ctr"/>
          <a:lstStyle/>
          <a:p>
            <a:pPr algn="ctr" indent="0" marL="0">
              <a:lnSpc>
                <a:spcPct val="135000"/>
              </a:lnSpc>
              <a:buNone/>
            </a:pPr>
            <a:r>
              <a:rPr lang="en-US" sz="1050" dirty="0">
                <a:solidFill>
                  <a:srgbClr val="888888"/>
                </a:solidFill>
                <a:latin typeface="Calibri" pitchFamily="34" charset="0"/>
                <a:ea typeface="Calibri" pitchFamily="34" charset="-122"/>
                <a:cs typeface="Calibri" pitchFamily="34" charset="-120"/>
              </a:rPr>
              <a:t>Martha o Julian: necesitan cobrar rapido, sin errores y sin necesitar saber de sistemas.</a:t>
            </a:r>
            <a:endParaRPr lang="en-US" sz="1050" dirty="0"/>
          </a:p>
        </p:txBody>
      </p:sp>
      <p:sp>
        <p:nvSpPr>
          <p:cNvPr id="13" name="Text 11"/>
          <p:cNvSpPr/>
          <p:nvPr/>
        </p:nvSpPr>
        <p:spPr>
          <a:xfrm>
            <a:off x="3310128" y="3547872"/>
            <a:ext cx="2523744" cy="256032"/>
          </a:xfrm>
          <a:prstGeom prst="rect">
            <a:avLst/>
          </a:prstGeom>
          <a:noFill/>
          <a:ln/>
        </p:spPr>
        <p:txBody>
          <a:bodyPr wrap="square" lIns="0" tIns="0" rIns="0" bIns="0" rtlCol="0" anchor="ctr"/>
          <a:lstStyle/>
          <a:p>
            <a:pPr algn="ctr" indent="0" marL="0">
              <a:buNone/>
            </a:pPr>
            <a:r>
              <a:rPr lang="en-US" sz="1000" b="1" dirty="0">
                <a:solidFill>
                  <a:srgbClr val="2ECC40"/>
                </a:solidFill>
                <a:latin typeface="Arial" pitchFamily="34" charset="0"/>
                <a:ea typeface="Arial" pitchFamily="34" charset="-122"/>
                <a:cs typeface="Arial" pitchFamily="34" charset="-120"/>
              </a:rPr>
              <a:t>✓ Interfaz super simple</a:t>
            </a:r>
            <a:endParaRPr lang="en-US" sz="1000" dirty="0"/>
          </a:p>
        </p:txBody>
      </p:sp>
      <p:sp>
        <p:nvSpPr>
          <p:cNvPr id="14" name="Shape 12"/>
          <p:cNvSpPr/>
          <p:nvPr/>
        </p:nvSpPr>
        <p:spPr>
          <a:xfrm>
            <a:off x="6080760" y="1325880"/>
            <a:ext cx="2743200" cy="2606040"/>
          </a:xfrm>
          <a:prstGeom prst="rect">
            <a:avLst/>
          </a:prstGeom>
          <a:solidFill>
            <a:srgbClr val="161616"/>
          </a:solidFill>
          <a:ln w="12700">
            <a:solidFill>
              <a:srgbClr val="222222"/>
            </a:solidFill>
            <a:prstDash val="solid"/>
          </a:ln>
        </p:spPr>
      </p:sp>
      <p:sp>
        <p:nvSpPr>
          <p:cNvPr id="15" name="Text 13"/>
          <p:cNvSpPr/>
          <p:nvPr/>
        </p:nvSpPr>
        <p:spPr>
          <a:xfrm>
            <a:off x="6080760" y="1508760"/>
            <a:ext cx="2743200" cy="594360"/>
          </a:xfrm>
          <a:prstGeom prst="rect">
            <a:avLst/>
          </a:prstGeom>
          <a:noFill/>
          <a:ln/>
        </p:spPr>
        <p:txBody>
          <a:bodyPr wrap="square" rtlCol="0" anchor="ctr"/>
          <a:lstStyle/>
          <a:p>
            <a:pPr algn="ctr" indent="0" marL="0">
              <a:buNone/>
            </a:pPr>
            <a:r>
              <a:rPr lang="en-US" sz="4200" dirty="0">
                <a:solidFill>
                  <a:srgbClr val="000000"/>
                </a:solidFill>
              </a:rPr>
              <a:t>🏘️</a:t>
            </a:r>
            <a:endParaRPr lang="en-US" sz="4200" dirty="0"/>
          </a:p>
        </p:txBody>
      </p:sp>
      <p:sp>
        <p:nvSpPr>
          <p:cNvPr id="16" name="Text 14"/>
          <p:cNvSpPr/>
          <p:nvPr/>
        </p:nvSpPr>
        <p:spPr>
          <a:xfrm>
            <a:off x="6190488" y="2148840"/>
            <a:ext cx="2523744" cy="320040"/>
          </a:xfrm>
          <a:prstGeom prst="rect">
            <a:avLst/>
          </a:prstGeom>
          <a:noFill/>
          <a:ln/>
        </p:spPr>
        <p:txBody>
          <a:bodyPr wrap="square" lIns="0" tIns="0" rIns="0" bIns="0" rtlCol="0" anchor="ctr"/>
          <a:lstStyle/>
          <a:p>
            <a:pPr algn="ctr" indent="0" marL="0">
              <a:buNone/>
            </a:pPr>
            <a:r>
              <a:rPr lang="en-US" sz="1500" b="1" dirty="0">
                <a:solidFill>
                  <a:srgbClr val="F5F5F0"/>
                </a:solidFill>
                <a:latin typeface="Arial Black" pitchFamily="34" charset="0"/>
                <a:ea typeface="Arial Black" pitchFamily="34" charset="-122"/>
                <a:cs typeface="Arial Black" pitchFamily="34" charset="-120"/>
              </a:rPr>
              <a:t>Mas negocios</a:t>
            </a:r>
            <a:endParaRPr lang="en-US" sz="1500" dirty="0"/>
          </a:p>
        </p:txBody>
      </p:sp>
      <p:sp>
        <p:nvSpPr>
          <p:cNvPr id="17" name="Text 15"/>
          <p:cNvSpPr/>
          <p:nvPr/>
        </p:nvSpPr>
        <p:spPr>
          <a:xfrm>
            <a:off x="6190488" y="2496312"/>
            <a:ext cx="2523744" cy="868680"/>
          </a:xfrm>
          <a:prstGeom prst="rect">
            <a:avLst/>
          </a:prstGeom>
          <a:noFill/>
          <a:ln/>
        </p:spPr>
        <p:txBody>
          <a:bodyPr wrap="square" lIns="0" tIns="0" rIns="0" bIns="0" rtlCol="0" anchor="ctr"/>
          <a:lstStyle/>
          <a:p>
            <a:pPr algn="ctr" indent="0" marL="0">
              <a:lnSpc>
                <a:spcPct val="135000"/>
              </a:lnSpc>
              <a:buNone/>
            </a:pPr>
            <a:r>
              <a:rPr lang="en-US" sz="1050" dirty="0">
                <a:solidFill>
                  <a:srgbClr val="888888"/>
                </a:solidFill>
                <a:latin typeface="Calibri" pitchFamily="34" charset="0"/>
                <a:ea typeface="Calibri" pitchFamily="34" charset="-122"/>
                <a:cs typeface="Calibri" pitchFamily="34" charset="-120"/>
              </a:rPr>
              <a:t>Tiendas, graneros, papelerias, miscelaneas. Cualquier pequeno comercio con el mismo problema.</a:t>
            </a:r>
            <a:endParaRPr lang="en-US" sz="1050" dirty="0"/>
          </a:p>
        </p:txBody>
      </p:sp>
      <p:sp>
        <p:nvSpPr>
          <p:cNvPr id="18" name="Text 16"/>
          <p:cNvSpPr/>
          <p:nvPr/>
        </p:nvSpPr>
        <p:spPr>
          <a:xfrm>
            <a:off x="6190488" y="3547872"/>
            <a:ext cx="2523744" cy="256032"/>
          </a:xfrm>
          <a:prstGeom prst="rect">
            <a:avLst/>
          </a:prstGeom>
          <a:noFill/>
          <a:ln/>
        </p:spPr>
        <p:txBody>
          <a:bodyPr wrap="square" lIns="0" tIns="0" rIns="0" bIns="0" rtlCol="0" anchor="ctr"/>
          <a:lstStyle/>
          <a:p>
            <a:pPr algn="ctr" indent="0" marL="0">
              <a:buNone/>
            </a:pPr>
            <a:r>
              <a:rPr lang="en-US" sz="1000" b="1" dirty="0">
                <a:solidFill>
                  <a:srgbClr val="2ECC40"/>
                </a:solidFill>
                <a:latin typeface="Arial" pitchFamily="34" charset="0"/>
                <a:ea typeface="Arial" pitchFamily="34" charset="-122"/>
                <a:cs typeface="Arial" pitchFamily="34" charset="-120"/>
              </a:rPr>
              <a:t>✓ Escalable y adaptable</a:t>
            </a:r>
            <a:endParaRPr lang="en-US" sz="1000" dirty="0"/>
          </a:p>
        </p:txBody>
      </p:sp>
      <p:sp>
        <p:nvSpPr>
          <p:cNvPr id="19" name="Text 17"/>
          <p:cNvSpPr/>
          <p:nvPr/>
        </p:nvSpPr>
        <p:spPr>
          <a:xfrm>
            <a:off x="5943600" y="182880"/>
            <a:ext cx="3017520" cy="201168"/>
          </a:xfrm>
          <a:prstGeom prst="rect">
            <a:avLst/>
          </a:prstGeom>
          <a:noFill/>
          <a:ln/>
        </p:spPr>
        <p:txBody>
          <a:bodyPr wrap="square" rtlCol="0" anchor="ctr"/>
          <a:lstStyle/>
          <a:p>
            <a:pPr algn="r" indent="0" marL="0">
              <a:buNone/>
            </a:pPr>
            <a:r>
              <a:rPr lang="en-US" sz="800" b="1" spc="200" kern="0" dirty="0">
                <a:solidFill>
                  <a:srgbClr val="2ECC40"/>
                </a:solidFill>
                <a:latin typeface="Arial" pitchFamily="34" charset="0"/>
                <a:ea typeface="Arial" pitchFamily="34" charset="-122"/>
                <a:cs typeface="Arial" pitchFamily="34" charset="-120"/>
              </a:rPr>
              <a:t>PÚBLICO OBJETIVO</a:t>
            </a:r>
            <a:endParaRPr lang="en-US" sz="800" dirty="0"/>
          </a:p>
        </p:txBody>
      </p:sp>
      <p:sp>
        <p:nvSpPr>
          <p:cNvPr id="20" name="Text 18"/>
          <p:cNvSpPr/>
          <p:nvPr/>
        </p:nvSpPr>
        <p:spPr>
          <a:xfrm>
            <a:off x="7498080" y="4800600"/>
            <a:ext cx="1463040" cy="18288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50505"/>
          </a:solidFill>
          <a:ln w="12700">
            <a:solidFill>
              <a:srgbClr val="050505"/>
            </a:solidFill>
            <a:prstDash val="solid"/>
          </a:ln>
        </p:spPr>
      </p:sp>
      <p:sp>
        <p:nvSpPr>
          <p:cNvPr id="3" name="Text 1"/>
          <p:cNvSpPr/>
          <p:nvPr/>
        </p:nvSpPr>
        <p:spPr>
          <a:xfrm>
            <a:off x="457200" y="228600"/>
            <a:ext cx="8229600" cy="914400"/>
          </a:xfrm>
          <a:prstGeom prst="rect">
            <a:avLst/>
          </a:prstGeom>
          <a:noFill/>
          <a:ln/>
        </p:spPr>
        <p:txBody>
          <a:bodyPr wrap="square" lIns="0" tIns="0" rIns="0" bIns="0" rtlCol="0" anchor="ctr"/>
          <a:lstStyle/>
          <a:p>
            <a:pPr indent="0" marL="0">
              <a:lnSpc>
                <a:spcPct val="110000"/>
              </a:lnSpc>
              <a:buNone/>
            </a:pPr>
            <a:r>
              <a:rPr lang="en-US" sz="3400" b="1" dirty="0">
                <a:solidFill>
                  <a:srgbClr val="F5F5F0"/>
                </a:solidFill>
                <a:latin typeface="Arial Black" pitchFamily="34" charset="0"/>
                <a:ea typeface="Arial Black" pitchFamily="34" charset="-122"/>
                <a:cs typeface="Arial Black" pitchFamily="34" charset="-120"/>
              </a:rPr>
              <a:t>¿Qué nos hace</a:t>
            </a:r>
            <a:endParaRPr lang="en-US" sz="3400" dirty="0"/>
          </a:p>
          <a:p>
            <a:pPr indent="0" marL="0">
              <a:lnSpc>
                <a:spcPct val="110000"/>
              </a:lnSpc>
              <a:buNone/>
            </a:pPr>
            <a:r>
              <a:rPr lang="en-US" sz="3400" b="1" dirty="0">
                <a:solidFill>
                  <a:srgbClr val="F5F5F0"/>
                </a:solidFill>
                <a:latin typeface="Arial Black" pitchFamily="34" charset="0"/>
                <a:ea typeface="Arial Black" pitchFamily="34" charset="-122"/>
                <a:cs typeface="Arial Black" pitchFamily="34" charset="-120"/>
              </a:rPr>
              <a:t>diferentes?</a:t>
            </a:r>
            <a:endParaRPr lang="en-US" sz="3400" dirty="0"/>
          </a:p>
        </p:txBody>
      </p:sp>
      <p:sp>
        <p:nvSpPr>
          <p:cNvPr id="4" name="Shape 2"/>
          <p:cNvSpPr/>
          <p:nvPr/>
        </p:nvSpPr>
        <p:spPr>
          <a:xfrm>
            <a:off x="457200" y="1188720"/>
            <a:ext cx="4206240" cy="1645920"/>
          </a:xfrm>
          <a:prstGeom prst="rect">
            <a:avLst/>
          </a:prstGeom>
          <a:solidFill>
            <a:srgbClr val="161616"/>
          </a:solidFill>
          <a:ln w="12700">
            <a:solidFill>
              <a:srgbClr val="1E1E1E"/>
            </a:solidFill>
            <a:prstDash val="solid"/>
          </a:ln>
        </p:spPr>
      </p:sp>
      <p:sp>
        <p:nvSpPr>
          <p:cNvPr id="5" name="Shape 3"/>
          <p:cNvSpPr/>
          <p:nvPr/>
        </p:nvSpPr>
        <p:spPr>
          <a:xfrm>
            <a:off x="457200" y="1188720"/>
            <a:ext cx="36576" cy="1645920"/>
          </a:xfrm>
          <a:prstGeom prst="rect">
            <a:avLst/>
          </a:prstGeom>
          <a:solidFill>
            <a:srgbClr val="FFE033"/>
          </a:solidFill>
          <a:ln w="12700">
            <a:solidFill>
              <a:srgbClr val="FFE033"/>
            </a:solidFill>
            <a:prstDash val="solid"/>
          </a:ln>
        </p:spPr>
      </p:sp>
      <p:sp>
        <p:nvSpPr>
          <p:cNvPr id="6" name="Text 4"/>
          <p:cNvSpPr/>
          <p:nvPr/>
        </p:nvSpPr>
        <p:spPr>
          <a:xfrm>
            <a:off x="3840480" y="1234440"/>
            <a:ext cx="731520" cy="594360"/>
          </a:xfrm>
          <a:prstGeom prst="rect">
            <a:avLst/>
          </a:prstGeom>
          <a:noFill/>
          <a:ln/>
        </p:spPr>
        <p:txBody>
          <a:bodyPr wrap="square" lIns="0" tIns="0" rIns="0" bIns="0" rtlCol="0" anchor="ctr"/>
          <a:lstStyle/>
          <a:p>
            <a:pPr algn="r" indent="0" marL="0">
              <a:buNone/>
            </a:pPr>
            <a:r>
              <a:rPr lang="en-US" sz="4200" b="1" dirty="0">
                <a:solidFill>
                  <a:srgbClr val="FFE033">
                    <a:alpha val="12000"/>
                  </a:srgbClr>
                </a:solidFill>
                <a:latin typeface="Arial Black" pitchFamily="34" charset="0"/>
                <a:ea typeface="Arial Black" pitchFamily="34" charset="-122"/>
                <a:cs typeface="Arial Black" pitchFamily="34" charset="-120"/>
              </a:rPr>
              <a:t>01</a:t>
            </a:r>
            <a:endParaRPr lang="en-US" sz="4200" dirty="0"/>
          </a:p>
        </p:txBody>
      </p:sp>
      <p:sp>
        <p:nvSpPr>
          <p:cNvPr id="7" name="Text 5"/>
          <p:cNvSpPr/>
          <p:nvPr/>
        </p:nvSpPr>
        <p:spPr>
          <a:xfrm>
            <a:off x="640080" y="1353312"/>
            <a:ext cx="3200400" cy="320040"/>
          </a:xfrm>
          <a:prstGeom prst="rect">
            <a:avLst/>
          </a:prstGeom>
          <a:noFill/>
          <a:ln/>
        </p:spPr>
        <p:txBody>
          <a:bodyPr wrap="square" lIns="0" tIns="0" rIns="0" bIns="0" rtlCol="0" anchor="ctr"/>
          <a:lstStyle/>
          <a:p>
            <a:pPr indent="0" marL="0">
              <a:buNone/>
            </a:pPr>
            <a:r>
              <a:rPr lang="en-US" sz="1400" b="1" dirty="0">
                <a:solidFill>
                  <a:srgbClr val="FFE033"/>
                </a:solidFill>
                <a:latin typeface="Arial Black" pitchFamily="34" charset="0"/>
                <a:ea typeface="Arial Black" pitchFamily="34" charset="-122"/>
                <a:cs typeface="Arial Black" pitchFamily="34" charset="-120"/>
              </a:rPr>
              <a:t>Hecho a la medida</a:t>
            </a:r>
            <a:endParaRPr lang="en-US" sz="1400" dirty="0"/>
          </a:p>
        </p:txBody>
      </p:sp>
      <p:sp>
        <p:nvSpPr>
          <p:cNvPr id="8" name="Text 6"/>
          <p:cNvSpPr/>
          <p:nvPr/>
        </p:nvSpPr>
        <p:spPr>
          <a:xfrm>
            <a:off x="640080" y="1719072"/>
            <a:ext cx="3840480" cy="1005840"/>
          </a:xfrm>
          <a:prstGeom prst="rect">
            <a:avLst/>
          </a:prstGeom>
          <a:noFill/>
          <a:ln/>
        </p:spPr>
        <p:txBody>
          <a:bodyPr wrap="square" lIns="0" tIns="0" rIns="0" bIns="0" rtlCol="0" anchor="ctr"/>
          <a:lstStyle/>
          <a:p>
            <a:pPr indent="0" marL="0">
              <a:lnSpc>
                <a:spcPct val="140000"/>
              </a:lnSpc>
              <a:buNone/>
            </a:pPr>
            <a:r>
              <a:rPr lang="en-US" sz="1100" dirty="0">
                <a:solidFill>
                  <a:srgbClr val="888888"/>
                </a:solidFill>
                <a:latin typeface="Calibri" pitchFamily="34" charset="0"/>
                <a:ea typeface="Calibri" pitchFamily="34" charset="-122"/>
                <a:cs typeface="Calibri" pitchFamily="34" charset="-120"/>
              </a:rPr>
              <a:t>No es un software generico. Fue disenado especificamente para la realidad de los negocios de barrio en Colombia, con sus necesidades reales.</a:t>
            </a:r>
            <a:endParaRPr lang="en-US" sz="1100" dirty="0"/>
          </a:p>
        </p:txBody>
      </p:sp>
      <p:sp>
        <p:nvSpPr>
          <p:cNvPr id="9" name="Shape 7"/>
          <p:cNvSpPr/>
          <p:nvPr/>
        </p:nvSpPr>
        <p:spPr>
          <a:xfrm>
            <a:off x="4846320" y="1188720"/>
            <a:ext cx="4206240" cy="1645920"/>
          </a:xfrm>
          <a:prstGeom prst="rect">
            <a:avLst/>
          </a:prstGeom>
          <a:solidFill>
            <a:srgbClr val="161616"/>
          </a:solidFill>
          <a:ln w="12700">
            <a:solidFill>
              <a:srgbClr val="1E1E1E"/>
            </a:solidFill>
            <a:prstDash val="solid"/>
          </a:ln>
        </p:spPr>
      </p:sp>
      <p:sp>
        <p:nvSpPr>
          <p:cNvPr id="10" name="Shape 8"/>
          <p:cNvSpPr/>
          <p:nvPr/>
        </p:nvSpPr>
        <p:spPr>
          <a:xfrm>
            <a:off x="4846320" y="1188720"/>
            <a:ext cx="36576" cy="1645920"/>
          </a:xfrm>
          <a:prstGeom prst="rect">
            <a:avLst/>
          </a:prstGeom>
          <a:solidFill>
            <a:srgbClr val="FFE033"/>
          </a:solidFill>
          <a:ln w="12700">
            <a:solidFill>
              <a:srgbClr val="FFE033"/>
            </a:solidFill>
            <a:prstDash val="solid"/>
          </a:ln>
        </p:spPr>
      </p:sp>
      <p:sp>
        <p:nvSpPr>
          <p:cNvPr id="11" name="Text 9"/>
          <p:cNvSpPr/>
          <p:nvPr/>
        </p:nvSpPr>
        <p:spPr>
          <a:xfrm>
            <a:off x="8229600" y="1234440"/>
            <a:ext cx="731520" cy="594360"/>
          </a:xfrm>
          <a:prstGeom prst="rect">
            <a:avLst/>
          </a:prstGeom>
          <a:noFill/>
          <a:ln/>
        </p:spPr>
        <p:txBody>
          <a:bodyPr wrap="square" lIns="0" tIns="0" rIns="0" bIns="0" rtlCol="0" anchor="ctr"/>
          <a:lstStyle/>
          <a:p>
            <a:pPr algn="r" indent="0" marL="0">
              <a:buNone/>
            </a:pPr>
            <a:r>
              <a:rPr lang="en-US" sz="4200" b="1" dirty="0">
                <a:solidFill>
                  <a:srgbClr val="FFE033">
                    <a:alpha val="12000"/>
                  </a:srgbClr>
                </a:solidFill>
                <a:latin typeface="Arial Black" pitchFamily="34" charset="0"/>
                <a:ea typeface="Arial Black" pitchFamily="34" charset="-122"/>
                <a:cs typeface="Arial Black" pitchFamily="34" charset="-120"/>
              </a:rPr>
              <a:t>02</a:t>
            </a:r>
            <a:endParaRPr lang="en-US" sz="4200" dirty="0"/>
          </a:p>
        </p:txBody>
      </p:sp>
      <p:sp>
        <p:nvSpPr>
          <p:cNvPr id="12" name="Text 10"/>
          <p:cNvSpPr/>
          <p:nvPr/>
        </p:nvSpPr>
        <p:spPr>
          <a:xfrm>
            <a:off x="5029200" y="1353312"/>
            <a:ext cx="3200400" cy="320040"/>
          </a:xfrm>
          <a:prstGeom prst="rect">
            <a:avLst/>
          </a:prstGeom>
          <a:noFill/>
          <a:ln/>
        </p:spPr>
        <p:txBody>
          <a:bodyPr wrap="square" lIns="0" tIns="0" rIns="0" bIns="0" rtlCol="0" anchor="ctr"/>
          <a:lstStyle/>
          <a:p>
            <a:pPr indent="0" marL="0">
              <a:buNone/>
            </a:pPr>
            <a:r>
              <a:rPr lang="en-US" sz="1400" b="1" dirty="0">
                <a:solidFill>
                  <a:srgbClr val="FFE033"/>
                </a:solidFill>
                <a:latin typeface="Arial Black" pitchFamily="34" charset="0"/>
                <a:ea typeface="Arial Black" pitchFamily="34" charset="-122"/>
                <a:cs typeface="Arial Black" pitchFamily="34" charset="-120"/>
              </a:rPr>
              <a:t>Super simple de usar</a:t>
            </a:r>
            <a:endParaRPr lang="en-US" sz="1400" dirty="0"/>
          </a:p>
        </p:txBody>
      </p:sp>
      <p:sp>
        <p:nvSpPr>
          <p:cNvPr id="13" name="Text 11"/>
          <p:cNvSpPr/>
          <p:nvPr/>
        </p:nvSpPr>
        <p:spPr>
          <a:xfrm>
            <a:off x="5029200" y="1719072"/>
            <a:ext cx="3840480" cy="1005840"/>
          </a:xfrm>
          <a:prstGeom prst="rect">
            <a:avLst/>
          </a:prstGeom>
          <a:noFill/>
          <a:ln/>
        </p:spPr>
        <p:txBody>
          <a:bodyPr wrap="square" lIns="0" tIns="0" rIns="0" bIns="0" rtlCol="0" anchor="ctr"/>
          <a:lstStyle/>
          <a:p>
            <a:pPr indent="0" marL="0">
              <a:lnSpc>
                <a:spcPct val="140000"/>
              </a:lnSpc>
              <a:buNone/>
            </a:pPr>
            <a:r>
              <a:rPr lang="en-US" sz="1100" dirty="0">
                <a:solidFill>
                  <a:srgbClr val="888888"/>
                </a:solidFill>
                <a:latin typeface="Calibri" pitchFamily="34" charset="0"/>
                <a:ea typeface="Calibri" pitchFamily="34" charset="-122"/>
                <a:cs typeface="Calibri" pitchFamily="34" charset="-120"/>
              </a:rPr>
              <a:t>Un empleado sin experiencia puede aprender a usarlo en menos de 1 hora. La interfaz esta en espanol y es intuitiva.</a:t>
            </a:r>
            <a:endParaRPr lang="en-US" sz="1100" dirty="0"/>
          </a:p>
        </p:txBody>
      </p:sp>
      <p:sp>
        <p:nvSpPr>
          <p:cNvPr id="14" name="Shape 12"/>
          <p:cNvSpPr/>
          <p:nvPr/>
        </p:nvSpPr>
        <p:spPr>
          <a:xfrm>
            <a:off x="457200" y="2971800"/>
            <a:ext cx="4206240" cy="1645920"/>
          </a:xfrm>
          <a:prstGeom prst="rect">
            <a:avLst/>
          </a:prstGeom>
          <a:solidFill>
            <a:srgbClr val="161616"/>
          </a:solidFill>
          <a:ln w="12700">
            <a:solidFill>
              <a:srgbClr val="1E1E1E"/>
            </a:solidFill>
            <a:prstDash val="solid"/>
          </a:ln>
        </p:spPr>
      </p:sp>
      <p:sp>
        <p:nvSpPr>
          <p:cNvPr id="15" name="Shape 13"/>
          <p:cNvSpPr/>
          <p:nvPr/>
        </p:nvSpPr>
        <p:spPr>
          <a:xfrm>
            <a:off x="457200" y="2971800"/>
            <a:ext cx="36576" cy="1645920"/>
          </a:xfrm>
          <a:prstGeom prst="rect">
            <a:avLst/>
          </a:prstGeom>
          <a:solidFill>
            <a:srgbClr val="FFE033"/>
          </a:solidFill>
          <a:ln w="12700">
            <a:solidFill>
              <a:srgbClr val="FFE033"/>
            </a:solidFill>
            <a:prstDash val="solid"/>
          </a:ln>
        </p:spPr>
      </p:sp>
      <p:sp>
        <p:nvSpPr>
          <p:cNvPr id="16" name="Text 14"/>
          <p:cNvSpPr/>
          <p:nvPr/>
        </p:nvSpPr>
        <p:spPr>
          <a:xfrm>
            <a:off x="3840480" y="3017520"/>
            <a:ext cx="731520" cy="594360"/>
          </a:xfrm>
          <a:prstGeom prst="rect">
            <a:avLst/>
          </a:prstGeom>
          <a:noFill/>
          <a:ln/>
        </p:spPr>
        <p:txBody>
          <a:bodyPr wrap="square" lIns="0" tIns="0" rIns="0" bIns="0" rtlCol="0" anchor="ctr"/>
          <a:lstStyle/>
          <a:p>
            <a:pPr algn="r" indent="0" marL="0">
              <a:buNone/>
            </a:pPr>
            <a:r>
              <a:rPr lang="en-US" sz="4200" b="1" dirty="0">
                <a:solidFill>
                  <a:srgbClr val="FFE033">
                    <a:alpha val="12000"/>
                  </a:srgbClr>
                </a:solidFill>
                <a:latin typeface="Arial Black" pitchFamily="34" charset="0"/>
                <a:ea typeface="Arial Black" pitchFamily="34" charset="-122"/>
                <a:cs typeface="Arial Black" pitchFamily="34" charset="-120"/>
              </a:rPr>
              <a:t>03</a:t>
            </a:r>
            <a:endParaRPr lang="en-US" sz="4200" dirty="0"/>
          </a:p>
        </p:txBody>
      </p:sp>
      <p:sp>
        <p:nvSpPr>
          <p:cNvPr id="17" name="Text 15"/>
          <p:cNvSpPr/>
          <p:nvPr/>
        </p:nvSpPr>
        <p:spPr>
          <a:xfrm>
            <a:off x="640080" y="3136392"/>
            <a:ext cx="3200400" cy="320040"/>
          </a:xfrm>
          <a:prstGeom prst="rect">
            <a:avLst/>
          </a:prstGeom>
          <a:noFill/>
          <a:ln/>
        </p:spPr>
        <p:txBody>
          <a:bodyPr wrap="square" lIns="0" tIns="0" rIns="0" bIns="0" rtlCol="0" anchor="ctr"/>
          <a:lstStyle/>
          <a:p>
            <a:pPr indent="0" marL="0">
              <a:buNone/>
            </a:pPr>
            <a:r>
              <a:rPr lang="en-US" sz="1400" b="1" dirty="0">
                <a:solidFill>
                  <a:srgbClr val="FFE033"/>
                </a:solidFill>
                <a:latin typeface="Arial Black" pitchFamily="34" charset="0"/>
                <a:ea typeface="Arial Black" pitchFamily="34" charset="-122"/>
                <a:cs typeface="Arial Black" pitchFamily="34" charset="-120"/>
              </a:rPr>
              <a:t>Economicamente viable</a:t>
            </a:r>
            <a:endParaRPr lang="en-US" sz="1400" dirty="0"/>
          </a:p>
        </p:txBody>
      </p:sp>
      <p:sp>
        <p:nvSpPr>
          <p:cNvPr id="18" name="Text 16"/>
          <p:cNvSpPr/>
          <p:nvPr/>
        </p:nvSpPr>
        <p:spPr>
          <a:xfrm>
            <a:off x="640080" y="3502152"/>
            <a:ext cx="3840480" cy="1005840"/>
          </a:xfrm>
          <a:prstGeom prst="rect">
            <a:avLst/>
          </a:prstGeom>
          <a:noFill/>
          <a:ln/>
        </p:spPr>
        <p:txBody>
          <a:bodyPr wrap="square" lIns="0" tIns="0" rIns="0" bIns="0" rtlCol="0" anchor="ctr"/>
          <a:lstStyle/>
          <a:p>
            <a:pPr indent="0" marL="0">
              <a:lnSpc>
                <a:spcPct val="140000"/>
              </a:lnSpc>
              <a:buNone/>
            </a:pPr>
            <a:r>
              <a:rPr lang="en-US" sz="1100" dirty="0">
                <a:solidFill>
                  <a:srgbClr val="888888"/>
                </a:solidFill>
                <a:latin typeface="Calibri" pitchFamily="34" charset="0"/>
                <a:ea typeface="Calibri" pitchFamily="34" charset="-122"/>
                <a:cs typeface="Calibri" pitchFamily="34" charset="-120"/>
              </a:rPr>
              <a:t>Desarrollado por aprendices del SENA, pensado para ser accesible. No es un ERP de empresa, es una herramienta practica.</a:t>
            </a:r>
            <a:endParaRPr lang="en-US" sz="1100" dirty="0"/>
          </a:p>
        </p:txBody>
      </p:sp>
      <p:sp>
        <p:nvSpPr>
          <p:cNvPr id="19" name="Shape 17"/>
          <p:cNvSpPr/>
          <p:nvPr/>
        </p:nvSpPr>
        <p:spPr>
          <a:xfrm>
            <a:off x="4846320" y="2971800"/>
            <a:ext cx="4206240" cy="1645920"/>
          </a:xfrm>
          <a:prstGeom prst="rect">
            <a:avLst/>
          </a:prstGeom>
          <a:solidFill>
            <a:srgbClr val="161616"/>
          </a:solidFill>
          <a:ln w="12700">
            <a:solidFill>
              <a:srgbClr val="1E1E1E"/>
            </a:solidFill>
            <a:prstDash val="solid"/>
          </a:ln>
        </p:spPr>
      </p:sp>
      <p:sp>
        <p:nvSpPr>
          <p:cNvPr id="20" name="Shape 18"/>
          <p:cNvSpPr/>
          <p:nvPr/>
        </p:nvSpPr>
        <p:spPr>
          <a:xfrm>
            <a:off x="4846320" y="2971800"/>
            <a:ext cx="36576" cy="1645920"/>
          </a:xfrm>
          <a:prstGeom prst="rect">
            <a:avLst/>
          </a:prstGeom>
          <a:solidFill>
            <a:srgbClr val="FFE033"/>
          </a:solidFill>
          <a:ln w="12700">
            <a:solidFill>
              <a:srgbClr val="FFE033"/>
            </a:solidFill>
            <a:prstDash val="solid"/>
          </a:ln>
        </p:spPr>
      </p:sp>
      <p:sp>
        <p:nvSpPr>
          <p:cNvPr id="21" name="Text 19"/>
          <p:cNvSpPr/>
          <p:nvPr/>
        </p:nvSpPr>
        <p:spPr>
          <a:xfrm>
            <a:off x="8229600" y="3017520"/>
            <a:ext cx="731520" cy="594360"/>
          </a:xfrm>
          <a:prstGeom prst="rect">
            <a:avLst/>
          </a:prstGeom>
          <a:noFill/>
          <a:ln/>
        </p:spPr>
        <p:txBody>
          <a:bodyPr wrap="square" lIns="0" tIns="0" rIns="0" bIns="0" rtlCol="0" anchor="ctr"/>
          <a:lstStyle/>
          <a:p>
            <a:pPr algn="r" indent="0" marL="0">
              <a:buNone/>
            </a:pPr>
            <a:r>
              <a:rPr lang="en-US" sz="4200" b="1" dirty="0">
                <a:solidFill>
                  <a:srgbClr val="FFE033">
                    <a:alpha val="12000"/>
                  </a:srgbClr>
                </a:solidFill>
                <a:latin typeface="Arial Black" pitchFamily="34" charset="0"/>
                <a:ea typeface="Arial Black" pitchFamily="34" charset="-122"/>
                <a:cs typeface="Arial Black" pitchFamily="34" charset="-120"/>
              </a:rPr>
              <a:t>04</a:t>
            </a:r>
            <a:endParaRPr lang="en-US" sz="4200" dirty="0"/>
          </a:p>
        </p:txBody>
      </p:sp>
      <p:sp>
        <p:nvSpPr>
          <p:cNvPr id="22" name="Text 20"/>
          <p:cNvSpPr/>
          <p:nvPr/>
        </p:nvSpPr>
        <p:spPr>
          <a:xfrm>
            <a:off x="5029200" y="3136392"/>
            <a:ext cx="3200400" cy="320040"/>
          </a:xfrm>
          <a:prstGeom prst="rect">
            <a:avLst/>
          </a:prstGeom>
          <a:noFill/>
          <a:ln/>
        </p:spPr>
        <p:txBody>
          <a:bodyPr wrap="square" lIns="0" tIns="0" rIns="0" bIns="0" rtlCol="0" anchor="ctr"/>
          <a:lstStyle/>
          <a:p>
            <a:pPr indent="0" marL="0">
              <a:buNone/>
            </a:pPr>
            <a:r>
              <a:rPr lang="en-US" sz="1400" b="1" dirty="0">
                <a:solidFill>
                  <a:srgbClr val="FFE033"/>
                </a:solidFill>
                <a:latin typeface="Arial Black" pitchFamily="34" charset="0"/>
                <a:ea typeface="Arial Black" pitchFamily="34" charset="-122"/>
                <a:cs typeface="Arial Black" pitchFamily="34" charset="-120"/>
              </a:rPr>
              <a:t>Tecnologia real</a:t>
            </a:r>
            <a:endParaRPr lang="en-US" sz="1400" dirty="0"/>
          </a:p>
        </p:txBody>
      </p:sp>
      <p:sp>
        <p:nvSpPr>
          <p:cNvPr id="23" name="Text 21"/>
          <p:cNvSpPr/>
          <p:nvPr/>
        </p:nvSpPr>
        <p:spPr>
          <a:xfrm>
            <a:off x="5029200" y="3502152"/>
            <a:ext cx="3840480" cy="1005840"/>
          </a:xfrm>
          <a:prstGeom prst="rect">
            <a:avLst/>
          </a:prstGeom>
          <a:noFill/>
          <a:ln/>
        </p:spPr>
        <p:txBody>
          <a:bodyPr wrap="square" lIns="0" tIns="0" rIns="0" bIns="0" rtlCol="0" anchor="ctr"/>
          <a:lstStyle/>
          <a:p>
            <a:pPr indent="0" marL="0">
              <a:lnSpc>
                <a:spcPct val="140000"/>
              </a:lnSpc>
              <a:buNone/>
            </a:pPr>
            <a:r>
              <a:rPr lang="en-US" sz="1100" dirty="0">
                <a:solidFill>
                  <a:srgbClr val="888888"/>
                </a:solidFill>
                <a:latin typeface="Calibri" pitchFamily="34" charset="0"/>
                <a:ea typeface="Calibri" pitchFamily="34" charset="-122"/>
                <a:cs typeface="Calibri" pitchFamily="34" charset="-120"/>
              </a:rPr>
              <a:t>Construido en Laravel, el framework PHP mas popular del mundo. Robusto, seguro y con posibilidad de crecer con el negocio.</a:t>
            </a:r>
            <a:endParaRPr lang="en-US" sz="1100" dirty="0"/>
          </a:p>
        </p:txBody>
      </p:sp>
      <p:sp>
        <p:nvSpPr>
          <p:cNvPr id="24" name="Text 22"/>
          <p:cNvSpPr/>
          <p:nvPr/>
        </p:nvSpPr>
        <p:spPr>
          <a:xfrm>
            <a:off x="5943600" y="182880"/>
            <a:ext cx="3017520" cy="201168"/>
          </a:xfrm>
          <a:prstGeom prst="rect">
            <a:avLst/>
          </a:prstGeom>
          <a:noFill/>
          <a:ln/>
        </p:spPr>
        <p:txBody>
          <a:bodyPr wrap="square" rtlCol="0" anchor="ctr"/>
          <a:lstStyle/>
          <a:p>
            <a:pPr algn="r" indent="0" marL="0">
              <a:buNone/>
            </a:pPr>
            <a:r>
              <a:rPr lang="en-US" sz="800" b="1" spc="200" kern="0" dirty="0">
                <a:solidFill>
                  <a:srgbClr val="2ECC40"/>
                </a:solidFill>
                <a:latin typeface="Arial" pitchFamily="34" charset="0"/>
                <a:ea typeface="Arial" pitchFamily="34" charset="-122"/>
                <a:cs typeface="Arial" pitchFamily="34" charset="-120"/>
              </a:rPr>
              <a:t>DIFERENCIADORES</a:t>
            </a:r>
            <a:endParaRPr lang="en-US" sz="800" dirty="0"/>
          </a:p>
        </p:txBody>
      </p:sp>
      <p:sp>
        <p:nvSpPr>
          <p:cNvPr id="25" name="Text 23"/>
          <p:cNvSpPr/>
          <p:nvPr/>
        </p:nvSpPr>
        <p:spPr>
          <a:xfrm>
            <a:off x="7498080" y="4800600"/>
            <a:ext cx="1463040" cy="18288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40C05"/>
          </a:solidFill>
          <a:ln w="12700">
            <a:solidFill>
              <a:srgbClr val="040C05"/>
            </a:solidFill>
            <a:prstDash val="solid"/>
          </a:ln>
        </p:spPr>
      </p:sp>
      <p:sp>
        <p:nvSpPr>
          <p:cNvPr id="3" name="Text 1"/>
          <p:cNvSpPr/>
          <p:nvPr/>
        </p:nvSpPr>
        <p:spPr>
          <a:xfrm>
            <a:off x="457200" y="228600"/>
            <a:ext cx="8229600" cy="914400"/>
          </a:xfrm>
          <a:prstGeom prst="rect">
            <a:avLst/>
          </a:prstGeom>
          <a:noFill/>
          <a:ln/>
        </p:spPr>
        <p:txBody>
          <a:bodyPr wrap="square" lIns="0" tIns="0" rIns="0" bIns="0" rtlCol="0" anchor="ctr"/>
          <a:lstStyle/>
          <a:p>
            <a:pPr indent="0" marL="0">
              <a:lnSpc>
                <a:spcPct val="110000"/>
              </a:lnSpc>
              <a:buNone/>
            </a:pPr>
            <a:r>
              <a:rPr lang="en-US" sz="3400" b="1" dirty="0">
                <a:solidFill>
                  <a:srgbClr val="F5F5F0"/>
                </a:solidFill>
                <a:latin typeface="Arial Black" pitchFamily="34" charset="0"/>
                <a:ea typeface="Arial Black" pitchFamily="34" charset="-122"/>
                <a:cs typeface="Arial Black" pitchFamily="34" charset="-120"/>
              </a:rPr>
              <a:t>El impacto</a:t>
            </a:r>
            <a:endParaRPr lang="en-US" sz="3400" dirty="0"/>
          </a:p>
          <a:p>
            <a:pPr indent="0" marL="0">
              <a:lnSpc>
                <a:spcPct val="110000"/>
              </a:lnSpc>
              <a:buNone/>
            </a:pPr>
            <a:r>
              <a:rPr lang="en-US" sz="3400" b="1" dirty="0">
                <a:solidFill>
                  <a:srgbClr val="F5F5F0"/>
                </a:solidFill>
                <a:latin typeface="Arial Black" pitchFamily="34" charset="0"/>
                <a:ea typeface="Arial Black" pitchFamily="34" charset="-122"/>
                <a:cs typeface="Arial Black" pitchFamily="34" charset="-120"/>
              </a:rPr>
              <a:t>que buscamos</a:t>
            </a:r>
            <a:endParaRPr lang="en-US" sz="3400" dirty="0"/>
          </a:p>
        </p:txBody>
      </p:sp>
      <p:sp>
        <p:nvSpPr>
          <p:cNvPr id="4" name="Shape 2"/>
          <p:cNvSpPr/>
          <p:nvPr/>
        </p:nvSpPr>
        <p:spPr>
          <a:xfrm>
            <a:off x="502920" y="1325880"/>
            <a:ext cx="1965960" cy="1280160"/>
          </a:xfrm>
          <a:prstGeom prst="rect">
            <a:avLst/>
          </a:prstGeom>
          <a:solidFill>
            <a:srgbClr val="161616"/>
          </a:solidFill>
          <a:ln w="12700">
            <a:solidFill>
              <a:srgbClr val="1E1E1E"/>
            </a:solidFill>
            <a:prstDash val="solid"/>
          </a:ln>
        </p:spPr>
      </p:sp>
      <p:sp>
        <p:nvSpPr>
          <p:cNvPr id="5" name="Text 3"/>
          <p:cNvSpPr/>
          <p:nvPr/>
        </p:nvSpPr>
        <p:spPr>
          <a:xfrm>
            <a:off x="502920" y="1463040"/>
            <a:ext cx="1965960" cy="640080"/>
          </a:xfrm>
          <a:prstGeom prst="rect">
            <a:avLst/>
          </a:prstGeom>
          <a:noFill/>
          <a:ln/>
        </p:spPr>
        <p:txBody>
          <a:bodyPr wrap="square" lIns="0" tIns="0" rIns="0" bIns="0" rtlCol="0" anchor="ctr"/>
          <a:lstStyle/>
          <a:p>
            <a:pPr algn="ctr" indent="0" marL="0">
              <a:buNone/>
            </a:pPr>
            <a:r>
              <a:rPr lang="en-US" sz="3800" b="1" dirty="0">
                <a:solidFill>
                  <a:srgbClr val="2ECC40"/>
                </a:solidFill>
                <a:latin typeface="Arial Black" pitchFamily="34" charset="0"/>
                <a:ea typeface="Arial Black" pitchFamily="34" charset="-122"/>
                <a:cs typeface="Arial Black" pitchFamily="34" charset="-120"/>
              </a:rPr>
              <a:t>4x</a:t>
            </a:r>
            <a:endParaRPr lang="en-US" sz="3800" dirty="0"/>
          </a:p>
        </p:txBody>
      </p:sp>
      <p:sp>
        <p:nvSpPr>
          <p:cNvPr id="6" name="Text 4"/>
          <p:cNvSpPr/>
          <p:nvPr/>
        </p:nvSpPr>
        <p:spPr>
          <a:xfrm>
            <a:off x="594360" y="2130552"/>
            <a:ext cx="1783080" cy="411480"/>
          </a:xfrm>
          <a:prstGeom prst="rect">
            <a:avLst/>
          </a:prstGeom>
          <a:noFill/>
          <a:ln/>
        </p:spPr>
        <p:txBody>
          <a:bodyPr wrap="square" lIns="0" tIns="0" rIns="0" bIns="0" rtlCol="0" anchor="ctr"/>
          <a:lstStyle/>
          <a:p>
            <a:pPr algn="ctr" indent="0" marL="0">
              <a:lnSpc>
                <a:spcPct val="130000"/>
              </a:lnSpc>
              <a:buNone/>
            </a:pPr>
            <a:r>
              <a:rPr lang="en-US" sz="1000" dirty="0">
                <a:solidFill>
                  <a:srgbClr val="888888"/>
                </a:solidFill>
                <a:latin typeface="Calibri" pitchFamily="34" charset="0"/>
                <a:ea typeface="Calibri" pitchFamily="34" charset="-122"/>
                <a:cs typeface="Calibri" pitchFamily="34" charset="-120"/>
              </a:rPr>
              <a:t>Mas rapido en registro de ventas</a:t>
            </a:r>
            <a:endParaRPr lang="en-US" sz="1000" dirty="0"/>
          </a:p>
        </p:txBody>
      </p:sp>
      <p:sp>
        <p:nvSpPr>
          <p:cNvPr id="7" name="Shape 5"/>
          <p:cNvSpPr/>
          <p:nvPr/>
        </p:nvSpPr>
        <p:spPr>
          <a:xfrm>
            <a:off x="2560320" y="1325880"/>
            <a:ext cx="1965960" cy="1280160"/>
          </a:xfrm>
          <a:prstGeom prst="rect">
            <a:avLst/>
          </a:prstGeom>
          <a:solidFill>
            <a:srgbClr val="161616"/>
          </a:solidFill>
          <a:ln w="12700">
            <a:solidFill>
              <a:srgbClr val="1E1E1E"/>
            </a:solidFill>
            <a:prstDash val="solid"/>
          </a:ln>
        </p:spPr>
      </p:sp>
      <p:sp>
        <p:nvSpPr>
          <p:cNvPr id="8" name="Text 6"/>
          <p:cNvSpPr/>
          <p:nvPr/>
        </p:nvSpPr>
        <p:spPr>
          <a:xfrm>
            <a:off x="2560320" y="1463040"/>
            <a:ext cx="1965960" cy="640080"/>
          </a:xfrm>
          <a:prstGeom prst="rect">
            <a:avLst/>
          </a:prstGeom>
          <a:noFill/>
          <a:ln/>
        </p:spPr>
        <p:txBody>
          <a:bodyPr wrap="square" lIns="0" tIns="0" rIns="0" bIns="0" rtlCol="0" anchor="ctr"/>
          <a:lstStyle/>
          <a:p>
            <a:pPr algn="ctr" indent="0" marL="0">
              <a:buNone/>
            </a:pPr>
            <a:r>
              <a:rPr lang="en-US" sz="3800" b="1" dirty="0">
                <a:solidFill>
                  <a:srgbClr val="2ECC40"/>
                </a:solidFill>
                <a:latin typeface="Arial Black" pitchFamily="34" charset="0"/>
                <a:ea typeface="Arial Black" pitchFamily="34" charset="-122"/>
                <a:cs typeface="Arial Black" pitchFamily="34" charset="-120"/>
              </a:rPr>
              <a:t>0</a:t>
            </a:r>
            <a:endParaRPr lang="en-US" sz="3800" dirty="0"/>
          </a:p>
        </p:txBody>
      </p:sp>
      <p:sp>
        <p:nvSpPr>
          <p:cNvPr id="9" name="Text 7"/>
          <p:cNvSpPr/>
          <p:nvPr/>
        </p:nvSpPr>
        <p:spPr>
          <a:xfrm>
            <a:off x="2651760" y="2130552"/>
            <a:ext cx="1783080" cy="411480"/>
          </a:xfrm>
          <a:prstGeom prst="rect">
            <a:avLst/>
          </a:prstGeom>
          <a:noFill/>
          <a:ln/>
        </p:spPr>
        <p:txBody>
          <a:bodyPr wrap="square" lIns="0" tIns="0" rIns="0" bIns="0" rtlCol="0" anchor="ctr"/>
          <a:lstStyle/>
          <a:p>
            <a:pPr algn="ctr" indent="0" marL="0">
              <a:lnSpc>
                <a:spcPct val="130000"/>
              </a:lnSpc>
              <a:buNone/>
            </a:pPr>
            <a:r>
              <a:rPr lang="en-US" sz="1000" dirty="0">
                <a:solidFill>
                  <a:srgbClr val="888888"/>
                </a:solidFill>
                <a:latin typeface="Calibri" pitchFamily="34" charset="0"/>
                <a:ea typeface="Calibri" pitchFamily="34" charset="-122"/>
                <a:cs typeface="Calibri" pitchFamily="34" charset="-120"/>
              </a:rPr>
              <a:t>Errores de calculo manual</a:t>
            </a:r>
            <a:endParaRPr lang="en-US" sz="1000" dirty="0"/>
          </a:p>
        </p:txBody>
      </p:sp>
      <p:sp>
        <p:nvSpPr>
          <p:cNvPr id="10" name="Shape 8"/>
          <p:cNvSpPr/>
          <p:nvPr/>
        </p:nvSpPr>
        <p:spPr>
          <a:xfrm>
            <a:off x="4617720" y="1325880"/>
            <a:ext cx="1965960" cy="1280160"/>
          </a:xfrm>
          <a:prstGeom prst="rect">
            <a:avLst/>
          </a:prstGeom>
          <a:solidFill>
            <a:srgbClr val="161616"/>
          </a:solidFill>
          <a:ln w="12700">
            <a:solidFill>
              <a:srgbClr val="1E1E1E"/>
            </a:solidFill>
            <a:prstDash val="solid"/>
          </a:ln>
        </p:spPr>
      </p:sp>
      <p:sp>
        <p:nvSpPr>
          <p:cNvPr id="11" name="Text 9"/>
          <p:cNvSpPr/>
          <p:nvPr/>
        </p:nvSpPr>
        <p:spPr>
          <a:xfrm>
            <a:off x="4617720" y="1463040"/>
            <a:ext cx="1965960" cy="640080"/>
          </a:xfrm>
          <a:prstGeom prst="rect">
            <a:avLst/>
          </a:prstGeom>
          <a:noFill/>
          <a:ln/>
        </p:spPr>
        <p:txBody>
          <a:bodyPr wrap="square" lIns="0" tIns="0" rIns="0" bIns="0" rtlCol="0" anchor="ctr"/>
          <a:lstStyle/>
          <a:p>
            <a:pPr algn="ctr" indent="0" marL="0">
              <a:buNone/>
            </a:pPr>
            <a:r>
              <a:rPr lang="en-US" sz="3800" b="1" dirty="0">
                <a:solidFill>
                  <a:srgbClr val="2ECC40"/>
                </a:solidFill>
                <a:latin typeface="Arial Black" pitchFamily="34" charset="0"/>
                <a:ea typeface="Arial Black" pitchFamily="34" charset="-122"/>
                <a:cs typeface="Arial Black" pitchFamily="34" charset="-120"/>
              </a:rPr>
              <a:t>100%</a:t>
            </a:r>
            <a:endParaRPr lang="en-US" sz="3800" dirty="0"/>
          </a:p>
        </p:txBody>
      </p:sp>
      <p:sp>
        <p:nvSpPr>
          <p:cNvPr id="12" name="Text 10"/>
          <p:cNvSpPr/>
          <p:nvPr/>
        </p:nvSpPr>
        <p:spPr>
          <a:xfrm>
            <a:off x="4709160" y="2130552"/>
            <a:ext cx="1783080" cy="411480"/>
          </a:xfrm>
          <a:prstGeom prst="rect">
            <a:avLst/>
          </a:prstGeom>
          <a:noFill/>
          <a:ln/>
        </p:spPr>
        <p:txBody>
          <a:bodyPr wrap="square" lIns="0" tIns="0" rIns="0" bIns="0" rtlCol="0" anchor="ctr"/>
          <a:lstStyle/>
          <a:p>
            <a:pPr algn="ctr" indent="0" marL="0">
              <a:lnSpc>
                <a:spcPct val="130000"/>
              </a:lnSpc>
              <a:buNone/>
            </a:pPr>
            <a:r>
              <a:rPr lang="en-US" sz="1000" dirty="0">
                <a:solidFill>
                  <a:srgbClr val="888888"/>
                </a:solidFill>
                <a:latin typeface="Calibri" pitchFamily="34" charset="0"/>
                <a:ea typeface="Calibri" pitchFamily="34" charset="-122"/>
                <a:cs typeface="Calibri" pitchFamily="34" charset="-120"/>
              </a:rPr>
              <a:t>Control del inventario en tiempo real</a:t>
            </a:r>
            <a:endParaRPr lang="en-US" sz="1000" dirty="0"/>
          </a:p>
        </p:txBody>
      </p:sp>
      <p:sp>
        <p:nvSpPr>
          <p:cNvPr id="13" name="Shape 11"/>
          <p:cNvSpPr/>
          <p:nvPr/>
        </p:nvSpPr>
        <p:spPr>
          <a:xfrm>
            <a:off x="6675120" y="1325880"/>
            <a:ext cx="1965960" cy="1280160"/>
          </a:xfrm>
          <a:prstGeom prst="rect">
            <a:avLst/>
          </a:prstGeom>
          <a:solidFill>
            <a:srgbClr val="161616"/>
          </a:solidFill>
          <a:ln w="12700">
            <a:solidFill>
              <a:srgbClr val="1E1E1E"/>
            </a:solidFill>
            <a:prstDash val="solid"/>
          </a:ln>
        </p:spPr>
      </p:sp>
      <p:sp>
        <p:nvSpPr>
          <p:cNvPr id="14" name="Text 12"/>
          <p:cNvSpPr/>
          <p:nvPr/>
        </p:nvSpPr>
        <p:spPr>
          <a:xfrm>
            <a:off x="6675120" y="1463040"/>
            <a:ext cx="1965960" cy="640080"/>
          </a:xfrm>
          <a:prstGeom prst="rect">
            <a:avLst/>
          </a:prstGeom>
          <a:noFill/>
          <a:ln/>
        </p:spPr>
        <p:txBody>
          <a:bodyPr wrap="square" lIns="0" tIns="0" rIns="0" bIns="0" rtlCol="0" anchor="ctr"/>
          <a:lstStyle/>
          <a:p>
            <a:pPr algn="ctr" indent="0" marL="0">
              <a:buNone/>
            </a:pPr>
            <a:r>
              <a:rPr lang="en-US" sz="3800" b="1" dirty="0">
                <a:solidFill>
                  <a:srgbClr val="2ECC40"/>
                </a:solidFill>
                <a:latin typeface="Arial Black" pitchFamily="34" charset="0"/>
                <a:ea typeface="Arial Black" pitchFamily="34" charset="-122"/>
                <a:cs typeface="Arial Black" pitchFamily="34" charset="-120"/>
              </a:rPr>
              <a:t>+1M</a:t>
            </a:r>
            <a:endParaRPr lang="en-US" sz="3800" dirty="0"/>
          </a:p>
        </p:txBody>
      </p:sp>
      <p:sp>
        <p:nvSpPr>
          <p:cNvPr id="15" name="Text 13"/>
          <p:cNvSpPr/>
          <p:nvPr/>
        </p:nvSpPr>
        <p:spPr>
          <a:xfrm>
            <a:off x="6766560" y="2130552"/>
            <a:ext cx="1783080" cy="411480"/>
          </a:xfrm>
          <a:prstGeom prst="rect">
            <a:avLst/>
          </a:prstGeom>
          <a:noFill/>
          <a:ln/>
        </p:spPr>
        <p:txBody>
          <a:bodyPr wrap="square" lIns="0" tIns="0" rIns="0" bIns="0" rtlCol="0" anchor="ctr"/>
          <a:lstStyle/>
          <a:p>
            <a:pPr algn="ctr" indent="0" marL="0">
              <a:lnSpc>
                <a:spcPct val="130000"/>
              </a:lnSpc>
              <a:buNone/>
            </a:pPr>
            <a:r>
              <a:rPr lang="en-US" sz="1000" dirty="0">
                <a:solidFill>
                  <a:srgbClr val="888888"/>
                </a:solidFill>
                <a:latin typeface="Calibri" pitchFamily="34" charset="0"/>
                <a:ea typeface="Calibri" pitchFamily="34" charset="-122"/>
                <a:cs typeface="Calibri" pitchFamily="34" charset="-120"/>
              </a:rPr>
              <a:t>Negocios en Colombia que podrian beneficiarse</a:t>
            </a:r>
            <a:endParaRPr lang="en-US" sz="1000" dirty="0"/>
          </a:p>
        </p:txBody>
      </p:sp>
      <p:sp>
        <p:nvSpPr>
          <p:cNvPr id="16" name="Shape 14"/>
          <p:cNvSpPr/>
          <p:nvPr/>
        </p:nvSpPr>
        <p:spPr>
          <a:xfrm>
            <a:off x="457200" y="2788920"/>
            <a:ext cx="8229600" cy="1234440"/>
          </a:xfrm>
          <a:prstGeom prst="rect">
            <a:avLst/>
          </a:prstGeom>
          <a:solidFill>
            <a:srgbClr val="2ECC40">
              <a:alpha val="8000"/>
            </a:srgbClr>
          </a:solidFill>
          <a:ln w="12700">
            <a:solidFill>
              <a:srgbClr val="2ECC40">
                <a:alpha val="22000"/>
              </a:srgbClr>
            </a:solidFill>
            <a:prstDash val="solid"/>
          </a:ln>
        </p:spPr>
      </p:sp>
      <p:sp>
        <p:nvSpPr>
          <p:cNvPr id="17" name="Text 15"/>
          <p:cNvSpPr/>
          <p:nvPr/>
        </p:nvSpPr>
        <p:spPr>
          <a:xfrm>
            <a:off x="594360" y="2880360"/>
            <a:ext cx="457200" cy="4572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8" name="Text 16"/>
          <p:cNvSpPr/>
          <p:nvPr/>
        </p:nvSpPr>
        <p:spPr>
          <a:xfrm>
            <a:off x="1143000" y="2880360"/>
            <a:ext cx="7315200" cy="1005840"/>
          </a:xfrm>
          <a:prstGeom prst="rect">
            <a:avLst/>
          </a:prstGeom>
          <a:noFill/>
          <a:ln/>
        </p:spPr>
        <p:txBody>
          <a:bodyPr wrap="square" lIns="0" tIns="0" rIns="0" bIns="0" rtlCol="0" anchor="ctr"/>
          <a:lstStyle/>
          <a:p>
            <a:pPr indent="0" marL="0">
              <a:lnSpc>
                <a:spcPct val="145000"/>
              </a:lnSpc>
              <a:buNone/>
            </a:pPr>
            <a:r>
              <a:rPr lang="en-US" sz="1200" b="1" dirty="0">
                <a:solidFill>
                  <a:srgbClr val="F5F5F0"/>
                </a:solidFill>
                <a:latin typeface="Calibri" pitchFamily="34" charset="0"/>
                <a:ea typeface="Calibri" pitchFamily="34" charset="-122"/>
                <a:cs typeface="Calibri" pitchFamily="34" charset="-120"/>
              </a:rPr>
              <a:t>Versión 2.0 en roadmap: </a:t>
            </a:r>
            <a:pPr indent="0" marL="0">
              <a:lnSpc>
                <a:spcPct val="145000"/>
              </a:lnSpc>
              <a:buNone/>
            </a:pPr>
            <a:r>
              <a:rPr lang="en-US" sz="1200" dirty="0">
                <a:solidFill>
                  <a:srgbClr val="888888"/>
                </a:solidFill>
                <a:latin typeface="Calibri" pitchFamily="34" charset="0"/>
                <a:ea typeface="Calibri" pitchFamily="34" charset="-122"/>
                <a:cs typeface="Calibri" pitchFamily="34" charset="-120"/>
              </a:rPr>
              <a:t>Facturacion electronica DIAN, aplicacion movil para el administrador, reportes avanzados con graficas y notificaciones por WhatsApp cuando el inventario baje.</a:t>
            </a:r>
            <a:endParaRPr lang="en-US" sz="1200" dirty="0"/>
          </a:p>
        </p:txBody>
      </p:sp>
      <p:sp>
        <p:nvSpPr>
          <p:cNvPr id="19" name="Text 17"/>
          <p:cNvSpPr/>
          <p:nvPr/>
        </p:nvSpPr>
        <p:spPr>
          <a:xfrm>
            <a:off x="5943600" y="182880"/>
            <a:ext cx="3017520" cy="201168"/>
          </a:xfrm>
          <a:prstGeom prst="rect">
            <a:avLst/>
          </a:prstGeom>
          <a:noFill/>
          <a:ln/>
        </p:spPr>
        <p:txBody>
          <a:bodyPr wrap="square" rtlCol="0" anchor="ctr"/>
          <a:lstStyle/>
          <a:p>
            <a:pPr algn="r" indent="0" marL="0">
              <a:buNone/>
            </a:pPr>
            <a:r>
              <a:rPr lang="en-US" sz="800" b="1" spc="200" kern="0" dirty="0">
                <a:solidFill>
                  <a:srgbClr val="2ECC40"/>
                </a:solidFill>
                <a:latin typeface="Arial" pitchFamily="34" charset="0"/>
                <a:ea typeface="Arial" pitchFamily="34" charset="-122"/>
                <a:cs typeface="Arial" pitchFamily="34" charset="-120"/>
              </a:rPr>
              <a:t>IMPACTO</a:t>
            </a:r>
            <a:endParaRPr lang="en-US" sz="800" dirty="0"/>
          </a:p>
        </p:txBody>
      </p:sp>
      <p:sp>
        <p:nvSpPr>
          <p:cNvPr id="20" name="Text 18"/>
          <p:cNvSpPr/>
          <p:nvPr/>
        </p:nvSpPr>
        <p:spPr>
          <a:xfrm>
            <a:off x="7498080" y="4800600"/>
            <a:ext cx="1463040" cy="18288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A0A"/>
          </a:solidFill>
          <a:ln w="12700">
            <a:solidFill>
              <a:srgbClr val="0A0A0A"/>
            </a:solidFill>
            <a:prstDash val="solid"/>
          </a:ln>
        </p:spPr>
      </p:sp>
      <p:sp>
        <p:nvSpPr>
          <p:cNvPr id="3" name="Shape 1"/>
          <p:cNvSpPr/>
          <p:nvPr/>
        </p:nvSpPr>
        <p:spPr>
          <a:xfrm>
            <a:off x="6858000" y="274320"/>
            <a:ext cx="3200400" cy="4114800"/>
          </a:xfrm>
          <a:prstGeom prst="ellipse">
            <a:avLst/>
          </a:prstGeom>
          <a:solidFill>
            <a:srgbClr val="2ECC40">
              <a:alpha val="10000"/>
            </a:srgbClr>
          </a:solidFill>
          <a:ln w="12700">
            <a:solidFill>
              <a:srgbClr val="2ECC40"/>
            </a:solidFill>
            <a:prstDash val="solid"/>
          </a:ln>
        </p:spPr>
      </p:sp>
      <p:sp>
        <p:nvSpPr>
          <p:cNvPr id="4" name="Text 2"/>
          <p:cNvSpPr/>
          <p:nvPr/>
        </p:nvSpPr>
        <p:spPr>
          <a:xfrm>
            <a:off x="457200" y="320040"/>
            <a:ext cx="7315200" cy="228600"/>
          </a:xfrm>
          <a:prstGeom prst="rect">
            <a:avLst/>
          </a:prstGeom>
          <a:noFill/>
          <a:ln/>
        </p:spPr>
        <p:txBody>
          <a:bodyPr wrap="square" rtlCol="0" anchor="ctr"/>
          <a:lstStyle/>
          <a:p>
            <a:pPr indent="0" marL="0">
              <a:buNone/>
            </a:pPr>
            <a:r>
              <a:rPr lang="en-US" sz="900" b="1" spc="300" kern="0" dirty="0">
                <a:solidFill>
                  <a:srgbClr val="2ECC40"/>
                </a:solidFill>
                <a:latin typeface="Arial" pitchFamily="34" charset="0"/>
                <a:ea typeface="Arial" pitchFamily="34" charset="-122"/>
                <a:cs typeface="Arial" pitchFamily="34" charset="-120"/>
              </a:rPr>
              <a:t>✅  PARA CERRAR</a:t>
            </a:r>
            <a:endParaRPr lang="en-US" sz="900" dirty="0"/>
          </a:p>
        </p:txBody>
      </p:sp>
      <p:sp>
        <p:nvSpPr>
          <p:cNvPr id="5" name="Text 3"/>
          <p:cNvSpPr/>
          <p:nvPr/>
        </p:nvSpPr>
        <p:spPr>
          <a:xfrm>
            <a:off x="457200" y="548640"/>
            <a:ext cx="5029200" cy="1417320"/>
          </a:xfrm>
          <a:prstGeom prst="rect">
            <a:avLst/>
          </a:prstGeom>
          <a:noFill/>
          <a:ln/>
        </p:spPr>
        <p:txBody>
          <a:bodyPr wrap="square" lIns="0" tIns="0" rIns="0" bIns="0" rtlCol="0" anchor="ctr"/>
          <a:lstStyle/>
          <a:p>
            <a:pPr indent="0" marL="0">
              <a:lnSpc>
                <a:spcPct val="110000"/>
              </a:lnSpc>
              <a:buNone/>
            </a:pPr>
            <a:r>
              <a:rPr lang="en-US" sz="3400" b="1" dirty="0">
                <a:solidFill>
                  <a:srgbClr val="F5F5F0"/>
                </a:solidFill>
                <a:latin typeface="Arial Black" pitchFamily="34" charset="0"/>
                <a:ea typeface="Arial Black" pitchFamily="34" charset="-122"/>
                <a:cs typeface="Arial Black" pitchFamily="34" charset="-120"/>
              </a:rPr>
              <a:t>Un proyecto
</a:t>
            </a:r>
            <a:pPr indent="0" marL="0">
              <a:lnSpc>
                <a:spcPct val="110000"/>
              </a:lnSpc>
              <a:buNone/>
            </a:pPr>
            <a:r>
              <a:rPr lang="en-US" sz="3400" b="1" dirty="0">
                <a:solidFill>
                  <a:srgbClr val="2ECC40"/>
                </a:solidFill>
                <a:latin typeface="Arial Black" pitchFamily="34" charset="0"/>
                <a:ea typeface="Arial Black" pitchFamily="34" charset="-122"/>
                <a:cs typeface="Arial Black" pitchFamily="34" charset="-120"/>
              </a:rPr>
              <a:t>real</a:t>
            </a:r>
            <a:pPr indent="0" marL="0">
              <a:lnSpc>
                <a:spcPct val="110000"/>
              </a:lnSpc>
              <a:buNone/>
            </a:pPr>
            <a:r>
              <a:rPr lang="en-US" sz="3400" b="1" dirty="0">
                <a:solidFill>
                  <a:srgbClr val="F5F5F0"/>
                </a:solidFill>
                <a:latin typeface="Arial Black" pitchFamily="34" charset="0"/>
                <a:ea typeface="Arial Black" pitchFamily="34" charset="-122"/>
                <a:cs typeface="Arial Black" pitchFamily="34" charset="-120"/>
              </a:rPr>
              <a:t>, para</a:t>
            </a:r>
            <a:endParaRPr lang="en-US" sz="3400" dirty="0"/>
          </a:p>
          <a:p>
            <a:pPr indent="0" marL="0">
              <a:lnSpc>
                <a:spcPct val="110000"/>
              </a:lnSpc>
              <a:buNone/>
            </a:pPr>
            <a:r>
              <a:rPr lang="en-US" sz="3400" b="1" dirty="0">
                <a:solidFill>
                  <a:srgbClr val="F5F5F0"/>
                </a:solidFill>
                <a:latin typeface="Arial Black" pitchFamily="34" charset="0"/>
                <a:ea typeface="Arial Black" pitchFamily="34" charset="-122"/>
                <a:cs typeface="Arial Black" pitchFamily="34" charset="-120"/>
              </a:rPr>
              <a:t>problemas reales</a:t>
            </a:r>
            <a:endParaRPr lang="en-US" sz="3400" dirty="0"/>
          </a:p>
        </p:txBody>
      </p:sp>
      <p:sp>
        <p:nvSpPr>
          <p:cNvPr id="6" name="Shape 4"/>
          <p:cNvSpPr/>
          <p:nvPr/>
        </p:nvSpPr>
        <p:spPr>
          <a:xfrm>
            <a:off x="457200" y="2103120"/>
            <a:ext cx="411480" cy="411480"/>
          </a:xfrm>
          <a:prstGeom prst="roundRect">
            <a:avLst>
              <a:gd name="adj" fmla="val 15556"/>
            </a:avLst>
          </a:prstGeom>
          <a:solidFill>
            <a:srgbClr val="2ECC40">
              <a:alpha val="12000"/>
            </a:srgbClr>
          </a:solidFill>
          <a:ln w="12700">
            <a:solidFill>
              <a:srgbClr val="2ECC40"/>
            </a:solidFill>
            <a:prstDash val="solid"/>
          </a:ln>
        </p:spPr>
      </p:sp>
      <p:sp>
        <p:nvSpPr>
          <p:cNvPr id="7" name="Text 5"/>
          <p:cNvSpPr/>
          <p:nvPr/>
        </p:nvSpPr>
        <p:spPr>
          <a:xfrm>
            <a:off x="457200" y="2103120"/>
            <a:ext cx="411480" cy="41148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8" name="Text 6"/>
          <p:cNvSpPr/>
          <p:nvPr/>
        </p:nvSpPr>
        <p:spPr>
          <a:xfrm>
            <a:off x="960120" y="2121408"/>
            <a:ext cx="7680960" cy="457200"/>
          </a:xfrm>
          <a:prstGeom prst="rect">
            <a:avLst/>
          </a:prstGeom>
          <a:noFill/>
          <a:ln/>
        </p:spPr>
        <p:txBody>
          <a:bodyPr wrap="square" lIns="0" tIns="0" rIns="0" bIns="0" rtlCol="0" anchor="ctr"/>
          <a:lstStyle/>
          <a:p>
            <a:pPr indent="0" marL="0">
              <a:lnSpc>
                <a:spcPct val="130000"/>
              </a:lnSpc>
              <a:buNone/>
            </a:pPr>
            <a:r>
              <a:rPr lang="en-US" sz="1200" dirty="0">
                <a:solidFill>
                  <a:srgbClr val="888888"/>
                </a:solidFill>
                <a:latin typeface="Calibri" pitchFamily="34" charset="0"/>
                <a:ea typeface="Calibri" pitchFamily="34" charset="-122"/>
                <a:cs typeface="Calibri" pitchFamily="34" charset="-120"/>
              </a:rPr>
              <a:t>Identificamos un problema real en negocios de nuestra comunidad usando instrumentos de recoleccion de informacion</a:t>
            </a:r>
            <a:endParaRPr lang="en-US" sz="1200" dirty="0"/>
          </a:p>
        </p:txBody>
      </p:sp>
      <p:sp>
        <p:nvSpPr>
          <p:cNvPr id="9" name="Shape 7"/>
          <p:cNvSpPr/>
          <p:nvPr/>
        </p:nvSpPr>
        <p:spPr>
          <a:xfrm>
            <a:off x="457200" y="2852928"/>
            <a:ext cx="411480" cy="411480"/>
          </a:xfrm>
          <a:prstGeom prst="roundRect">
            <a:avLst>
              <a:gd name="adj" fmla="val 15556"/>
            </a:avLst>
          </a:prstGeom>
          <a:solidFill>
            <a:srgbClr val="2ECC40">
              <a:alpha val="12000"/>
            </a:srgbClr>
          </a:solidFill>
          <a:ln w="12700">
            <a:solidFill>
              <a:srgbClr val="2ECC40"/>
            </a:solidFill>
            <a:prstDash val="solid"/>
          </a:ln>
        </p:spPr>
      </p:sp>
      <p:sp>
        <p:nvSpPr>
          <p:cNvPr id="10" name="Text 8"/>
          <p:cNvSpPr/>
          <p:nvPr/>
        </p:nvSpPr>
        <p:spPr>
          <a:xfrm>
            <a:off x="457200" y="2852928"/>
            <a:ext cx="411480" cy="41148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1" name="Text 9"/>
          <p:cNvSpPr/>
          <p:nvPr/>
        </p:nvSpPr>
        <p:spPr>
          <a:xfrm>
            <a:off x="960120" y="2871216"/>
            <a:ext cx="7680960" cy="457200"/>
          </a:xfrm>
          <a:prstGeom prst="rect">
            <a:avLst/>
          </a:prstGeom>
          <a:noFill/>
          <a:ln/>
        </p:spPr>
        <p:txBody>
          <a:bodyPr wrap="square" lIns="0" tIns="0" rIns="0" bIns="0" rtlCol="0" anchor="ctr"/>
          <a:lstStyle/>
          <a:p>
            <a:pPr indent="0" marL="0">
              <a:lnSpc>
                <a:spcPct val="130000"/>
              </a:lnSpc>
              <a:buNone/>
            </a:pPr>
            <a:r>
              <a:rPr lang="en-US" sz="1200" dirty="0">
                <a:solidFill>
                  <a:srgbClr val="888888"/>
                </a:solidFill>
                <a:latin typeface="Calibri" pitchFamily="34" charset="0"/>
                <a:ea typeface="Calibri" pitchFamily="34" charset="-122"/>
                <a:cs typeface="Calibri" pitchFamily="34" charset="-120"/>
              </a:rPr>
              <a:t>Documentamos todo correctamente en un SRS claro, con requerimientos funcionales, no funcionales y casos de uso</a:t>
            </a:r>
            <a:endParaRPr lang="en-US" sz="1200" dirty="0"/>
          </a:p>
        </p:txBody>
      </p:sp>
      <p:sp>
        <p:nvSpPr>
          <p:cNvPr id="12" name="Shape 10"/>
          <p:cNvSpPr/>
          <p:nvPr/>
        </p:nvSpPr>
        <p:spPr>
          <a:xfrm>
            <a:off x="457200" y="3602736"/>
            <a:ext cx="411480" cy="411480"/>
          </a:xfrm>
          <a:prstGeom prst="roundRect">
            <a:avLst>
              <a:gd name="adj" fmla="val 15556"/>
            </a:avLst>
          </a:prstGeom>
          <a:solidFill>
            <a:srgbClr val="2ECC40">
              <a:alpha val="12000"/>
            </a:srgbClr>
          </a:solidFill>
          <a:ln w="12700">
            <a:solidFill>
              <a:srgbClr val="2ECC40"/>
            </a:solidFill>
            <a:prstDash val="solid"/>
          </a:ln>
        </p:spPr>
      </p:sp>
      <p:sp>
        <p:nvSpPr>
          <p:cNvPr id="13" name="Text 11"/>
          <p:cNvSpPr/>
          <p:nvPr/>
        </p:nvSpPr>
        <p:spPr>
          <a:xfrm>
            <a:off x="457200" y="3602736"/>
            <a:ext cx="411480" cy="41148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4" name="Text 12"/>
          <p:cNvSpPr/>
          <p:nvPr/>
        </p:nvSpPr>
        <p:spPr>
          <a:xfrm>
            <a:off x="960120" y="3621024"/>
            <a:ext cx="7680960" cy="457200"/>
          </a:xfrm>
          <a:prstGeom prst="rect">
            <a:avLst/>
          </a:prstGeom>
          <a:noFill/>
          <a:ln/>
        </p:spPr>
        <p:txBody>
          <a:bodyPr wrap="square" lIns="0" tIns="0" rIns="0" bIns="0" rtlCol="0" anchor="ctr"/>
          <a:lstStyle/>
          <a:p>
            <a:pPr indent="0" marL="0">
              <a:lnSpc>
                <a:spcPct val="130000"/>
              </a:lnSpc>
              <a:buNone/>
            </a:pPr>
            <a:r>
              <a:rPr lang="en-US" sz="1200" dirty="0">
                <a:solidFill>
                  <a:srgbClr val="888888"/>
                </a:solidFill>
                <a:latin typeface="Calibri" pitchFamily="34" charset="0"/>
                <a:ea typeface="Calibri" pitchFamily="34" charset="-122"/>
                <a:cs typeface="Calibri" pitchFamily="34" charset="-120"/>
              </a:rPr>
              <a:t>Disenamos un sistema en Laravel que responde exactamente a lo que el usuario necesita, sin sobrecargarlo</a:t>
            </a:r>
            <a:endParaRPr lang="en-US" sz="1200" dirty="0"/>
          </a:p>
        </p:txBody>
      </p:sp>
      <p:sp>
        <p:nvSpPr>
          <p:cNvPr id="15" name="Shape 13"/>
          <p:cNvSpPr/>
          <p:nvPr/>
        </p:nvSpPr>
        <p:spPr>
          <a:xfrm>
            <a:off x="457200" y="4352544"/>
            <a:ext cx="411480" cy="411480"/>
          </a:xfrm>
          <a:prstGeom prst="roundRect">
            <a:avLst>
              <a:gd name="adj" fmla="val 15556"/>
            </a:avLst>
          </a:prstGeom>
          <a:solidFill>
            <a:srgbClr val="2ECC40">
              <a:alpha val="12000"/>
            </a:srgbClr>
          </a:solidFill>
          <a:ln w="12700">
            <a:solidFill>
              <a:srgbClr val="2ECC40"/>
            </a:solidFill>
            <a:prstDash val="solid"/>
          </a:ln>
        </p:spPr>
      </p:sp>
      <p:sp>
        <p:nvSpPr>
          <p:cNvPr id="16" name="Text 14"/>
          <p:cNvSpPr/>
          <p:nvPr/>
        </p:nvSpPr>
        <p:spPr>
          <a:xfrm>
            <a:off x="457200" y="4352544"/>
            <a:ext cx="411480" cy="41148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7" name="Text 15"/>
          <p:cNvSpPr/>
          <p:nvPr/>
        </p:nvSpPr>
        <p:spPr>
          <a:xfrm>
            <a:off x="960120" y="4370832"/>
            <a:ext cx="7680960" cy="457200"/>
          </a:xfrm>
          <a:prstGeom prst="rect">
            <a:avLst/>
          </a:prstGeom>
          <a:noFill/>
          <a:ln/>
        </p:spPr>
        <p:txBody>
          <a:bodyPr wrap="square" lIns="0" tIns="0" rIns="0" bIns="0" rtlCol="0" anchor="ctr"/>
          <a:lstStyle/>
          <a:p>
            <a:pPr indent="0" marL="0">
              <a:lnSpc>
                <a:spcPct val="130000"/>
              </a:lnSpc>
              <a:buNone/>
            </a:pPr>
            <a:r>
              <a:rPr lang="en-US" sz="1200" dirty="0">
                <a:solidFill>
                  <a:srgbClr val="888888"/>
                </a:solidFill>
                <a:latin typeface="Calibri" pitchFamily="34" charset="0"/>
                <a:ea typeface="Calibri" pitchFamily="34" charset="-122"/>
                <a:cs typeface="Calibri" pitchFamily="34" charset="-120"/>
              </a:rPr>
              <a:t>El resultado es un software practico, sencillo y de impacto real para la comunidad colombiana</a:t>
            </a:r>
            <a:endParaRPr lang="en-US" sz="1200" dirty="0"/>
          </a:p>
        </p:txBody>
      </p:sp>
      <p:sp>
        <p:nvSpPr>
          <p:cNvPr id="18" name="Text 16"/>
          <p:cNvSpPr/>
          <p:nvPr/>
        </p:nvSpPr>
        <p:spPr>
          <a:xfrm>
            <a:off x="5943600" y="182880"/>
            <a:ext cx="3017520" cy="201168"/>
          </a:xfrm>
          <a:prstGeom prst="rect">
            <a:avLst/>
          </a:prstGeom>
          <a:noFill/>
          <a:ln/>
        </p:spPr>
        <p:txBody>
          <a:bodyPr wrap="square" rtlCol="0" anchor="ctr"/>
          <a:lstStyle/>
          <a:p>
            <a:pPr algn="r" indent="0" marL="0">
              <a:buNone/>
            </a:pPr>
            <a:r>
              <a:rPr lang="en-US" sz="800" b="1" spc="200" kern="0" dirty="0">
                <a:solidFill>
                  <a:srgbClr val="2ECC40"/>
                </a:solidFill>
                <a:latin typeface="Arial" pitchFamily="34" charset="0"/>
                <a:ea typeface="Arial" pitchFamily="34" charset="-122"/>
                <a:cs typeface="Arial" pitchFamily="34" charset="-120"/>
              </a:rPr>
              <a:t>CONCLUSIÓN</a:t>
            </a:r>
            <a:endParaRPr lang="en-US" sz="800" dirty="0"/>
          </a:p>
        </p:txBody>
      </p:sp>
      <p:sp>
        <p:nvSpPr>
          <p:cNvPr id="19" name="Text 17"/>
          <p:cNvSpPr/>
          <p:nvPr/>
        </p:nvSpPr>
        <p:spPr>
          <a:xfrm>
            <a:off x="7498080" y="4800600"/>
            <a:ext cx="1463040" cy="18288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D0D"/>
          </a:solidFill>
          <a:ln w="12700">
            <a:solidFill>
              <a:srgbClr val="0D0D0D"/>
            </a:solidFill>
            <a:prstDash val="solid"/>
          </a:ln>
        </p:spPr>
      </p:sp>
      <p:sp>
        <p:nvSpPr>
          <p:cNvPr id="3" name="Shape 1"/>
          <p:cNvSpPr/>
          <p:nvPr/>
        </p:nvSpPr>
        <p:spPr>
          <a:xfrm>
            <a:off x="0" y="0"/>
            <a:ext cx="0" cy="5143500"/>
          </a:xfrm>
          <a:prstGeom prst="line">
            <a:avLst/>
          </a:prstGeom>
          <a:noFill/>
          <a:ln w="3810">
            <a:solidFill>
              <a:srgbClr val="2ECC40">
                <a:alpha val="4000"/>
              </a:srgbClr>
            </a:solidFill>
            <a:prstDash val="solid"/>
          </a:ln>
        </p:spPr>
      </p:sp>
      <p:sp>
        <p:nvSpPr>
          <p:cNvPr id="4" name="Shape 2"/>
          <p:cNvSpPr/>
          <p:nvPr/>
        </p:nvSpPr>
        <p:spPr>
          <a:xfrm>
            <a:off x="548640" y="0"/>
            <a:ext cx="0" cy="5143500"/>
          </a:xfrm>
          <a:prstGeom prst="line">
            <a:avLst/>
          </a:prstGeom>
          <a:noFill/>
          <a:ln w="3810">
            <a:solidFill>
              <a:srgbClr val="2ECC40">
                <a:alpha val="4000"/>
              </a:srgbClr>
            </a:solidFill>
            <a:prstDash val="solid"/>
          </a:ln>
        </p:spPr>
      </p:sp>
      <p:sp>
        <p:nvSpPr>
          <p:cNvPr id="5" name="Shape 3"/>
          <p:cNvSpPr/>
          <p:nvPr/>
        </p:nvSpPr>
        <p:spPr>
          <a:xfrm>
            <a:off x="1097280" y="0"/>
            <a:ext cx="0" cy="5143500"/>
          </a:xfrm>
          <a:prstGeom prst="line">
            <a:avLst/>
          </a:prstGeom>
          <a:noFill/>
          <a:ln w="3810">
            <a:solidFill>
              <a:srgbClr val="2ECC40">
                <a:alpha val="4000"/>
              </a:srgbClr>
            </a:solidFill>
            <a:prstDash val="solid"/>
          </a:ln>
        </p:spPr>
      </p:sp>
      <p:sp>
        <p:nvSpPr>
          <p:cNvPr id="6" name="Shape 4"/>
          <p:cNvSpPr/>
          <p:nvPr/>
        </p:nvSpPr>
        <p:spPr>
          <a:xfrm>
            <a:off x="1645920" y="0"/>
            <a:ext cx="0" cy="5143500"/>
          </a:xfrm>
          <a:prstGeom prst="line">
            <a:avLst/>
          </a:prstGeom>
          <a:noFill/>
          <a:ln w="3810">
            <a:solidFill>
              <a:srgbClr val="2ECC40">
                <a:alpha val="4000"/>
              </a:srgbClr>
            </a:solidFill>
            <a:prstDash val="solid"/>
          </a:ln>
        </p:spPr>
      </p:sp>
      <p:sp>
        <p:nvSpPr>
          <p:cNvPr id="7" name="Shape 5"/>
          <p:cNvSpPr/>
          <p:nvPr/>
        </p:nvSpPr>
        <p:spPr>
          <a:xfrm>
            <a:off x="2194560" y="0"/>
            <a:ext cx="0" cy="5143500"/>
          </a:xfrm>
          <a:prstGeom prst="line">
            <a:avLst/>
          </a:prstGeom>
          <a:noFill/>
          <a:ln w="3810">
            <a:solidFill>
              <a:srgbClr val="2ECC40">
                <a:alpha val="4000"/>
              </a:srgbClr>
            </a:solidFill>
            <a:prstDash val="solid"/>
          </a:ln>
        </p:spPr>
      </p:sp>
      <p:sp>
        <p:nvSpPr>
          <p:cNvPr id="8" name="Shape 6"/>
          <p:cNvSpPr/>
          <p:nvPr/>
        </p:nvSpPr>
        <p:spPr>
          <a:xfrm>
            <a:off x="2743200" y="0"/>
            <a:ext cx="0" cy="5143500"/>
          </a:xfrm>
          <a:prstGeom prst="line">
            <a:avLst/>
          </a:prstGeom>
          <a:noFill/>
          <a:ln w="3810">
            <a:solidFill>
              <a:srgbClr val="2ECC40">
                <a:alpha val="4000"/>
              </a:srgbClr>
            </a:solidFill>
            <a:prstDash val="solid"/>
          </a:ln>
        </p:spPr>
      </p:sp>
      <p:sp>
        <p:nvSpPr>
          <p:cNvPr id="9" name="Shape 7"/>
          <p:cNvSpPr/>
          <p:nvPr/>
        </p:nvSpPr>
        <p:spPr>
          <a:xfrm>
            <a:off x="3291840" y="0"/>
            <a:ext cx="0" cy="5143500"/>
          </a:xfrm>
          <a:prstGeom prst="line">
            <a:avLst/>
          </a:prstGeom>
          <a:noFill/>
          <a:ln w="3810">
            <a:solidFill>
              <a:srgbClr val="2ECC40">
                <a:alpha val="4000"/>
              </a:srgbClr>
            </a:solidFill>
            <a:prstDash val="solid"/>
          </a:ln>
        </p:spPr>
      </p:sp>
      <p:sp>
        <p:nvSpPr>
          <p:cNvPr id="10" name="Shape 8"/>
          <p:cNvSpPr/>
          <p:nvPr/>
        </p:nvSpPr>
        <p:spPr>
          <a:xfrm>
            <a:off x="3840480" y="0"/>
            <a:ext cx="0" cy="5143500"/>
          </a:xfrm>
          <a:prstGeom prst="line">
            <a:avLst/>
          </a:prstGeom>
          <a:noFill/>
          <a:ln w="3810">
            <a:solidFill>
              <a:srgbClr val="2ECC40">
                <a:alpha val="4000"/>
              </a:srgbClr>
            </a:solidFill>
            <a:prstDash val="solid"/>
          </a:ln>
        </p:spPr>
      </p:sp>
      <p:sp>
        <p:nvSpPr>
          <p:cNvPr id="11" name="Shape 9"/>
          <p:cNvSpPr/>
          <p:nvPr/>
        </p:nvSpPr>
        <p:spPr>
          <a:xfrm>
            <a:off x="4389120" y="0"/>
            <a:ext cx="0" cy="5143500"/>
          </a:xfrm>
          <a:prstGeom prst="line">
            <a:avLst/>
          </a:prstGeom>
          <a:noFill/>
          <a:ln w="3810">
            <a:solidFill>
              <a:srgbClr val="2ECC40">
                <a:alpha val="4000"/>
              </a:srgbClr>
            </a:solidFill>
            <a:prstDash val="solid"/>
          </a:ln>
        </p:spPr>
      </p:sp>
      <p:sp>
        <p:nvSpPr>
          <p:cNvPr id="12" name="Shape 10"/>
          <p:cNvSpPr/>
          <p:nvPr/>
        </p:nvSpPr>
        <p:spPr>
          <a:xfrm>
            <a:off x="4937760" y="0"/>
            <a:ext cx="0" cy="5143500"/>
          </a:xfrm>
          <a:prstGeom prst="line">
            <a:avLst/>
          </a:prstGeom>
          <a:noFill/>
          <a:ln w="3810">
            <a:solidFill>
              <a:srgbClr val="2ECC40">
                <a:alpha val="4000"/>
              </a:srgbClr>
            </a:solidFill>
            <a:prstDash val="solid"/>
          </a:ln>
        </p:spPr>
      </p:sp>
      <p:sp>
        <p:nvSpPr>
          <p:cNvPr id="13" name="Shape 11"/>
          <p:cNvSpPr/>
          <p:nvPr/>
        </p:nvSpPr>
        <p:spPr>
          <a:xfrm>
            <a:off x="5486400" y="0"/>
            <a:ext cx="0" cy="5143500"/>
          </a:xfrm>
          <a:prstGeom prst="line">
            <a:avLst/>
          </a:prstGeom>
          <a:noFill/>
          <a:ln w="3810">
            <a:solidFill>
              <a:srgbClr val="2ECC40">
                <a:alpha val="4000"/>
              </a:srgbClr>
            </a:solidFill>
            <a:prstDash val="solid"/>
          </a:ln>
        </p:spPr>
      </p:sp>
      <p:sp>
        <p:nvSpPr>
          <p:cNvPr id="14" name="Shape 12"/>
          <p:cNvSpPr/>
          <p:nvPr/>
        </p:nvSpPr>
        <p:spPr>
          <a:xfrm>
            <a:off x="6035040" y="0"/>
            <a:ext cx="0" cy="5143500"/>
          </a:xfrm>
          <a:prstGeom prst="line">
            <a:avLst/>
          </a:prstGeom>
          <a:noFill/>
          <a:ln w="3810">
            <a:solidFill>
              <a:srgbClr val="2ECC40">
                <a:alpha val="4000"/>
              </a:srgbClr>
            </a:solidFill>
            <a:prstDash val="solid"/>
          </a:ln>
        </p:spPr>
      </p:sp>
      <p:sp>
        <p:nvSpPr>
          <p:cNvPr id="15" name="Shape 13"/>
          <p:cNvSpPr/>
          <p:nvPr/>
        </p:nvSpPr>
        <p:spPr>
          <a:xfrm>
            <a:off x="6583680" y="0"/>
            <a:ext cx="0" cy="5143500"/>
          </a:xfrm>
          <a:prstGeom prst="line">
            <a:avLst/>
          </a:prstGeom>
          <a:noFill/>
          <a:ln w="3810">
            <a:solidFill>
              <a:srgbClr val="2ECC40">
                <a:alpha val="4000"/>
              </a:srgbClr>
            </a:solidFill>
            <a:prstDash val="solid"/>
          </a:ln>
        </p:spPr>
      </p:sp>
      <p:sp>
        <p:nvSpPr>
          <p:cNvPr id="16" name="Shape 14"/>
          <p:cNvSpPr/>
          <p:nvPr/>
        </p:nvSpPr>
        <p:spPr>
          <a:xfrm>
            <a:off x="7132320" y="0"/>
            <a:ext cx="0" cy="5143500"/>
          </a:xfrm>
          <a:prstGeom prst="line">
            <a:avLst/>
          </a:prstGeom>
          <a:noFill/>
          <a:ln w="3810">
            <a:solidFill>
              <a:srgbClr val="2ECC40">
                <a:alpha val="4000"/>
              </a:srgbClr>
            </a:solidFill>
            <a:prstDash val="solid"/>
          </a:ln>
        </p:spPr>
      </p:sp>
      <p:sp>
        <p:nvSpPr>
          <p:cNvPr id="17" name="Shape 15"/>
          <p:cNvSpPr/>
          <p:nvPr/>
        </p:nvSpPr>
        <p:spPr>
          <a:xfrm>
            <a:off x="7680960" y="0"/>
            <a:ext cx="0" cy="5143500"/>
          </a:xfrm>
          <a:prstGeom prst="line">
            <a:avLst/>
          </a:prstGeom>
          <a:noFill/>
          <a:ln w="3810">
            <a:solidFill>
              <a:srgbClr val="2ECC40">
                <a:alpha val="4000"/>
              </a:srgbClr>
            </a:solidFill>
            <a:prstDash val="solid"/>
          </a:ln>
        </p:spPr>
      </p:sp>
      <p:sp>
        <p:nvSpPr>
          <p:cNvPr id="18" name="Shape 16"/>
          <p:cNvSpPr/>
          <p:nvPr/>
        </p:nvSpPr>
        <p:spPr>
          <a:xfrm>
            <a:off x="8229600" y="0"/>
            <a:ext cx="0" cy="5143500"/>
          </a:xfrm>
          <a:prstGeom prst="line">
            <a:avLst/>
          </a:prstGeom>
          <a:noFill/>
          <a:ln w="3810">
            <a:solidFill>
              <a:srgbClr val="2ECC40">
                <a:alpha val="4000"/>
              </a:srgbClr>
            </a:solidFill>
            <a:prstDash val="solid"/>
          </a:ln>
        </p:spPr>
      </p:sp>
      <p:sp>
        <p:nvSpPr>
          <p:cNvPr id="19" name="Shape 17"/>
          <p:cNvSpPr/>
          <p:nvPr/>
        </p:nvSpPr>
        <p:spPr>
          <a:xfrm>
            <a:off x="8778240" y="0"/>
            <a:ext cx="0" cy="5143500"/>
          </a:xfrm>
          <a:prstGeom prst="line">
            <a:avLst/>
          </a:prstGeom>
          <a:noFill/>
          <a:ln w="3810">
            <a:solidFill>
              <a:srgbClr val="2ECC40">
                <a:alpha val="4000"/>
              </a:srgbClr>
            </a:solidFill>
            <a:prstDash val="solid"/>
          </a:ln>
        </p:spPr>
      </p:sp>
      <p:sp>
        <p:nvSpPr>
          <p:cNvPr id="20" name="Shape 18"/>
          <p:cNvSpPr/>
          <p:nvPr/>
        </p:nvSpPr>
        <p:spPr>
          <a:xfrm>
            <a:off x="0" y="0"/>
            <a:ext cx="9144000" cy="0"/>
          </a:xfrm>
          <a:prstGeom prst="line">
            <a:avLst/>
          </a:prstGeom>
          <a:noFill/>
          <a:ln w="3810">
            <a:solidFill>
              <a:srgbClr val="2ECC40">
                <a:alpha val="4000"/>
              </a:srgbClr>
            </a:solidFill>
            <a:prstDash val="solid"/>
          </a:ln>
        </p:spPr>
      </p:sp>
      <p:sp>
        <p:nvSpPr>
          <p:cNvPr id="21" name="Shape 19"/>
          <p:cNvSpPr/>
          <p:nvPr/>
        </p:nvSpPr>
        <p:spPr>
          <a:xfrm>
            <a:off x="0" y="548640"/>
            <a:ext cx="9144000" cy="0"/>
          </a:xfrm>
          <a:prstGeom prst="line">
            <a:avLst/>
          </a:prstGeom>
          <a:noFill/>
          <a:ln w="3810">
            <a:solidFill>
              <a:srgbClr val="2ECC40">
                <a:alpha val="4000"/>
              </a:srgbClr>
            </a:solidFill>
            <a:prstDash val="solid"/>
          </a:ln>
        </p:spPr>
      </p:sp>
      <p:sp>
        <p:nvSpPr>
          <p:cNvPr id="22" name="Shape 20"/>
          <p:cNvSpPr/>
          <p:nvPr/>
        </p:nvSpPr>
        <p:spPr>
          <a:xfrm>
            <a:off x="0" y="1097280"/>
            <a:ext cx="9144000" cy="0"/>
          </a:xfrm>
          <a:prstGeom prst="line">
            <a:avLst/>
          </a:prstGeom>
          <a:noFill/>
          <a:ln w="3810">
            <a:solidFill>
              <a:srgbClr val="2ECC40">
                <a:alpha val="4000"/>
              </a:srgbClr>
            </a:solidFill>
            <a:prstDash val="solid"/>
          </a:ln>
        </p:spPr>
      </p:sp>
      <p:sp>
        <p:nvSpPr>
          <p:cNvPr id="23" name="Shape 21"/>
          <p:cNvSpPr/>
          <p:nvPr/>
        </p:nvSpPr>
        <p:spPr>
          <a:xfrm>
            <a:off x="0" y="1645920"/>
            <a:ext cx="9144000" cy="0"/>
          </a:xfrm>
          <a:prstGeom prst="line">
            <a:avLst/>
          </a:prstGeom>
          <a:noFill/>
          <a:ln w="3810">
            <a:solidFill>
              <a:srgbClr val="2ECC40">
                <a:alpha val="4000"/>
              </a:srgbClr>
            </a:solidFill>
            <a:prstDash val="solid"/>
          </a:ln>
        </p:spPr>
      </p:sp>
      <p:sp>
        <p:nvSpPr>
          <p:cNvPr id="24" name="Shape 22"/>
          <p:cNvSpPr/>
          <p:nvPr/>
        </p:nvSpPr>
        <p:spPr>
          <a:xfrm>
            <a:off x="0" y="2194560"/>
            <a:ext cx="9144000" cy="0"/>
          </a:xfrm>
          <a:prstGeom prst="line">
            <a:avLst/>
          </a:prstGeom>
          <a:noFill/>
          <a:ln w="3810">
            <a:solidFill>
              <a:srgbClr val="2ECC40">
                <a:alpha val="4000"/>
              </a:srgbClr>
            </a:solidFill>
            <a:prstDash val="solid"/>
          </a:ln>
        </p:spPr>
      </p:sp>
      <p:sp>
        <p:nvSpPr>
          <p:cNvPr id="25" name="Shape 23"/>
          <p:cNvSpPr/>
          <p:nvPr/>
        </p:nvSpPr>
        <p:spPr>
          <a:xfrm>
            <a:off x="0" y="2743200"/>
            <a:ext cx="9144000" cy="0"/>
          </a:xfrm>
          <a:prstGeom prst="line">
            <a:avLst/>
          </a:prstGeom>
          <a:noFill/>
          <a:ln w="3810">
            <a:solidFill>
              <a:srgbClr val="2ECC40">
                <a:alpha val="4000"/>
              </a:srgbClr>
            </a:solidFill>
            <a:prstDash val="solid"/>
          </a:ln>
        </p:spPr>
      </p:sp>
      <p:sp>
        <p:nvSpPr>
          <p:cNvPr id="26" name="Shape 24"/>
          <p:cNvSpPr/>
          <p:nvPr/>
        </p:nvSpPr>
        <p:spPr>
          <a:xfrm>
            <a:off x="0" y="3291840"/>
            <a:ext cx="9144000" cy="0"/>
          </a:xfrm>
          <a:prstGeom prst="line">
            <a:avLst/>
          </a:prstGeom>
          <a:noFill/>
          <a:ln w="3810">
            <a:solidFill>
              <a:srgbClr val="2ECC40">
                <a:alpha val="4000"/>
              </a:srgbClr>
            </a:solidFill>
            <a:prstDash val="solid"/>
          </a:ln>
        </p:spPr>
      </p:sp>
      <p:sp>
        <p:nvSpPr>
          <p:cNvPr id="27" name="Shape 25"/>
          <p:cNvSpPr/>
          <p:nvPr/>
        </p:nvSpPr>
        <p:spPr>
          <a:xfrm>
            <a:off x="0" y="3840480"/>
            <a:ext cx="9144000" cy="0"/>
          </a:xfrm>
          <a:prstGeom prst="line">
            <a:avLst/>
          </a:prstGeom>
          <a:noFill/>
          <a:ln w="3810">
            <a:solidFill>
              <a:srgbClr val="2ECC40">
                <a:alpha val="4000"/>
              </a:srgbClr>
            </a:solidFill>
            <a:prstDash val="solid"/>
          </a:ln>
        </p:spPr>
      </p:sp>
      <p:sp>
        <p:nvSpPr>
          <p:cNvPr id="28" name="Shape 26"/>
          <p:cNvSpPr/>
          <p:nvPr/>
        </p:nvSpPr>
        <p:spPr>
          <a:xfrm>
            <a:off x="0" y="4389120"/>
            <a:ext cx="9144000" cy="0"/>
          </a:xfrm>
          <a:prstGeom prst="line">
            <a:avLst/>
          </a:prstGeom>
          <a:noFill/>
          <a:ln w="3810">
            <a:solidFill>
              <a:srgbClr val="2ECC40">
                <a:alpha val="4000"/>
              </a:srgbClr>
            </a:solidFill>
            <a:prstDash val="solid"/>
          </a:ln>
        </p:spPr>
      </p:sp>
      <p:sp>
        <p:nvSpPr>
          <p:cNvPr id="29" name="Shape 27"/>
          <p:cNvSpPr/>
          <p:nvPr/>
        </p:nvSpPr>
        <p:spPr>
          <a:xfrm>
            <a:off x="0" y="4937760"/>
            <a:ext cx="9144000" cy="0"/>
          </a:xfrm>
          <a:prstGeom prst="line">
            <a:avLst/>
          </a:prstGeom>
          <a:noFill/>
          <a:ln w="3810">
            <a:solidFill>
              <a:srgbClr val="2ECC40">
                <a:alpha val="4000"/>
              </a:srgbClr>
            </a:solidFill>
            <a:prstDash val="solid"/>
          </a:ln>
        </p:spPr>
      </p:sp>
      <p:sp>
        <p:nvSpPr>
          <p:cNvPr id="30" name="Shape 28"/>
          <p:cNvSpPr/>
          <p:nvPr/>
        </p:nvSpPr>
        <p:spPr>
          <a:xfrm>
            <a:off x="1371600" y="-914400"/>
            <a:ext cx="6400800" cy="6858000"/>
          </a:xfrm>
          <a:prstGeom prst="ellipse">
            <a:avLst/>
          </a:prstGeom>
          <a:solidFill>
            <a:srgbClr val="2ECC40">
              <a:alpha val="12000"/>
            </a:srgbClr>
          </a:solidFill>
          <a:ln w="12700">
            <a:solidFill>
              <a:srgbClr val="2ECC40"/>
            </a:solidFill>
            <a:prstDash val="solid"/>
          </a:ln>
        </p:spPr>
      </p:sp>
      <p:sp>
        <p:nvSpPr>
          <p:cNvPr id="31" name="Text 29"/>
          <p:cNvSpPr/>
          <p:nvPr/>
        </p:nvSpPr>
        <p:spPr>
          <a:xfrm>
            <a:off x="914400" y="457200"/>
            <a:ext cx="7315200" cy="256032"/>
          </a:xfrm>
          <a:prstGeom prst="rect">
            <a:avLst/>
          </a:prstGeom>
          <a:noFill/>
          <a:ln/>
        </p:spPr>
        <p:txBody>
          <a:bodyPr wrap="square" rtlCol="0" anchor="ctr"/>
          <a:lstStyle/>
          <a:p>
            <a:pPr algn="ctr" indent="0" marL="0">
              <a:buNone/>
            </a:pPr>
            <a:r>
              <a:rPr lang="en-US" sz="900" b="1" spc="300" kern="0" dirty="0">
                <a:solidFill>
                  <a:srgbClr val="2ECC40"/>
                </a:solidFill>
                <a:latin typeface="Arial" pitchFamily="34" charset="0"/>
                <a:ea typeface="Arial" pitchFamily="34" charset="-122"/>
                <a:cs typeface="Arial" pitchFamily="34" charset="-120"/>
              </a:rPr>
              <a:t>💡  REFLEXIÓN FINAL</a:t>
            </a:r>
            <a:endParaRPr lang="en-US" sz="900" dirty="0"/>
          </a:p>
        </p:txBody>
      </p:sp>
      <p:sp>
        <p:nvSpPr>
          <p:cNvPr id="32" name="Text 30"/>
          <p:cNvSpPr/>
          <p:nvPr/>
        </p:nvSpPr>
        <p:spPr>
          <a:xfrm>
            <a:off x="731520" y="822960"/>
            <a:ext cx="7680960" cy="2103120"/>
          </a:xfrm>
          <a:prstGeom prst="rect">
            <a:avLst/>
          </a:prstGeom>
          <a:noFill/>
          <a:ln/>
        </p:spPr>
        <p:txBody>
          <a:bodyPr wrap="square" lIns="0" tIns="0" rIns="0" bIns="0" rtlCol="0" anchor="ctr"/>
          <a:lstStyle/>
          <a:p>
            <a:pPr algn="ctr" indent="0" marL="0">
              <a:lnSpc>
                <a:spcPct val="115000"/>
              </a:lnSpc>
              <a:buNone/>
            </a:pPr>
            <a:r>
              <a:rPr lang="en-US" sz="3600" b="1" dirty="0">
                <a:solidFill>
                  <a:srgbClr val="F5F5F0"/>
                </a:solidFill>
                <a:latin typeface="Arial Black" pitchFamily="34" charset="0"/>
                <a:ea typeface="Arial Black" pitchFamily="34" charset="-122"/>
                <a:cs typeface="Arial Black" pitchFamily="34" charset="-120"/>
              </a:rPr>
              <a:t>"La tecnología no es solo
para las grandes empresas.
</a:t>
            </a:r>
            <a:pPr algn="ctr" indent="0" marL="0">
              <a:lnSpc>
                <a:spcPct val="115000"/>
              </a:lnSpc>
              <a:buNone/>
            </a:pPr>
            <a:r>
              <a:rPr lang="en-US" sz="3600" b="1" dirty="0">
                <a:solidFill>
                  <a:srgbClr val="2ECC40"/>
                </a:solidFill>
                <a:latin typeface="Arial Black" pitchFamily="34" charset="0"/>
                <a:ea typeface="Arial Black" pitchFamily="34" charset="-122"/>
                <a:cs typeface="Arial Black" pitchFamily="34" charset="-120"/>
              </a:rPr>
              <a:t>También es para el barrio."</a:t>
            </a:r>
            <a:endParaRPr lang="en-US" sz="3600" dirty="0"/>
          </a:p>
        </p:txBody>
      </p:sp>
      <p:sp>
        <p:nvSpPr>
          <p:cNvPr id="33" name="Text 31"/>
          <p:cNvSpPr/>
          <p:nvPr/>
        </p:nvSpPr>
        <p:spPr>
          <a:xfrm>
            <a:off x="1371600" y="3017520"/>
            <a:ext cx="6400800" cy="731520"/>
          </a:xfrm>
          <a:prstGeom prst="rect">
            <a:avLst/>
          </a:prstGeom>
          <a:noFill/>
          <a:ln/>
        </p:spPr>
        <p:txBody>
          <a:bodyPr wrap="square" lIns="0" tIns="0" rIns="0" bIns="0" rtlCol="0" anchor="ctr"/>
          <a:lstStyle/>
          <a:p>
            <a:pPr algn="ctr" indent="0" marL="0">
              <a:lnSpc>
                <a:spcPct val="150000"/>
              </a:lnSpc>
              <a:buNone/>
            </a:pPr>
            <a:r>
              <a:rPr lang="en-US" sz="1300" dirty="0">
                <a:solidFill>
                  <a:srgbClr val="888888"/>
                </a:solidFill>
                <a:latin typeface="Calibri" pitchFamily="34" charset="0"/>
                <a:ea typeface="Calibri" pitchFamily="34" charset="-122"/>
                <a:cs typeface="Calibri" pitchFamily="34" charset="-120"/>
              </a:rPr>
              <a:t>Cuando digitalizamos un pequeno negocio, no solo le ahorramos tiempo a un tendero. Le damos poder, informacion y la capacidad de competir.</a:t>
            </a:r>
            <a:endParaRPr lang="en-US" sz="1300" dirty="0"/>
          </a:p>
        </p:txBody>
      </p:sp>
      <p:sp>
        <p:nvSpPr>
          <p:cNvPr id="34" name="Shape 32"/>
          <p:cNvSpPr/>
          <p:nvPr/>
        </p:nvSpPr>
        <p:spPr>
          <a:xfrm>
            <a:off x="2103120" y="3931920"/>
            <a:ext cx="2011680" cy="411480"/>
          </a:xfrm>
          <a:prstGeom prst="roundRect">
            <a:avLst>
              <a:gd name="adj" fmla="val 48889"/>
            </a:avLst>
          </a:prstGeom>
          <a:solidFill>
            <a:srgbClr val="2ECC40"/>
          </a:solidFill>
          <a:ln w="12700">
            <a:solidFill>
              <a:srgbClr val="2ECC40"/>
            </a:solidFill>
            <a:prstDash val="solid"/>
          </a:ln>
        </p:spPr>
      </p:sp>
      <p:sp>
        <p:nvSpPr>
          <p:cNvPr id="35" name="Text 33"/>
          <p:cNvSpPr/>
          <p:nvPr/>
        </p:nvSpPr>
        <p:spPr>
          <a:xfrm>
            <a:off x="2103120" y="3931920"/>
            <a:ext cx="2011680" cy="411480"/>
          </a:xfrm>
          <a:prstGeom prst="rect">
            <a:avLst/>
          </a:prstGeom>
          <a:noFill/>
          <a:ln/>
        </p:spPr>
        <p:txBody>
          <a:bodyPr wrap="square" rtlCol="0" anchor="ctr"/>
          <a:lstStyle/>
          <a:p>
            <a:pPr algn="ctr" indent="0" marL="0">
              <a:buNone/>
            </a:pPr>
            <a:r>
              <a:rPr lang="en-US" sz="1200" b="1" dirty="0">
                <a:solidFill>
                  <a:srgbClr val="0D0D0D"/>
                </a:solidFill>
                <a:latin typeface="Arial" pitchFamily="34" charset="0"/>
                <a:ea typeface="Arial" pitchFamily="34" charset="-122"/>
                <a:cs typeface="Arial" pitchFamily="34" charset="-120"/>
              </a:rPr>
              <a:t>↑ Ver desde el inicio</a:t>
            </a:r>
            <a:endParaRPr lang="en-US" sz="1200" dirty="0"/>
          </a:p>
        </p:txBody>
      </p:sp>
      <p:sp>
        <p:nvSpPr>
          <p:cNvPr id="36" name="Shape 34"/>
          <p:cNvSpPr/>
          <p:nvPr/>
        </p:nvSpPr>
        <p:spPr>
          <a:xfrm>
            <a:off x="5120640" y="3931920"/>
            <a:ext cx="1828800" cy="411480"/>
          </a:xfrm>
          <a:prstGeom prst="roundRect">
            <a:avLst>
              <a:gd name="adj" fmla="val 48889"/>
            </a:avLst>
          </a:prstGeom>
          <a:solidFill>
            <a:srgbClr val="0D0D0D">
              <a:alpha val="6000"/>
            </a:srgbClr>
          </a:solidFill>
          <a:ln w="12700">
            <a:solidFill>
              <a:srgbClr val="333333"/>
            </a:solidFill>
            <a:prstDash val="solid"/>
          </a:ln>
        </p:spPr>
      </p:sp>
      <p:sp>
        <p:nvSpPr>
          <p:cNvPr id="37" name="Text 35"/>
          <p:cNvSpPr/>
          <p:nvPr/>
        </p:nvSpPr>
        <p:spPr>
          <a:xfrm>
            <a:off x="5120640" y="3931920"/>
            <a:ext cx="1828800" cy="411480"/>
          </a:xfrm>
          <a:prstGeom prst="rect">
            <a:avLst/>
          </a:prstGeom>
          <a:noFill/>
          <a:ln/>
        </p:spPr>
        <p:txBody>
          <a:bodyPr wrap="square" rtlCol="0" anchor="ctr"/>
          <a:lstStyle/>
          <a:p>
            <a:pPr algn="ctr" indent="0" marL="0">
              <a:buNone/>
            </a:pPr>
            <a:r>
              <a:rPr lang="en-US" sz="1200" dirty="0">
                <a:solidFill>
                  <a:srgbClr val="F5F5F0"/>
                </a:solidFill>
                <a:latin typeface="Arial" pitchFamily="34" charset="0"/>
                <a:ea typeface="Arial" pitchFamily="34" charset="-122"/>
                <a:cs typeface="Arial" pitchFamily="34" charset="-120"/>
              </a:rPr>
              <a:t>📄 Descargar SRS</a:t>
            </a:r>
            <a:endParaRPr lang="en-US" sz="1200" dirty="0"/>
          </a:p>
        </p:txBody>
      </p:sp>
      <p:sp>
        <p:nvSpPr>
          <p:cNvPr id="38" name="Text 36"/>
          <p:cNvSpPr/>
          <p:nvPr/>
        </p:nvSpPr>
        <p:spPr>
          <a:xfrm>
            <a:off x="5943600" y="182880"/>
            <a:ext cx="3017520" cy="201168"/>
          </a:xfrm>
          <a:prstGeom prst="rect">
            <a:avLst/>
          </a:prstGeom>
          <a:noFill/>
          <a:ln/>
        </p:spPr>
        <p:txBody>
          <a:bodyPr wrap="square" rtlCol="0" anchor="ctr"/>
          <a:lstStyle/>
          <a:p>
            <a:pPr algn="r" indent="0" marL="0">
              <a:buNone/>
            </a:pPr>
            <a:r>
              <a:rPr lang="en-US" sz="800" b="1" spc="200" kern="0" dirty="0">
                <a:solidFill>
                  <a:srgbClr val="2ECC40"/>
                </a:solidFill>
                <a:latin typeface="Arial" pitchFamily="34" charset="0"/>
                <a:ea typeface="Arial" pitchFamily="34" charset="-122"/>
                <a:cs typeface="Arial" pitchFamily="34" charset="-120"/>
              </a:rPr>
              <a:t>¡GRACIAS!</a:t>
            </a:r>
            <a:endParaRPr lang="en-US" sz="800" dirty="0"/>
          </a:p>
        </p:txBody>
      </p:sp>
      <p:sp>
        <p:nvSpPr>
          <p:cNvPr id="39" name="Text 37"/>
          <p:cNvSpPr/>
          <p:nvPr/>
        </p:nvSpPr>
        <p:spPr>
          <a:xfrm>
            <a:off x="7498080" y="4800600"/>
            <a:ext cx="1463040" cy="18288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13  /  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 — Sistema La Esquina</dc:title>
  <dc:subject>PptxGenJS Presentation</dc:subject>
  <dc:creator>PptxGenJS</dc:creator>
  <cp:lastModifiedBy>PptxGenJS</cp:lastModifiedBy>
  <cp:revision>1</cp:revision>
  <dcterms:created xsi:type="dcterms:W3CDTF">2026-05-15T20:46:38Z</dcterms:created>
  <dcterms:modified xsi:type="dcterms:W3CDTF">2026-05-15T20:46:38Z</dcterms:modified>
</cp:coreProperties>
</file>