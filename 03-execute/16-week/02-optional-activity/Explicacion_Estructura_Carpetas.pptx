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65A82">
              <a:alpha val="30000"/>
            </a:srgbClr>
          </a:solidFill>
          <a:ln/>
        </p:spPr>
      </p:sp>
      <p:sp>
        <p:nvSpPr>
          <p:cNvPr id="3" name="Shape 1"/>
          <p:cNvSpPr/>
          <p:nvPr/>
        </p:nvSpPr>
        <p:spPr>
          <a:xfrm>
            <a:off x="-1371600" y="4754880"/>
            <a:ext cx="3840480" cy="3840480"/>
          </a:xfrm>
          <a:prstGeom prst="ellipse">
            <a:avLst/>
          </a:prstGeom>
          <a:solidFill>
            <a:srgbClr val="1C7293">
              <a:alpha val="25000"/>
            </a:srgbClr>
          </a:solidFill>
          <a:ln/>
        </p:spPr>
      </p:sp>
      <p:pic>
        <p:nvPicPr>
          <p:cNvPr id="4" name="Image 0" descr="preencoded.png">    </p:cNvPr>
          <p:cNvPicPr>
            <a:picLocks noChangeAspect="1"/>
          </p:cNvPicPr>
          <p:nvPr/>
        </p:nvPicPr>
        <p:blipFill>
          <a:blip r:embed="rId1"/>
          <a:stretch>
            <a:fillRect/>
          </a:stretch>
        </p:blipFill>
        <p:spPr>
          <a:xfrm>
            <a:off x="822960" y="1051560"/>
            <a:ext cx="822960" cy="822960"/>
          </a:xfrm>
          <a:prstGeom prst="rect">
            <a:avLst/>
          </a:prstGeom>
        </p:spPr>
      </p:pic>
      <p:sp>
        <p:nvSpPr>
          <p:cNvPr id="5" name="Text 2"/>
          <p:cNvSpPr/>
          <p:nvPr/>
        </p:nvSpPr>
        <p:spPr>
          <a:xfrm>
            <a:off x="822960" y="1965960"/>
            <a:ext cx="7315200" cy="365760"/>
          </a:xfrm>
          <a:prstGeom prst="rect">
            <a:avLst/>
          </a:prstGeom>
          <a:noFill/>
          <a:ln/>
        </p:spPr>
        <p:txBody>
          <a:bodyPr wrap="square" lIns="0" tIns="0" rIns="0" bIns="0" rtlCol="0" anchor="ctr"/>
          <a:lstStyle/>
          <a:p>
            <a:pPr indent="0" marL="0">
              <a:buNone/>
            </a:pPr>
            <a:r>
              <a:rPr lang="en-US" sz="1400" b="1" spc="200" kern="0" dirty="0">
                <a:solidFill>
                  <a:srgbClr val="F2A541"/>
                </a:solidFill>
                <a:latin typeface="Calibri" pitchFamily="34" charset="0"/>
                <a:ea typeface="Calibri" pitchFamily="34" charset="-122"/>
                <a:cs typeface="Calibri" pitchFamily="34" charset="-120"/>
              </a:rPr>
              <a:t>EXPLICACIÓN EN PALABRAS PROPIAS</a:t>
            </a:r>
            <a:endParaRPr lang="en-US" sz="1400" dirty="0"/>
          </a:p>
        </p:txBody>
      </p:sp>
      <p:sp>
        <p:nvSpPr>
          <p:cNvPr id="6" name="Text 3"/>
          <p:cNvSpPr/>
          <p:nvPr/>
        </p:nvSpPr>
        <p:spPr>
          <a:xfrm>
            <a:off x="804672" y="2377440"/>
            <a:ext cx="960120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¿Qué significa esta carpeta?</a:t>
            </a:r>
            <a:endParaRPr lang="en-US" sz="4000" dirty="0"/>
          </a:p>
        </p:txBody>
      </p:sp>
      <p:sp>
        <p:nvSpPr>
          <p:cNvPr id="7" name="Text 4"/>
          <p:cNvSpPr/>
          <p:nvPr/>
        </p:nvSpPr>
        <p:spPr>
          <a:xfrm>
            <a:off x="822960" y="3703320"/>
            <a:ext cx="8686800" cy="914400"/>
          </a:xfrm>
          <a:prstGeom prst="rect">
            <a:avLst/>
          </a:prstGeom>
          <a:noFill/>
          <a:ln/>
        </p:spPr>
        <p:txBody>
          <a:bodyPr wrap="square" lIns="0" tIns="0" rIns="0" bIns="0" rtlCol="0" anchor="ctr"/>
          <a:lstStyle/>
          <a:p>
            <a:pPr indent="0" marL="0">
              <a:buNone/>
            </a:pPr>
            <a:r>
              <a:rPr lang="en-US" sz="1700" dirty="0">
                <a:solidFill>
                  <a:srgbClr val="E7F2F5"/>
                </a:solidFill>
                <a:latin typeface="Calibri" pitchFamily="34" charset="0"/>
                <a:ea typeface="Calibri" pitchFamily="34" charset="-122"/>
                <a:cs typeface="Calibri" pitchFamily="34" charset="-120"/>
              </a:rPr>
              <a:t>Cómo se organiza la documentación de un proyecto de software</a:t>
            </a:r>
            <a:endParaRPr lang="en-US" sz="1700" dirty="0"/>
          </a:p>
          <a:p>
            <a:pPr indent="0" marL="0">
              <a:buNone/>
            </a:pPr>
            <a:r>
              <a:rPr lang="en-US" sz="1700" dirty="0">
                <a:solidFill>
                  <a:srgbClr val="E7F2F5"/>
                </a:solidFill>
                <a:latin typeface="Calibri" pitchFamily="34" charset="0"/>
                <a:ea typeface="Calibri" pitchFamily="34" charset="-122"/>
                <a:cs typeface="Calibri" pitchFamily="34" charset="-120"/>
              </a:rPr>
              <a:t>y qué relación tiene con nuestro propio SRS</a:t>
            </a:r>
            <a:endParaRPr lang="en-US" sz="1700" dirty="0"/>
          </a:p>
        </p:txBody>
      </p:sp>
      <p:sp>
        <p:nvSpPr>
          <p:cNvPr id="8" name="Text 5"/>
          <p:cNvSpPr/>
          <p:nvPr/>
        </p:nvSpPr>
        <p:spPr>
          <a:xfrm>
            <a:off x="822960" y="6126480"/>
            <a:ext cx="9144000" cy="36576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Programa ADSO · SENA  —  Referencia: repositorio del proyecto "Horarios SENA"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73152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No es un SRS suelto: es un repositorio completo</a:t>
            </a:r>
            <a:endParaRPr lang="en-US" sz="2800" dirty="0"/>
          </a:p>
        </p:txBody>
      </p:sp>
      <p:sp>
        <p:nvSpPr>
          <p:cNvPr id="3" name="Text 1"/>
          <p:cNvSpPr/>
          <p:nvPr/>
        </p:nvSpPr>
        <p:spPr>
          <a:xfrm>
            <a:off x="548640" y="1143000"/>
            <a:ext cx="11064240" cy="822960"/>
          </a:xfrm>
          <a:prstGeom prst="rect">
            <a:avLst/>
          </a:prstGeom>
          <a:noFill/>
          <a:ln/>
        </p:spPr>
        <p:txBody>
          <a:bodyPr wrap="square" lIns="0" tIns="0" rIns="0" bIns="0" rtlCol="0" anchor="ctr"/>
          <a:lstStyle/>
          <a:p>
            <a:pPr indent="0" marL="0">
              <a:buNone/>
            </a:pPr>
            <a:r>
              <a:rPr lang="en-US" sz="1450" dirty="0">
                <a:solidFill>
                  <a:srgbClr val="5B6B78"/>
                </a:solidFill>
                <a:latin typeface="Calibri" pitchFamily="34" charset="0"/>
                <a:ea typeface="Calibri" pitchFamily="34" charset="-122"/>
                <a:cs typeface="Calibri" pitchFamily="34" charset="-120"/>
              </a:rPr>
              <a:t>Lo primero que hay que entender es que la carpeta que nos compartió el instructor no es un documento único como el SRS que nosotros ya conocemos. Es una manera de organizar TODA la documentación de un proyecto de software, desde la idea inicial hasta cómo se capacita al usuario final.</a:t>
            </a:r>
            <a:endParaRPr lang="en-US" sz="1450" dirty="0"/>
          </a:p>
        </p:txBody>
      </p:sp>
      <p:sp>
        <p:nvSpPr>
          <p:cNvPr id="4" name="Shape 2"/>
          <p:cNvSpPr/>
          <p:nvPr/>
        </p:nvSpPr>
        <p:spPr>
          <a:xfrm>
            <a:off x="548640" y="2240280"/>
            <a:ext cx="5349240" cy="3931920"/>
          </a:xfrm>
          <a:prstGeom prst="roundRect">
            <a:avLst>
              <a:gd name="adj" fmla="val 2791"/>
            </a:avLst>
          </a:prstGeom>
          <a:solidFill>
            <a:srgbClr val="E7F2F5"/>
          </a:solidFill>
          <a:ln/>
          <a:effectLst>
            <a:outerShdw sx="100000" sy="100000" kx="0" ky="0" algn="bl" rotWithShape="0" blurRad="101600" dist="381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868680" y="2560320"/>
            <a:ext cx="502920" cy="502920"/>
          </a:xfrm>
          <a:prstGeom prst="rect">
            <a:avLst/>
          </a:prstGeom>
        </p:spPr>
      </p:pic>
      <p:sp>
        <p:nvSpPr>
          <p:cNvPr id="6" name="Text 3"/>
          <p:cNvSpPr/>
          <p:nvPr/>
        </p:nvSpPr>
        <p:spPr>
          <a:xfrm>
            <a:off x="1554480" y="2560320"/>
            <a:ext cx="4114800" cy="54864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Lo que ya conocíamos: el SRS</a:t>
            </a:r>
            <a:endParaRPr lang="en-US" sz="1700" dirty="0"/>
          </a:p>
        </p:txBody>
      </p:sp>
      <p:sp>
        <p:nvSpPr>
          <p:cNvPr id="7" name="Text 4"/>
          <p:cNvSpPr/>
          <p:nvPr/>
        </p:nvSpPr>
        <p:spPr>
          <a:xfrm>
            <a:off x="868680" y="3246120"/>
            <a:ext cx="4709160" cy="26517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B2430"/>
                </a:solidFill>
                <a:latin typeface="Calibri" pitchFamily="34" charset="0"/>
                <a:ea typeface="Calibri" pitchFamily="34" charset="-122"/>
                <a:cs typeface="Calibri" pitchFamily="34" charset="-120"/>
              </a:rPr>
              <a:t>Un solo documento (.docx)</a:t>
            </a:r>
            <a:endParaRPr lang="en-US" sz="1350" dirty="0"/>
          </a:p>
          <a:p>
            <a:pPr marL="342900" indent="-342900">
              <a:spcAft>
                <a:spcPts val="1000"/>
              </a:spcAft>
              <a:buSzPct val="100000"/>
              <a:buChar char="•"/>
            </a:pPr>
            <a:r>
              <a:rPr lang="en-US" sz="1350" dirty="0">
                <a:solidFill>
                  <a:srgbClr val="1B2430"/>
                </a:solidFill>
                <a:latin typeface="Calibri" pitchFamily="34" charset="0"/>
                <a:ea typeface="Calibri" pitchFamily="34" charset="-122"/>
                <a:cs typeface="Calibri" pitchFamily="34" charset="-120"/>
              </a:rPr>
              <a:t>Habla de requerimientos funcionales y no funcionales</a:t>
            </a:r>
            <a:endParaRPr lang="en-US" sz="1350" dirty="0"/>
          </a:p>
          <a:p>
            <a:pPr marL="342900" indent="-342900">
              <a:spcAft>
                <a:spcPts val="1000"/>
              </a:spcAft>
              <a:buSzPct val="100000"/>
              <a:buChar char="•"/>
            </a:pPr>
            <a:r>
              <a:rPr lang="en-US" sz="1350" dirty="0">
                <a:solidFill>
                  <a:srgbClr val="1B2430"/>
                </a:solidFill>
                <a:latin typeface="Calibri" pitchFamily="34" charset="0"/>
                <a:ea typeface="Calibri" pitchFamily="34" charset="-122"/>
                <a:cs typeface="Calibri" pitchFamily="34" charset="-120"/>
              </a:rPr>
              <a:t>Se entrega una vez y queda "cerrado"</a:t>
            </a:r>
            <a:endParaRPr lang="en-US" sz="1350" dirty="0"/>
          </a:p>
          <a:p>
            <a:pPr marL="342900" indent="-342900">
              <a:spcAft>
                <a:spcPts val="1000"/>
              </a:spcAft>
              <a:buSzPct val="100000"/>
              <a:buChar char="•"/>
            </a:pPr>
            <a:r>
              <a:rPr lang="en-US" sz="1350" dirty="0">
                <a:solidFill>
                  <a:srgbClr val="1B2430"/>
                </a:solidFill>
                <a:latin typeface="Calibri" pitchFamily="34" charset="0"/>
                <a:ea typeface="Calibri" pitchFamily="34" charset="-122"/>
                <a:cs typeface="Calibri" pitchFamily="34" charset="-120"/>
              </a:rPr>
              <a:t>No dice nada de arquitectura, datos, UX, capacitación, etc.</a:t>
            </a:r>
            <a:endParaRPr lang="en-US" sz="1350" dirty="0"/>
          </a:p>
        </p:txBody>
      </p:sp>
      <p:sp>
        <p:nvSpPr>
          <p:cNvPr id="8" name="Shape 5"/>
          <p:cNvSpPr/>
          <p:nvPr/>
        </p:nvSpPr>
        <p:spPr>
          <a:xfrm>
            <a:off x="6263640" y="2240280"/>
            <a:ext cx="5349240" cy="3931920"/>
          </a:xfrm>
          <a:prstGeom prst="roundRect">
            <a:avLst>
              <a:gd name="adj" fmla="val 2791"/>
            </a:avLst>
          </a:prstGeom>
          <a:solidFill>
            <a:srgbClr val="21295C"/>
          </a:solidFill>
          <a:ln/>
          <a:effectLst>
            <a:outerShdw sx="100000" sy="100000" kx="0" ky="0" algn="bl" rotWithShape="0" blurRad="101600" dist="38100" dir="54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6583680" y="2560320"/>
            <a:ext cx="502920" cy="502920"/>
          </a:xfrm>
          <a:prstGeom prst="rect">
            <a:avLst/>
          </a:prstGeom>
        </p:spPr>
      </p:pic>
      <p:sp>
        <p:nvSpPr>
          <p:cNvPr id="10" name="Text 6"/>
          <p:cNvSpPr/>
          <p:nvPr/>
        </p:nvSpPr>
        <p:spPr>
          <a:xfrm>
            <a:off x="7269480" y="2560320"/>
            <a:ext cx="420624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Lo nuevo: el repositorio de documentación</a:t>
            </a:r>
            <a:endParaRPr lang="en-US" sz="1700" dirty="0"/>
          </a:p>
        </p:txBody>
      </p:sp>
      <p:sp>
        <p:nvSpPr>
          <p:cNvPr id="11" name="Text 7"/>
          <p:cNvSpPr/>
          <p:nvPr/>
        </p:nvSpPr>
        <p:spPr>
          <a:xfrm>
            <a:off x="6583680" y="3246120"/>
            <a:ext cx="4709160" cy="26517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E7F2F5"/>
                </a:solidFill>
                <a:latin typeface="Calibri" pitchFamily="34" charset="0"/>
                <a:ea typeface="Calibri" pitchFamily="34" charset="-122"/>
                <a:cs typeface="Calibri" pitchFamily="34" charset="-120"/>
              </a:rPr>
              <a:t>16 carpetas, una por cada tema del proyecto</a:t>
            </a:r>
            <a:endParaRPr lang="en-US" sz="1350" dirty="0"/>
          </a:p>
          <a:p>
            <a:pPr marL="342900" indent="-342900">
              <a:spcAft>
                <a:spcPts val="1000"/>
              </a:spcAft>
              <a:buSzPct val="100000"/>
              <a:buChar char="•"/>
            </a:pPr>
            <a:r>
              <a:rPr lang="en-US" sz="1350" dirty="0">
                <a:solidFill>
                  <a:srgbClr val="E7F2F5"/>
                </a:solidFill>
                <a:latin typeface="Calibri" pitchFamily="34" charset="0"/>
                <a:ea typeface="Calibri" pitchFamily="34" charset="-122"/>
                <a:cs typeface="Calibri" pitchFamily="34" charset="-120"/>
              </a:rPr>
              <a:t>El SRS es solo UNA parte (la carpeta 04)</a:t>
            </a:r>
            <a:endParaRPr lang="en-US" sz="1350" dirty="0"/>
          </a:p>
          <a:p>
            <a:pPr marL="342900" indent="-342900">
              <a:spcAft>
                <a:spcPts val="1000"/>
              </a:spcAft>
              <a:buSzPct val="100000"/>
              <a:buChar char="•"/>
            </a:pPr>
            <a:r>
              <a:rPr lang="en-US" sz="1350" dirty="0">
                <a:solidFill>
                  <a:srgbClr val="E7F2F5"/>
                </a:solidFill>
                <a:latin typeface="Calibri" pitchFamily="34" charset="0"/>
                <a:ea typeface="Calibri" pitchFamily="34" charset="-122"/>
                <a:cs typeface="Calibri" pitchFamily="34" charset="-120"/>
              </a:rPr>
              <a:t>Se va llenando y actualizando con el tiempo</a:t>
            </a:r>
            <a:endParaRPr lang="en-US" sz="1350" dirty="0"/>
          </a:p>
          <a:p>
            <a:pPr marL="342900" indent="-342900">
              <a:spcAft>
                <a:spcPts val="1000"/>
              </a:spcAft>
              <a:buSzPct val="100000"/>
              <a:buChar char="•"/>
            </a:pPr>
            <a:r>
              <a:rPr lang="en-US" sz="1350" dirty="0">
                <a:solidFill>
                  <a:srgbClr val="E7F2F5"/>
                </a:solidFill>
                <a:latin typeface="Calibri" pitchFamily="34" charset="0"/>
                <a:ea typeface="Calibri" pitchFamily="34" charset="-122"/>
                <a:cs typeface="Calibri" pitchFamily="34" charset="-120"/>
              </a:rPr>
              <a:t>Cubre desde el contexto del negocio hasta cómo se capacita al usuario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2600" b="1" dirty="0">
                <a:solidFill>
                  <a:srgbClr val="1B2430"/>
                </a:solidFill>
                <a:latin typeface="Cambria" pitchFamily="34" charset="0"/>
                <a:ea typeface="Cambria" pitchFamily="34" charset="-122"/>
                <a:cs typeface="Cambria" pitchFamily="34" charset="-120"/>
              </a:rPr>
              <a:t>16 carpetas, agrupadas en 4 grandes momentos</a:t>
            </a:r>
            <a:endParaRPr lang="en-US" sz="2600" dirty="0"/>
          </a:p>
        </p:txBody>
      </p:sp>
      <p:sp>
        <p:nvSpPr>
          <p:cNvPr id="3" name="Text 1"/>
          <p:cNvSpPr/>
          <p:nvPr/>
        </p:nvSpPr>
        <p:spPr>
          <a:xfrm>
            <a:off x="548640" y="960120"/>
            <a:ext cx="10972800" cy="457200"/>
          </a:xfrm>
          <a:prstGeom prst="rect">
            <a:avLst/>
          </a:prstGeom>
          <a:noFill/>
          <a:ln/>
        </p:spPr>
        <p:txBody>
          <a:bodyPr wrap="square" lIns="0" tIns="0" rIns="0" bIns="0" rtlCol="0" anchor="ctr"/>
          <a:lstStyle/>
          <a:p>
            <a:pPr indent="0" marL="0">
              <a:buNone/>
            </a:pPr>
            <a:r>
              <a:rPr lang="en-US" sz="1350" dirty="0">
                <a:solidFill>
                  <a:srgbClr val="5B6B78"/>
                </a:solidFill>
                <a:latin typeface="Calibri" pitchFamily="34" charset="0"/>
                <a:ea typeface="Calibri" pitchFamily="34" charset="-122"/>
                <a:cs typeface="Calibri" pitchFamily="34" charset="-120"/>
              </a:rPr>
              <a:t>Para no perdernos entre tantas carpetas, las agrupamos mentalmente según el momento del proyecto al que le apuntan:</a:t>
            </a:r>
            <a:endParaRPr lang="en-US" sz="1350" dirty="0"/>
          </a:p>
        </p:txBody>
      </p:sp>
      <p:sp>
        <p:nvSpPr>
          <p:cNvPr id="4" name="Shape 2"/>
          <p:cNvSpPr/>
          <p:nvPr/>
        </p:nvSpPr>
        <p:spPr>
          <a:xfrm>
            <a:off x="548640" y="1691640"/>
            <a:ext cx="2697480" cy="4480560"/>
          </a:xfrm>
          <a:prstGeom prst="roundRect">
            <a:avLst>
              <a:gd name="adj" fmla="val 3390"/>
            </a:avLst>
          </a:prstGeom>
          <a:solidFill>
            <a:srgbClr val="065A82"/>
          </a:solidFill>
          <a:ln/>
          <a:effectLst>
            <a:outerShdw sx="100000" sy="100000" kx="0" ky="0" algn="bl" rotWithShape="0" blurRad="88900" dist="25400" dir="5400000">
              <a:srgbClr val="000000">
                <a:alpha val="15000"/>
              </a:srgbClr>
            </a:outerShdw>
          </a:effectLst>
        </p:spPr>
      </p:sp>
      <p:pic>
        <p:nvPicPr>
          <p:cNvPr id="5" name="Image 0" descr="preencoded.png">    </p:cNvPr>
          <p:cNvPicPr>
            <a:picLocks noChangeAspect="1"/>
          </p:cNvPicPr>
          <p:nvPr/>
        </p:nvPicPr>
        <p:blipFill>
          <a:blip r:embed="rId1"/>
          <a:stretch>
            <a:fillRect/>
          </a:stretch>
        </p:blipFill>
        <p:spPr>
          <a:xfrm>
            <a:off x="777240" y="1965960"/>
            <a:ext cx="502920" cy="502920"/>
          </a:xfrm>
          <a:prstGeom prst="rect">
            <a:avLst/>
          </a:prstGeom>
        </p:spPr>
      </p:pic>
      <p:sp>
        <p:nvSpPr>
          <p:cNvPr id="6" name="Text 3"/>
          <p:cNvSpPr/>
          <p:nvPr/>
        </p:nvSpPr>
        <p:spPr>
          <a:xfrm>
            <a:off x="777240" y="260604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 Planeación</a:t>
            </a:r>
            <a:endParaRPr lang="en-US" sz="1600" dirty="0"/>
          </a:p>
        </p:txBody>
      </p:sp>
      <p:sp>
        <p:nvSpPr>
          <p:cNvPr id="7" name="Text 4"/>
          <p:cNvSpPr/>
          <p:nvPr/>
        </p:nvSpPr>
        <p:spPr>
          <a:xfrm>
            <a:off x="777240" y="3063240"/>
            <a:ext cx="2240280" cy="320040"/>
          </a:xfrm>
          <a:prstGeom prst="rect">
            <a:avLst/>
          </a:prstGeom>
          <a:noFill/>
          <a:ln/>
        </p:spPr>
        <p:txBody>
          <a:bodyPr wrap="square" lIns="0" tIns="0" rIns="0" bIns="0" rtlCol="0" anchor="ctr"/>
          <a:lstStyle/>
          <a:p>
            <a:pPr indent="0" marL="0">
              <a:buNone/>
            </a:pPr>
            <a:r>
              <a:rPr lang="en-US" sz="1200" i="1" dirty="0">
                <a:solidFill>
                  <a:srgbClr val="D8E4EA"/>
                </a:solidFill>
                <a:latin typeface="Calibri" pitchFamily="34" charset="0"/>
                <a:ea typeface="Calibri" pitchFamily="34" charset="-122"/>
                <a:cs typeface="Calibri" pitchFamily="34" charset="-120"/>
              </a:rPr>
              <a:t>00 – 04</a:t>
            </a:r>
            <a:endParaRPr lang="en-US" sz="1200" dirty="0"/>
          </a:p>
        </p:txBody>
      </p:sp>
      <p:sp>
        <p:nvSpPr>
          <p:cNvPr id="8" name="Shape 5"/>
          <p:cNvSpPr/>
          <p:nvPr/>
        </p:nvSpPr>
        <p:spPr>
          <a:xfrm>
            <a:off x="777240" y="3474720"/>
            <a:ext cx="2240280" cy="0"/>
          </a:xfrm>
          <a:prstGeom prst="line">
            <a:avLst/>
          </a:prstGeom>
          <a:noFill/>
          <a:ln w="9525">
            <a:solidFill>
              <a:srgbClr val="FFFFFF">
                <a:alpha val="40000"/>
              </a:srgbClr>
            </a:solidFill>
            <a:prstDash val="solid"/>
          </a:ln>
        </p:spPr>
      </p:sp>
      <p:sp>
        <p:nvSpPr>
          <p:cNvPr id="9" name="Text 6"/>
          <p:cNvSpPr/>
          <p:nvPr/>
        </p:nvSpPr>
        <p:spPr>
          <a:xfrm>
            <a:off x="777240" y="3657600"/>
            <a:ext cx="2240280" cy="22860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Gobierno · Contexto · Dominio · Producto · Requisitos</a:t>
            </a:r>
            <a:endParaRPr lang="en-US" sz="1200" dirty="0"/>
          </a:p>
        </p:txBody>
      </p:sp>
      <p:sp>
        <p:nvSpPr>
          <p:cNvPr id="10" name="Shape 7"/>
          <p:cNvSpPr/>
          <p:nvPr/>
        </p:nvSpPr>
        <p:spPr>
          <a:xfrm>
            <a:off x="3429000" y="1691640"/>
            <a:ext cx="2697480" cy="4480560"/>
          </a:xfrm>
          <a:prstGeom prst="roundRect">
            <a:avLst>
              <a:gd name="adj" fmla="val 3390"/>
            </a:avLst>
          </a:prstGeom>
          <a:solidFill>
            <a:srgbClr val="1C7293"/>
          </a:solidFill>
          <a:ln/>
          <a:effectLst>
            <a:outerShdw sx="100000" sy="100000" kx="0" ky="0" algn="bl" rotWithShape="0" blurRad="88900" dist="25400" dir="5400000">
              <a:srgbClr val="000000">
                <a:alpha val="15000"/>
              </a:srgbClr>
            </a:outerShdw>
          </a:effectLst>
        </p:spPr>
      </p:sp>
      <p:pic>
        <p:nvPicPr>
          <p:cNvPr id="11" name="Image 1" descr="preencoded.png">    </p:cNvPr>
          <p:cNvPicPr>
            <a:picLocks noChangeAspect="1"/>
          </p:cNvPicPr>
          <p:nvPr/>
        </p:nvPicPr>
        <p:blipFill>
          <a:blip r:embed="rId2"/>
          <a:stretch>
            <a:fillRect/>
          </a:stretch>
        </p:blipFill>
        <p:spPr>
          <a:xfrm>
            <a:off x="3657600" y="1965960"/>
            <a:ext cx="502920" cy="502920"/>
          </a:xfrm>
          <a:prstGeom prst="rect">
            <a:avLst/>
          </a:prstGeom>
        </p:spPr>
      </p:pic>
      <p:sp>
        <p:nvSpPr>
          <p:cNvPr id="12" name="Text 8"/>
          <p:cNvSpPr/>
          <p:nvPr/>
        </p:nvSpPr>
        <p:spPr>
          <a:xfrm>
            <a:off x="3657600" y="260604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2. Diseño técnico</a:t>
            </a:r>
            <a:endParaRPr lang="en-US" sz="1600" dirty="0"/>
          </a:p>
        </p:txBody>
      </p:sp>
      <p:sp>
        <p:nvSpPr>
          <p:cNvPr id="13" name="Text 9"/>
          <p:cNvSpPr/>
          <p:nvPr/>
        </p:nvSpPr>
        <p:spPr>
          <a:xfrm>
            <a:off x="3657600" y="3063240"/>
            <a:ext cx="2240280" cy="320040"/>
          </a:xfrm>
          <a:prstGeom prst="rect">
            <a:avLst/>
          </a:prstGeom>
          <a:noFill/>
          <a:ln/>
        </p:spPr>
        <p:txBody>
          <a:bodyPr wrap="square" lIns="0" tIns="0" rIns="0" bIns="0" rtlCol="0" anchor="ctr"/>
          <a:lstStyle/>
          <a:p>
            <a:pPr indent="0" marL="0">
              <a:buNone/>
            </a:pPr>
            <a:r>
              <a:rPr lang="en-US" sz="1200" i="1" dirty="0">
                <a:solidFill>
                  <a:srgbClr val="D8E4EA"/>
                </a:solidFill>
                <a:latin typeface="Calibri" pitchFamily="34" charset="0"/>
                <a:ea typeface="Calibri" pitchFamily="34" charset="-122"/>
                <a:cs typeface="Calibri" pitchFamily="34" charset="-120"/>
              </a:rPr>
              <a:t>05 – 09</a:t>
            </a:r>
            <a:endParaRPr lang="en-US" sz="1200" dirty="0"/>
          </a:p>
        </p:txBody>
      </p:sp>
      <p:sp>
        <p:nvSpPr>
          <p:cNvPr id="14" name="Shape 10"/>
          <p:cNvSpPr/>
          <p:nvPr/>
        </p:nvSpPr>
        <p:spPr>
          <a:xfrm>
            <a:off x="3657600" y="3474720"/>
            <a:ext cx="2240280" cy="0"/>
          </a:xfrm>
          <a:prstGeom prst="line">
            <a:avLst/>
          </a:prstGeom>
          <a:noFill/>
          <a:ln w="9525">
            <a:solidFill>
              <a:srgbClr val="FFFFFF">
                <a:alpha val="40000"/>
              </a:srgbClr>
            </a:solidFill>
            <a:prstDash val="solid"/>
          </a:ln>
        </p:spPr>
      </p:sp>
      <p:sp>
        <p:nvSpPr>
          <p:cNvPr id="15" name="Text 11"/>
          <p:cNvSpPr/>
          <p:nvPr/>
        </p:nvSpPr>
        <p:spPr>
          <a:xfrm>
            <a:off x="3657600" y="3657600"/>
            <a:ext cx="2240280" cy="22860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Arquitectura · Datos · API · UML · Microservicios</a:t>
            </a:r>
            <a:endParaRPr lang="en-US" sz="1200" dirty="0"/>
          </a:p>
        </p:txBody>
      </p:sp>
      <p:sp>
        <p:nvSpPr>
          <p:cNvPr id="16" name="Shape 12"/>
          <p:cNvSpPr/>
          <p:nvPr/>
        </p:nvSpPr>
        <p:spPr>
          <a:xfrm>
            <a:off x="6309360" y="1691640"/>
            <a:ext cx="2697480" cy="4480560"/>
          </a:xfrm>
          <a:prstGeom prst="roundRect">
            <a:avLst>
              <a:gd name="adj" fmla="val 3390"/>
            </a:avLst>
          </a:prstGeom>
          <a:solidFill>
            <a:srgbClr val="21295C"/>
          </a:solidFill>
          <a:ln/>
          <a:effectLst>
            <a:outerShdw sx="100000" sy="100000" kx="0" ky="0" algn="bl" rotWithShape="0" blurRad="88900" dist="25400" dir="5400000">
              <a:srgbClr val="000000">
                <a:alpha val="15000"/>
              </a:srgbClr>
            </a:outerShdw>
          </a:effectLst>
        </p:spPr>
      </p:sp>
      <p:pic>
        <p:nvPicPr>
          <p:cNvPr id="17" name="Image 2" descr="preencoded.png">    </p:cNvPr>
          <p:cNvPicPr>
            <a:picLocks noChangeAspect="1"/>
          </p:cNvPicPr>
          <p:nvPr/>
        </p:nvPicPr>
        <p:blipFill>
          <a:blip r:embed="rId3"/>
          <a:stretch>
            <a:fillRect/>
          </a:stretch>
        </p:blipFill>
        <p:spPr>
          <a:xfrm>
            <a:off x="6537960" y="1965960"/>
            <a:ext cx="502920" cy="502920"/>
          </a:xfrm>
          <a:prstGeom prst="rect">
            <a:avLst/>
          </a:prstGeom>
        </p:spPr>
      </p:pic>
      <p:sp>
        <p:nvSpPr>
          <p:cNvPr id="18" name="Text 13"/>
          <p:cNvSpPr/>
          <p:nvPr/>
        </p:nvSpPr>
        <p:spPr>
          <a:xfrm>
            <a:off x="6537960" y="260604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3. Puesta en marcha</a:t>
            </a:r>
            <a:endParaRPr lang="en-US" sz="1600" dirty="0"/>
          </a:p>
        </p:txBody>
      </p:sp>
      <p:sp>
        <p:nvSpPr>
          <p:cNvPr id="19" name="Text 14"/>
          <p:cNvSpPr/>
          <p:nvPr/>
        </p:nvSpPr>
        <p:spPr>
          <a:xfrm>
            <a:off x="6537960" y="3063240"/>
            <a:ext cx="2240280" cy="320040"/>
          </a:xfrm>
          <a:prstGeom prst="rect">
            <a:avLst/>
          </a:prstGeom>
          <a:noFill/>
          <a:ln/>
        </p:spPr>
        <p:txBody>
          <a:bodyPr wrap="square" lIns="0" tIns="0" rIns="0" bIns="0" rtlCol="0" anchor="ctr"/>
          <a:lstStyle/>
          <a:p>
            <a:pPr indent="0" marL="0">
              <a:buNone/>
            </a:pPr>
            <a:r>
              <a:rPr lang="en-US" sz="1200" i="1" dirty="0">
                <a:solidFill>
                  <a:srgbClr val="D8E4EA"/>
                </a:solidFill>
                <a:latin typeface="Calibri" pitchFamily="34" charset="0"/>
                <a:ea typeface="Calibri" pitchFamily="34" charset="-122"/>
                <a:cs typeface="Calibri" pitchFamily="34" charset="-120"/>
              </a:rPr>
              <a:t>10 – 13</a:t>
            </a:r>
            <a:endParaRPr lang="en-US" sz="1200" dirty="0"/>
          </a:p>
        </p:txBody>
      </p:sp>
      <p:sp>
        <p:nvSpPr>
          <p:cNvPr id="20" name="Shape 15"/>
          <p:cNvSpPr/>
          <p:nvPr/>
        </p:nvSpPr>
        <p:spPr>
          <a:xfrm>
            <a:off x="6537960" y="3474720"/>
            <a:ext cx="2240280" cy="0"/>
          </a:xfrm>
          <a:prstGeom prst="line">
            <a:avLst/>
          </a:prstGeom>
          <a:noFill/>
          <a:ln w="9525">
            <a:solidFill>
              <a:srgbClr val="FFFFFF">
                <a:alpha val="40000"/>
              </a:srgbClr>
            </a:solidFill>
            <a:prstDash val="solid"/>
          </a:ln>
        </p:spPr>
      </p:sp>
      <p:sp>
        <p:nvSpPr>
          <p:cNvPr id="21" name="Text 16"/>
          <p:cNvSpPr/>
          <p:nvPr/>
        </p:nvSpPr>
        <p:spPr>
          <a:xfrm>
            <a:off x="6537960" y="3657600"/>
            <a:ext cx="2240280" cy="22860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DevOps · Calidad · UX/UI · Operación</a:t>
            </a:r>
            <a:endParaRPr lang="en-US" sz="1200" dirty="0"/>
          </a:p>
        </p:txBody>
      </p:sp>
      <p:sp>
        <p:nvSpPr>
          <p:cNvPr id="22" name="Shape 17"/>
          <p:cNvSpPr/>
          <p:nvPr/>
        </p:nvSpPr>
        <p:spPr>
          <a:xfrm>
            <a:off x="9189720" y="1691640"/>
            <a:ext cx="2697480" cy="4480560"/>
          </a:xfrm>
          <a:prstGeom prst="roundRect">
            <a:avLst>
              <a:gd name="adj" fmla="val 3390"/>
            </a:avLst>
          </a:prstGeom>
          <a:solidFill>
            <a:srgbClr val="3D5A73"/>
          </a:solidFill>
          <a:ln/>
          <a:effectLst>
            <a:outerShdw sx="100000" sy="100000" kx="0" ky="0" algn="bl" rotWithShape="0" blurRad="88900" dist="25400" dir="5400000">
              <a:srgbClr val="000000">
                <a:alpha val="15000"/>
              </a:srgbClr>
            </a:outerShdw>
          </a:effectLst>
        </p:spPr>
      </p:sp>
      <p:pic>
        <p:nvPicPr>
          <p:cNvPr id="23" name="Image 3" descr="preencoded.png">    </p:cNvPr>
          <p:cNvPicPr>
            <a:picLocks noChangeAspect="1"/>
          </p:cNvPicPr>
          <p:nvPr/>
        </p:nvPicPr>
        <p:blipFill>
          <a:blip r:embed="rId4"/>
          <a:stretch>
            <a:fillRect/>
          </a:stretch>
        </p:blipFill>
        <p:spPr>
          <a:xfrm>
            <a:off x="9418320" y="1965960"/>
            <a:ext cx="502920" cy="502920"/>
          </a:xfrm>
          <a:prstGeom prst="rect">
            <a:avLst/>
          </a:prstGeom>
        </p:spPr>
      </p:pic>
      <p:sp>
        <p:nvSpPr>
          <p:cNvPr id="24" name="Text 18"/>
          <p:cNvSpPr/>
          <p:nvPr/>
        </p:nvSpPr>
        <p:spPr>
          <a:xfrm>
            <a:off x="9418320" y="2606040"/>
            <a:ext cx="2240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4. Cierre y control</a:t>
            </a:r>
            <a:endParaRPr lang="en-US" sz="1600" dirty="0"/>
          </a:p>
        </p:txBody>
      </p:sp>
      <p:sp>
        <p:nvSpPr>
          <p:cNvPr id="25" name="Text 19"/>
          <p:cNvSpPr/>
          <p:nvPr/>
        </p:nvSpPr>
        <p:spPr>
          <a:xfrm>
            <a:off x="9418320" y="3063240"/>
            <a:ext cx="2240280" cy="320040"/>
          </a:xfrm>
          <a:prstGeom prst="rect">
            <a:avLst/>
          </a:prstGeom>
          <a:noFill/>
          <a:ln/>
        </p:spPr>
        <p:txBody>
          <a:bodyPr wrap="square" lIns="0" tIns="0" rIns="0" bIns="0" rtlCol="0" anchor="ctr"/>
          <a:lstStyle/>
          <a:p>
            <a:pPr indent="0" marL="0">
              <a:buNone/>
            </a:pPr>
            <a:r>
              <a:rPr lang="en-US" sz="1200" i="1" dirty="0">
                <a:solidFill>
                  <a:srgbClr val="D8E4EA"/>
                </a:solidFill>
                <a:latin typeface="Calibri" pitchFamily="34" charset="0"/>
                <a:ea typeface="Calibri" pitchFamily="34" charset="-122"/>
                <a:cs typeface="Calibri" pitchFamily="34" charset="-120"/>
              </a:rPr>
              <a:t>14–15, 99</a:t>
            </a:r>
            <a:endParaRPr lang="en-US" sz="1200" dirty="0"/>
          </a:p>
        </p:txBody>
      </p:sp>
      <p:sp>
        <p:nvSpPr>
          <p:cNvPr id="26" name="Shape 20"/>
          <p:cNvSpPr/>
          <p:nvPr/>
        </p:nvSpPr>
        <p:spPr>
          <a:xfrm>
            <a:off x="9418320" y="3474720"/>
            <a:ext cx="2240280" cy="0"/>
          </a:xfrm>
          <a:prstGeom prst="line">
            <a:avLst/>
          </a:prstGeom>
          <a:noFill/>
          <a:ln w="9525">
            <a:solidFill>
              <a:srgbClr val="FFFFFF">
                <a:alpha val="40000"/>
              </a:srgbClr>
            </a:solidFill>
            <a:prstDash val="solid"/>
          </a:ln>
        </p:spPr>
      </p:sp>
      <p:sp>
        <p:nvSpPr>
          <p:cNvPr id="27" name="Text 21"/>
          <p:cNvSpPr/>
          <p:nvPr/>
        </p:nvSpPr>
        <p:spPr>
          <a:xfrm>
            <a:off x="9418320" y="3657600"/>
            <a:ext cx="2240280" cy="22860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Capacitación · Control de proyecto · Archivo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2600" b="1" dirty="0">
                <a:solidFill>
                  <a:srgbClr val="1B2430"/>
                </a:solidFill>
                <a:latin typeface="Cambria" pitchFamily="34" charset="0"/>
                <a:ea typeface="Cambria" pitchFamily="34" charset="-122"/>
                <a:cs typeface="Cambria" pitchFamily="34" charset="-120"/>
              </a:rPr>
              <a:t>Todos los archivos se ven "por dentro" igual</a:t>
            </a:r>
            <a:endParaRPr lang="en-US" sz="2600" dirty="0"/>
          </a:p>
        </p:txBody>
      </p:sp>
      <p:sp>
        <p:nvSpPr>
          <p:cNvPr id="3" name="Text 1"/>
          <p:cNvSpPr/>
          <p:nvPr/>
        </p:nvSpPr>
        <p:spPr>
          <a:xfrm>
            <a:off x="548640" y="1097280"/>
            <a:ext cx="5669280" cy="1463040"/>
          </a:xfrm>
          <a:prstGeom prst="rect">
            <a:avLst/>
          </a:prstGeom>
          <a:noFill/>
          <a:ln/>
        </p:spPr>
        <p:txBody>
          <a:bodyPr wrap="square" lIns="0" tIns="0" rIns="0" bIns="0" rtlCol="0" anchor="ctr"/>
          <a:lstStyle/>
          <a:p>
            <a:pPr indent="0" marL="0">
              <a:buNone/>
            </a:pPr>
            <a:r>
              <a:rPr lang="en-US" sz="1350" dirty="0">
                <a:solidFill>
                  <a:srgbClr val="5B6B78"/>
                </a:solidFill>
                <a:latin typeface="Calibri" pitchFamily="34" charset="0"/>
                <a:ea typeface="Calibri" pitchFamily="34" charset="-122"/>
                <a:cs typeface="Calibri" pitchFamily="34" charset="-120"/>
              </a:rPr>
              <a:t>No importa si es un documento de contexto, de arquitectura o de capacitación: todos siguen la misma plantilla. Eso es lo que hace que cualquiera pueda abrir cualquier archivo y entender rápido de qué se trata.</a:t>
            </a:r>
            <a:endParaRPr lang="en-US" sz="1350" dirty="0"/>
          </a:p>
        </p:txBody>
      </p:sp>
      <p:pic>
        <p:nvPicPr>
          <p:cNvPr id="4" name="Image 0" descr="preencoded.png">    </p:cNvPr>
          <p:cNvPicPr>
            <a:picLocks noChangeAspect="1"/>
          </p:cNvPicPr>
          <p:nvPr/>
        </p:nvPicPr>
        <p:blipFill>
          <a:blip r:embed="rId1"/>
          <a:stretch>
            <a:fillRect/>
          </a:stretch>
        </p:blipFill>
        <p:spPr>
          <a:xfrm>
            <a:off x="548640" y="2743200"/>
            <a:ext cx="548640" cy="548640"/>
          </a:xfrm>
          <a:prstGeom prst="rect">
            <a:avLst/>
          </a:prstGeom>
        </p:spPr>
      </p:pic>
      <p:sp>
        <p:nvSpPr>
          <p:cNvPr id="5" name="Text 2"/>
          <p:cNvSpPr/>
          <p:nvPr/>
        </p:nvSpPr>
        <p:spPr>
          <a:xfrm>
            <a:off x="1234440" y="2697480"/>
            <a:ext cx="4937760" cy="2286000"/>
          </a:xfrm>
          <a:prstGeom prst="rect">
            <a:avLst/>
          </a:prstGeom>
          <a:noFill/>
          <a:ln/>
        </p:spPr>
        <p:txBody>
          <a:bodyPr wrap="square" lIns="0" tIns="0" rIns="0" bIns="0" rtlCol="0" anchor="ctr"/>
          <a:lstStyle/>
          <a:p>
            <a:pPr indent="0" marL="0">
              <a:spcAft>
                <a:spcPts val="800"/>
              </a:spcAft>
              <a:buNone/>
            </a:pPr>
            <a:r>
              <a:rPr lang="en-US" sz="1250" b="1" dirty="0">
                <a:solidFill>
                  <a:srgbClr val="1B2430"/>
                </a:solidFill>
                <a:latin typeface="Calibri" pitchFamily="34" charset="0"/>
                <a:ea typeface="Calibri" pitchFamily="34" charset="-122"/>
                <a:cs typeface="Calibri" pitchFamily="34" charset="-120"/>
              </a:rPr>
              <a:t>Un encabezado fijo: </a:t>
            </a:r>
            <a:pPr indent="0" marL="0">
              <a:spcAft>
                <a:spcPts val="800"/>
              </a:spcAft>
              <a:buNone/>
            </a:pPr>
            <a:r>
              <a:rPr lang="en-US" sz="1250" dirty="0">
                <a:solidFill>
                  <a:srgbClr val="1B2430"/>
                </a:solidFill>
                <a:latin typeface="Calibri" pitchFamily="34" charset="0"/>
                <a:ea typeface="Calibri" pitchFamily="34" charset="-122"/>
                <a:cs typeface="Calibri" pitchFamily="34" charset="-120"/>
              </a:rPr>
              <a:t>estado, fecha, autor y de dónde salió la información</a:t>
            </a:r>
            <a:endParaRPr lang="en-US" sz="1250" dirty="0"/>
          </a:p>
          <a:p>
            <a:pPr indent="0" marL="0">
              <a:spcAft>
                <a:spcPts val="800"/>
              </a:spcAft>
              <a:buNone/>
            </a:pPr>
            <a:r>
              <a:rPr lang="en-US" sz="1250" b="1" dirty="0">
                <a:solidFill>
                  <a:srgbClr val="1B2430"/>
                </a:solidFill>
                <a:latin typeface="Calibri" pitchFamily="34" charset="0"/>
                <a:ea typeface="Calibri" pitchFamily="34" charset="-122"/>
                <a:cs typeface="Calibri" pitchFamily="34" charset="-120"/>
              </a:rPr>
              <a:t>Una sección "Contexto": </a:t>
            </a:r>
            <a:pPr indent="0" marL="0">
              <a:spcAft>
                <a:spcPts val="800"/>
              </a:spcAft>
              <a:buNone/>
            </a:pPr>
            <a:r>
              <a:rPr lang="en-US" sz="1250" dirty="0">
                <a:solidFill>
                  <a:srgbClr val="1B2430"/>
                </a:solidFill>
                <a:latin typeface="Calibri" pitchFamily="34" charset="0"/>
                <a:ea typeface="Calibri" pitchFamily="34" charset="-122"/>
                <a:cs typeface="Calibri" pitchFamily="34" charset="-120"/>
              </a:rPr>
              <a:t>para qué existe ese documento</a:t>
            </a:r>
            <a:endParaRPr lang="en-US" sz="1250" dirty="0"/>
          </a:p>
          <a:p>
            <a:pPr indent="0" marL="0">
              <a:spcAft>
                <a:spcPts val="800"/>
              </a:spcAft>
              <a:buNone/>
            </a:pPr>
            <a:r>
              <a:rPr lang="en-US" sz="1250" b="1" dirty="0">
                <a:solidFill>
                  <a:srgbClr val="1B2430"/>
                </a:solidFill>
                <a:latin typeface="Calibri" pitchFamily="34" charset="0"/>
                <a:ea typeface="Calibri" pitchFamily="34" charset="-122"/>
                <a:cs typeface="Calibri" pitchFamily="34" charset="-120"/>
              </a:rPr>
              <a:t>Una sección "Contenido": </a:t>
            </a:r>
            <a:pPr indent="0" marL="0">
              <a:spcAft>
                <a:spcPts val="800"/>
              </a:spcAft>
              <a:buNone/>
            </a:pPr>
            <a:r>
              <a:rPr lang="en-US" sz="1250" dirty="0">
                <a:solidFill>
                  <a:srgbClr val="1B2430"/>
                </a:solidFill>
                <a:latin typeface="Calibri" pitchFamily="34" charset="0"/>
                <a:ea typeface="Calibri" pitchFamily="34" charset="-122"/>
                <a:cs typeface="Calibri" pitchFamily="34" charset="-120"/>
              </a:rPr>
              <a:t>la información real</a:t>
            </a:r>
            <a:endParaRPr lang="en-US" sz="1250" dirty="0"/>
          </a:p>
          <a:p>
            <a:pPr indent="0" marL="0">
              <a:spcAft>
                <a:spcPts val="800"/>
              </a:spcAft>
              <a:buNone/>
            </a:pPr>
            <a:r>
              <a:rPr lang="en-US" sz="1250" b="1" dirty="0">
                <a:solidFill>
                  <a:srgbClr val="1B2430"/>
                </a:solidFill>
                <a:latin typeface="Calibri" pitchFamily="34" charset="0"/>
                <a:ea typeface="Calibri" pitchFamily="34" charset="-122"/>
                <a:cs typeface="Calibri" pitchFamily="34" charset="-120"/>
              </a:rPr>
              <a:t>Una sección "Referencias": </a:t>
            </a:r>
            <a:pPr indent="0" marL="0">
              <a:spcAft>
                <a:spcPts val="800"/>
              </a:spcAft>
              <a:buNone/>
            </a:pPr>
            <a:r>
              <a:rPr lang="en-US" sz="1250" dirty="0">
                <a:solidFill>
                  <a:srgbClr val="1B2430"/>
                </a:solidFill>
                <a:latin typeface="Calibri" pitchFamily="34" charset="0"/>
                <a:ea typeface="Calibri" pitchFamily="34" charset="-122"/>
                <a:cs typeface="Calibri" pitchFamily="34" charset="-120"/>
              </a:rPr>
              <a:t>de qué parte del SRS o del proyecto viene</a:t>
            </a:r>
            <a:endParaRPr lang="en-US" sz="1250" dirty="0"/>
          </a:p>
        </p:txBody>
      </p:sp>
      <p:sp>
        <p:nvSpPr>
          <p:cNvPr id="6" name="Shape 3"/>
          <p:cNvSpPr/>
          <p:nvPr/>
        </p:nvSpPr>
        <p:spPr>
          <a:xfrm>
            <a:off x="6492240" y="1051560"/>
            <a:ext cx="5120640" cy="5394960"/>
          </a:xfrm>
          <a:prstGeom prst="roundRect">
            <a:avLst>
              <a:gd name="adj" fmla="val 1429"/>
            </a:avLst>
          </a:prstGeom>
          <a:solidFill>
            <a:srgbClr val="E7F2F5"/>
          </a:solidFill>
          <a:ln w="12700">
            <a:solidFill>
              <a:srgbClr val="C7D9E0"/>
            </a:solidFill>
            <a:prstDash val="solid"/>
          </a:ln>
          <a:effectLst>
            <a:outerShdw sx="100000" sy="100000" kx="0" ky="0" algn="bl" rotWithShape="0" blurRad="101600" dist="38100" dir="5400000">
              <a:srgbClr val="000000">
                <a:alpha val="10000"/>
              </a:srgbClr>
            </a:outerShdw>
          </a:effectLst>
        </p:spPr>
      </p:sp>
      <p:sp>
        <p:nvSpPr>
          <p:cNvPr id="7" name="Text 4"/>
          <p:cNvSpPr/>
          <p:nvPr/>
        </p:nvSpPr>
        <p:spPr>
          <a:xfrm>
            <a:off x="6812280" y="1325880"/>
            <a:ext cx="4480560" cy="365760"/>
          </a:xfrm>
          <a:prstGeom prst="rect">
            <a:avLst/>
          </a:prstGeom>
          <a:noFill/>
          <a:ln/>
        </p:spPr>
        <p:txBody>
          <a:bodyPr wrap="square" lIns="0" tIns="0" rIns="0" bIns="0" rtlCol="0" anchor="ctr"/>
          <a:lstStyle/>
          <a:p>
            <a:pPr indent="0" marL="0">
              <a:buNone/>
            </a:pPr>
            <a:r>
              <a:rPr lang="en-US" sz="1300" b="1" dirty="0">
                <a:solidFill>
                  <a:srgbClr val="21295C"/>
                </a:solidFill>
                <a:latin typeface="Courier New" pitchFamily="34" charset="0"/>
                <a:ea typeface="Courier New" pitchFamily="34" charset="-122"/>
                <a:cs typeface="Courier New" pitchFamily="34" charset="-120"/>
              </a:rPr>
              <a:t># Título del documento</a:t>
            </a:r>
            <a:endParaRPr lang="en-US" sz="1300" dirty="0"/>
          </a:p>
        </p:txBody>
      </p:sp>
      <p:sp>
        <p:nvSpPr>
          <p:cNvPr id="8" name="Text 5"/>
          <p:cNvSpPr/>
          <p:nvPr/>
        </p:nvSpPr>
        <p:spPr>
          <a:xfrm>
            <a:off x="6812280" y="1828800"/>
            <a:ext cx="4480560" cy="1005840"/>
          </a:xfrm>
          <a:prstGeom prst="rect">
            <a:avLst/>
          </a:prstGeom>
          <a:noFill/>
          <a:ln/>
        </p:spPr>
        <p:txBody>
          <a:bodyPr wrap="square" lIns="0" tIns="0" rIns="0" bIns="0" rtlCol="0" anchor="ctr"/>
          <a:lstStyle/>
          <a:p>
            <a:pPr indent="0" marL="0">
              <a:buNone/>
            </a:pPr>
            <a:r>
              <a:rPr lang="en-US" sz="1050" dirty="0">
                <a:solidFill>
                  <a:srgbClr val="5B6B78"/>
                </a:solidFill>
                <a:latin typeface="Courier New" pitchFamily="34" charset="0"/>
                <a:ea typeface="Courier New" pitchFamily="34" charset="-122"/>
                <a:cs typeface="Courier New" pitchFamily="34" charset="-120"/>
              </a:rPr>
              <a:t>&gt; Estado: 🟢 Estable</a:t>
            </a:r>
            <a:endParaRPr lang="en-US" sz="1050" dirty="0"/>
          </a:p>
          <a:p>
            <a:pPr indent="0" marL="0">
              <a:buNone/>
            </a:pPr>
            <a:r>
              <a:rPr lang="en-US" sz="1050" dirty="0">
                <a:solidFill>
                  <a:srgbClr val="5B6B78"/>
                </a:solidFill>
                <a:latin typeface="Courier New" pitchFamily="34" charset="0"/>
                <a:ea typeface="Courier New" pitchFamily="34" charset="-122"/>
                <a:cs typeface="Courier New" pitchFamily="34" charset="-120"/>
              </a:rPr>
              <a:t>&gt; Última actualización: 2026-07-03</a:t>
            </a:r>
            <a:endParaRPr lang="en-US" sz="1050" dirty="0"/>
          </a:p>
          <a:p>
            <a:pPr indent="0" marL="0">
              <a:buNone/>
            </a:pPr>
            <a:r>
              <a:rPr lang="en-US" sz="1050" dirty="0">
                <a:solidFill>
                  <a:srgbClr val="5B6B78"/>
                </a:solidFill>
                <a:latin typeface="Courier New" pitchFamily="34" charset="0"/>
                <a:ea typeface="Courier New" pitchFamily="34" charset="-122"/>
                <a:cs typeface="Courier New" pitchFamily="34" charset="-120"/>
              </a:rPr>
              <a:t>&gt; Autor: Equipo ADSO</a:t>
            </a:r>
            <a:endParaRPr lang="en-US" sz="1050" dirty="0"/>
          </a:p>
          <a:p>
            <a:pPr indent="0" marL="0">
              <a:buNone/>
            </a:pPr>
            <a:r>
              <a:rPr lang="en-US" sz="1050" dirty="0">
                <a:solidFill>
                  <a:srgbClr val="5B6B78"/>
                </a:solidFill>
                <a:latin typeface="Courier New" pitchFamily="34" charset="0"/>
                <a:ea typeface="Courier New" pitchFamily="34" charset="-122"/>
                <a:cs typeface="Courier New" pitchFamily="34" charset="-120"/>
              </a:rPr>
              <a:t>&gt; Fuente: SRS v1.0</a:t>
            </a:r>
            <a:endParaRPr lang="en-US" sz="1050" dirty="0"/>
          </a:p>
        </p:txBody>
      </p:sp>
      <p:sp>
        <p:nvSpPr>
          <p:cNvPr id="9" name="Shape 6"/>
          <p:cNvSpPr/>
          <p:nvPr/>
        </p:nvSpPr>
        <p:spPr>
          <a:xfrm>
            <a:off x="6812280" y="2926080"/>
            <a:ext cx="4480560" cy="0"/>
          </a:xfrm>
          <a:prstGeom prst="line">
            <a:avLst/>
          </a:prstGeom>
          <a:noFill/>
          <a:ln w="12700">
            <a:solidFill>
              <a:srgbClr val="C7D9E0"/>
            </a:solidFill>
            <a:prstDash val="solid"/>
          </a:ln>
        </p:spPr>
      </p:sp>
      <p:sp>
        <p:nvSpPr>
          <p:cNvPr id="10" name="Text 7"/>
          <p:cNvSpPr/>
          <p:nvPr/>
        </p:nvSpPr>
        <p:spPr>
          <a:xfrm>
            <a:off x="6812280" y="3108960"/>
            <a:ext cx="4480560" cy="365760"/>
          </a:xfrm>
          <a:prstGeom prst="rect">
            <a:avLst/>
          </a:prstGeom>
          <a:noFill/>
          <a:ln/>
        </p:spPr>
        <p:txBody>
          <a:bodyPr wrap="square" lIns="0" tIns="0" rIns="0" bIns="0" rtlCol="0" anchor="ctr"/>
          <a:lstStyle/>
          <a:p>
            <a:pPr indent="0" marL="0">
              <a:buNone/>
            </a:pPr>
            <a:r>
              <a:rPr lang="en-US" sz="1200" b="1" dirty="0">
                <a:solidFill>
                  <a:srgbClr val="065A82"/>
                </a:solidFill>
                <a:latin typeface="Courier New" pitchFamily="34" charset="0"/>
                <a:ea typeface="Courier New" pitchFamily="34" charset="-122"/>
                <a:cs typeface="Courier New" pitchFamily="34" charset="-120"/>
              </a:rPr>
              <a:t>## Contexto</a:t>
            </a:r>
            <a:endParaRPr lang="en-US" sz="1200" dirty="0"/>
          </a:p>
        </p:txBody>
      </p:sp>
      <p:sp>
        <p:nvSpPr>
          <p:cNvPr id="11" name="Shape 8"/>
          <p:cNvSpPr/>
          <p:nvPr/>
        </p:nvSpPr>
        <p:spPr>
          <a:xfrm>
            <a:off x="6812280" y="3520440"/>
            <a:ext cx="4032504" cy="118872"/>
          </a:xfrm>
          <a:prstGeom prst="rect">
            <a:avLst/>
          </a:prstGeom>
          <a:solidFill>
            <a:srgbClr val="D3E3EA"/>
          </a:solidFill>
          <a:ln/>
        </p:spPr>
      </p:sp>
      <p:sp>
        <p:nvSpPr>
          <p:cNvPr id="12" name="Text 9"/>
          <p:cNvSpPr/>
          <p:nvPr/>
        </p:nvSpPr>
        <p:spPr>
          <a:xfrm>
            <a:off x="6812280" y="4114800"/>
            <a:ext cx="4480560" cy="365760"/>
          </a:xfrm>
          <a:prstGeom prst="rect">
            <a:avLst/>
          </a:prstGeom>
          <a:noFill/>
          <a:ln/>
        </p:spPr>
        <p:txBody>
          <a:bodyPr wrap="square" lIns="0" tIns="0" rIns="0" bIns="0" rtlCol="0" anchor="ctr"/>
          <a:lstStyle/>
          <a:p>
            <a:pPr indent="0" marL="0">
              <a:buNone/>
            </a:pPr>
            <a:r>
              <a:rPr lang="en-US" sz="1200" b="1" dirty="0">
                <a:solidFill>
                  <a:srgbClr val="065A82"/>
                </a:solidFill>
                <a:latin typeface="Courier New" pitchFamily="34" charset="0"/>
                <a:ea typeface="Courier New" pitchFamily="34" charset="-122"/>
                <a:cs typeface="Courier New" pitchFamily="34" charset="-120"/>
              </a:rPr>
              <a:t>## Contenido</a:t>
            </a:r>
            <a:endParaRPr lang="en-US" sz="1200" dirty="0"/>
          </a:p>
        </p:txBody>
      </p:sp>
      <p:sp>
        <p:nvSpPr>
          <p:cNvPr id="13" name="Shape 10"/>
          <p:cNvSpPr/>
          <p:nvPr/>
        </p:nvSpPr>
        <p:spPr>
          <a:xfrm>
            <a:off x="6812280" y="4526280"/>
            <a:ext cx="3360420" cy="118872"/>
          </a:xfrm>
          <a:prstGeom prst="rect">
            <a:avLst/>
          </a:prstGeom>
          <a:solidFill>
            <a:srgbClr val="D3E3EA"/>
          </a:solidFill>
          <a:ln/>
        </p:spPr>
      </p:sp>
      <p:sp>
        <p:nvSpPr>
          <p:cNvPr id="14" name="Text 11"/>
          <p:cNvSpPr/>
          <p:nvPr/>
        </p:nvSpPr>
        <p:spPr>
          <a:xfrm>
            <a:off x="6812280" y="5120640"/>
            <a:ext cx="4480560" cy="365760"/>
          </a:xfrm>
          <a:prstGeom prst="rect">
            <a:avLst/>
          </a:prstGeom>
          <a:noFill/>
          <a:ln/>
        </p:spPr>
        <p:txBody>
          <a:bodyPr wrap="square" lIns="0" tIns="0" rIns="0" bIns="0" rtlCol="0" anchor="ctr"/>
          <a:lstStyle/>
          <a:p>
            <a:pPr indent="0" marL="0">
              <a:buNone/>
            </a:pPr>
            <a:r>
              <a:rPr lang="en-US" sz="1200" b="1" dirty="0">
                <a:solidFill>
                  <a:srgbClr val="065A82"/>
                </a:solidFill>
                <a:latin typeface="Courier New" pitchFamily="34" charset="0"/>
                <a:ea typeface="Courier New" pitchFamily="34" charset="-122"/>
                <a:cs typeface="Courier New" pitchFamily="34" charset="-120"/>
              </a:rPr>
              <a:t>## Referencias</a:t>
            </a:r>
            <a:endParaRPr lang="en-US" sz="1200" dirty="0"/>
          </a:p>
        </p:txBody>
      </p:sp>
      <p:sp>
        <p:nvSpPr>
          <p:cNvPr id="15" name="Shape 12"/>
          <p:cNvSpPr/>
          <p:nvPr/>
        </p:nvSpPr>
        <p:spPr>
          <a:xfrm>
            <a:off x="6812280" y="5532120"/>
            <a:ext cx="2688336" cy="118872"/>
          </a:xfrm>
          <a:prstGeom prst="rect">
            <a:avLst/>
          </a:prstGeom>
          <a:solidFill>
            <a:srgbClr val="D3E3E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Los colores dicen qué tan lista está cada parte</a:t>
            </a:r>
            <a:endParaRPr lang="en-US" sz="2600" dirty="0"/>
          </a:p>
        </p:txBody>
      </p:sp>
      <p:sp>
        <p:nvSpPr>
          <p:cNvPr id="3" name="Text 1"/>
          <p:cNvSpPr/>
          <p:nvPr/>
        </p:nvSpPr>
        <p:spPr>
          <a:xfrm>
            <a:off x="548640" y="1143000"/>
            <a:ext cx="10515600" cy="457200"/>
          </a:xfrm>
          <a:prstGeom prst="rect">
            <a:avLst/>
          </a:prstGeom>
          <a:noFill/>
          <a:ln/>
        </p:spPr>
        <p:txBody>
          <a:bodyPr wrap="square" lIns="0" tIns="0" rIns="0" bIns="0" rtlCol="0" anchor="ctr"/>
          <a:lstStyle/>
          <a:p>
            <a:pPr indent="0" marL="0">
              <a:buNone/>
            </a:pPr>
            <a:r>
              <a:rPr lang="en-US" sz="1350" dirty="0">
                <a:solidFill>
                  <a:srgbClr val="C3D3DE"/>
                </a:solidFill>
                <a:latin typeface="Calibri" pitchFamily="34" charset="0"/>
                <a:ea typeface="Calibri" pitchFamily="34" charset="-122"/>
                <a:cs typeface="Calibri" pitchFamily="34" charset="-120"/>
              </a:rPr>
              <a:t>Cada archivo tiene un semáforo de estado. Así, sin abrir todo, cualquiera sabe qué tan avanzada va cada sección del proyecto.</a:t>
            </a:r>
            <a:endParaRPr lang="en-US" sz="1350" dirty="0"/>
          </a:p>
        </p:txBody>
      </p:sp>
      <p:sp>
        <p:nvSpPr>
          <p:cNvPr id="4" name="Shape 2"/>
          <p:cNvSpPr/>
          <p:nvPr/>
        </p:nvSpPr>
        <p:spPr>
          <a:xfrm>
            <a:off x="548640" y="1965960"/>
            <a:ext cx="11064240" cy="868680"/>
          </a:xfrm>
          <a:prstGeom prst="roundRect">
            <a:avLst>
              <a:gd name="adj" fmla="val 8421"/>
            </a:avLst>
          </a:prstGeom>
          <a:solidFill>
            <a:srgbClr val="065A82">
              <a:alpha val="45000"/>
            </a:srgbClr>
          </a:solidFill>
          <a:ln/>
        </p:spPr>
      </p:sp>
      <p:sp>
        <p:nvSpPr>
          <p:cNvPr id="5" name="Shape 3"/>
          <p:cNvSpPr/>
          <p:nvPr/>
        </p:nvSpPr>
        <p:spPr>
          <a:xfrm>
            <a:off x="868680" y="2258568"/>
            <a:ext cx="365760" cy="365760"/>
          </a:xfrm>
          <a:prstGeom prst="ellipse">
            <a:avLst/>
          </a:prstGeom>
          <a:solidFill>
            <a:srgbClr val="E53935"/>
          </a:solidFill>
          <a:ln w="19050">
            <a:solidFill>
              <a:srgbClr val="FFFFFF"/>
            </a:solidFill>
            <a:prstDash val="solid"/>
          </a:ln>
        </p:spPr>
      </p:sp>
      <p:sp>
        <p:nvSpPr>
          <p:cNvPr id="6" name="Text 4"/>
          <p:cNvSpPr/>
          <p:nvPr/>
        </p:nvSpPr>
        <p:spPr>
          <a:xfrm>
            <a:off x="1463040" y="2093976"/>
            <a:ext cx="30175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Pendiente</a:t>
            </a:r>
            <a:endParaRPr lang="en-US" sz="1500" dirty="0"/>
          </a:p>
        </p:txBody>
      </p:sp>
      <p:sp>
        <p:nvSpPr>
          <p:cNvPr id="7" name="Text 5"/>
          <p:cNvSpPr/>
          <p:nvPr/>
        </p:nvSpPr>
        <p:spPr>
          <a:xfrm>
            <a:off x="4572000" y="2093976"/>
            <a:ext cx="6766560" cy="640080"/>
          </a:xfrm>
          <a:prstGeom prst="rect">
            <a:avLst/>
          </a:prstGeom>
          <a:noFill/>
          <a:ln/>
        </p:spPr>
        <p:txBody>
          <a:bodyPr wrap="square" lIns="0" tIns="0" rIns="0" bIns="0" rtlCol="0" anchor="ctr"/>
          <a:lstStyle/>
          <a:p>
            <a:pPr indent="0" marL="0">
              <a:buNone/>
            </a:pPr>
            <a:r>
              <a:rPr lang="en-US" sz="1300" dirty="0">
                <a:solidFill>
                  <a:srgbClr val="E7F2F5"/>
                </a:solidFill>
                <a:latin typeface="Calibri" pitchFamily="34" charset="0"/>
                <a:ea typeface="Calibri" pitchFamily="34" charset="-122"/>
                <a:cs typeface="Calibri" pitchFamily="34" charset="-120"/>
              </a:rPr>
              <a:t>El archivo existe pero todavía no tiene información validada.</a:t>
            </a:r>
            <a:endParaRPr lang="en-US" sz="1300" dirty="0"/>
          </a:p>
        </p:txBody>
      </p:sp>
      <p:sp>
        <p:nvSpPr>
          <p:cNvPr id="8" name="Shape 6"/>
          <p:cNvSpPr/>
          <p:nvPr/>
        </p:nvSpPr>
        <p:spPr>
          <a:xfrm>
            <a:off x="548640" y="3017520"/>
            <a:ext cx="11064240" cy="868680"/>
          </a:xfrm>
          <a:prstGeom prst="roundRect">
            <a:avLst>
              <a:gd name="adj" fmla="val 8421"/>
            </a:avLst>
          </a:prstGeom>
          <a:solidFill>
            <a:srgbClr val="065A82">
              <a:alpha val="45000"/>
            </a:srgbClr>
          </a:solidFill>
          <a:ln/>
        </p:spPr>
      </p:sp>
      <p:sp>
        <p:nvSpPr>
          <p:cNvPr id="9" name="Shape 7"/>
          <p:cNvSpPr/>
          <p:nvPr/>
        </p:nvSpPr>
        <p:spPr>
          <a:xfrm>
            <a:off x="868680" y="3310128"/>
            <a:ext cx="365760" cy="365760"/>
          </a:xfrm>
          <a:prstGeom prst="ellipse">
            <a:avLst/>
          </a:prstGeom>
          <a:solidFill>
            <a:srgbClr val="F2A541"/>
          </a:solidFill>
          <a:ln w="19050">
            <a:solidFill>
              <a:srgbClr val="FFFFFF"/>
            </a:solidFill>
            <a:prstDash val="solid"/>
          </a:ln>
        </p:spPr>
      </p:sp>
      <p:sp>
        <p:nvSpPr>
          <p:cNvPr id="10" name="Text 8"/>
          <p:cNvSpPr/>
          <p:nvPr/>
        </p:nvSpPr>
        <p:spPr>
          <a:xfrm>
            <a:off x="1463040" y="3145536"/>
            <a:ext cx="30175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En progreso</a:t>
            </a:r>
            <a:endParaRPr lang="en-US" sz="1500" dirty="0"/>
          </a:p>
        </p:txBody>
      </p:sp>
      <p:sp>
        <p:nvSpPr>
          <p:cNvPr id="11" name="Text 9"/>
          <p:cNvSpPr/>
          <p:nvPr/>
        </p:nvSpPr>
        <p:spPr>
          <a:xfrm>
            <a:off x="4572000" y="3145536"/>
            <a:ext cx="6766560" cy="640080"/>
          </a:xfrm>
          <a:prstGeom prst="rect">
            <a:avLst/>
          </a:prstGeom>
          <a:noFill/>
          <a:ln/>
        </p:spPr>
        <p:txBody>
          <a:bodyPr wrap="square" lIns="0" tIns="0" rIns="0" bIns="0" rtlCol="0" anchor="ctr"/>
          <a:lstStyle/>
          <a:p>
            <a:pPr indent="0" marL="0">
              <a:buNone/>
            </a:pPr>
            <a:r>
              <a:rPr lang="en-US" sz="1300" dirty="0">
                <a:solidFill>
                  <a:srgbClr val="E7F2F5"/>
                </a:solidFill>
                <a:latin typeface="Calibri" pitchFamily="34" charset="0"/>
                <a:ea typeface="Calibri" pitchFamily="34" charset="-122"/>
                <a:cs typeface="Calibri" pitchFamily="34" charset="-120"/>
              </a:rPr>
              <a:t>Ya tiene información, pero parcial, inferida o en revisión.</a:t>
            </a:r>
            <a:endParaRPr lang="en-US" sz="1300" dirty="0"/>
          </a:p>
        </p:txBody>
      </p:sp>
      <p:sp>
        <p:nvSpPr>
          <p:cNvPr id="12" name="Shape 10"/>
          <p:cNvSpPr/>
          <p:nvPr/>
        </p:nvSpPr>
        <p:spPr>
          <a:xfrm>
            <a:off x="548640" y="4069080"/>
            <a:ext cx="11064240" cy="868680"/>
          </a:xfrm>
          <a:prstGeom prst="roundRect">
            <a:avLst>
              <a:gd name="adj" fmla="val 8421"/>
            </a:avLst>
          </a:prstGeom>
          <a:solidFill>
            <a:srgbClr val="065A82">
              <a:alpha val="45000"/>
            </a:srgbClr>
          </a:solidFill>
          <a:ln/>
        </p:spPr>
      </p:sp>
      <p:sp>
        <p:nvSpPr>
          <p:cNvPr id="13" name="Shape 11"/>
          <p:cNvSpPr/>
          <p:nvPr/>
        </p:nvSpPr>
        <p:spPr>
          <a:xfrm>
            <a:off x="868680" y="4361688"/>
            <a:ext cx="365760" cy="365760"/>
          </a:xfrm>
          <a:prstGeom prst="ellipse">
            <a:avLst/>
          </a:prstGeom>
          <a:solidFill>
            <a:srgbClr val="43A047"/>
          </a:solidFill>
          <a:ln w="19050">
            <a:solidFill>
              <a:srgbClr val="FFFFFF"/>
            </a:solidFill>
            <a:prstDash val="solid"/>
          </a:ln>
        </p:spPr>
      </p:sp>
      <p:sp>
        <p:nvSpPr>
          <p:cNvPr id="14" name="Text 12"/>
          <p:cNvSpPr/>
          <p:nvPr/>
        </p:nvSpPr>
        <p:spPr>
          <a:xfrm>
            <a:off x="1463040" y="4197096"/>
            <a:ext cx="30175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Estable</a:t>
            </a:r>
            <a:endParaRPr lang="en-US" sz="1500" dirty="0"/>
          </a:p>
        </p:txBody>
      </p:sp>
      <p:sp>
        <p:nvSpPr>
          <p:cNvPr id="15" name="Text 13"/>
          <p:cNvSpPr/>
          <p:nvPr/>
        </p:nvSpPr>
        <p:spPr>
          <a:xfrm>
            <a:off x="4572000" y="4197096"/>
            <a:ext cx="6766560" cy="640080"/>
          </a:xfrm>
          <a:prstGeom prst="rect">
            <a:avLst/>
          </a:prstGeom>
          <a:noFill/>
          <a:ln/>
        </p:spPr>
        <p:txBody>
          <a:bodyPr wrap="square" lIns="0" tIns="0" rIns="0" bIns="0" rtlCol="0" anchor="ctr"/>
          <a:lstStyle/>
          <a:p>
            <a:pPr indent="0" marL="0">
              <a:buNone/>
            </a:pPr>
            <a:r>
              <a:rPr lang="en-US" sz="1300" dirty="0">
                <a:solidFill>
                  <a:srgbClr val="E7F2F5"/>
                </a:solidFill>
                <a:latin typeface="Calibri" pitchFamily="34" charset="0"/>
                <a:ea typeface="Calibri" pitchFamily="34" charset="-122"/>
                <a:cs typeface="Calibri" pitchFamily="34" charset="-120"/>
              </a:rPr>
              <a:t>Contenido completo, respaldado y aprobado.</a:t>
            </a:r>
            <a:endParaRPr lang="en-US" sz="1300" dirty="0"/>
          </a:p>
        </p:txBody>
      </p:sp>
      <p:sp>
        <p:nvSpPr>
          <p:cNvPr id="16" name="Shape 14"/>
          <p:cNvSpPr/>
          <p:nvPr/>
        </p:nvSpPr>
        <p:spPr>
          <a:xfrm>
            <a:off x="548640" y="5120640"/>
            <a:ext cx="11064240" cy="868680"/>
          </a:xfrm>
          <a:prstGeom prst="roundRect">
            <a:avLst>
              <a:gd name="adj" fmla="val 8421"/>
            </a:avLst>
          </a:prstGeom>
          <a:solidFill>
            <a:srgbClr val="065A82">
              <a:alpha val="45000"/>
            </a:srgbClr>
          </a:solidFill>
          <a:ln/>
        </p:spPr>
      </p:sp>
      <p:sp>
        <p:nvSpPr>
          <p:cNvPr id="17" name="Shape 15"/>
          <p:cNvSpPr/>
          <p:nvPr/>
        </p:nvSpPr>
        <p:spPr>
          <a:xfrm>
            <a:off x="868680" y="5413248"/>
            <a:ext cx="365760" cy="365760"/>
          </a:xfrm>
          <a:prstGeom prst="ellipse">
            <a:avLst/>
          </a:prstGeom>
          <a:solidFill>
            <a:srgbClr val="757575"/>
          </a:solidFill>
          <a:ln w="19050">
            <a:solidFill>
              <a:srgbClr val="FFFFFF"/>
            </a:solidFill>
            <a:prstDash val="solid"/>
          </a:ln>
        </p:spPr>
      </p:sp>
      <p:sp>
        <p:nvSpPr>
          <p:cNvPr id="18" name="Text 16"/>
          <p:cNvSpPr/>
          <p:nvPr/>
        </p:nvSpPr>
        <p:spPr>
          <a:xfrm>
            <a:off x="1463040" y="5248656"/>
            <a:ext cx="30175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No aplica / Deprecado</a:t>
            </a:r>
            <a:endParaRPr lang="en-US" sz="1500" dirty="0"/>
          </a:p>
        </p:txBody>
      </p:sp>
      <p:sp>
        <p:nvSpPr>
          <p:cNvPr id="19" name="Text 17"/>
          <p:cNvSpPr/>
          <p:nvPr/>
        </p:nvSpPr>
        <p:spPr>
          <a:xfrm>
            <a:off x="4572000" y="5248656"/>
            <a:ext cx="6766560" cy="640080"/>
          </a:xfrm>
          <a:prstGeom prst="rect">
            <a:avLst/>
          </a:prstGeom>
          <a:noFill/>
          <a:ln/>
        </p:spPr>
        <p:txBody>
          <a:bodyPr wrap="square" lIns="0" tIns="0" rIns="0" bIns="0" rtlCol="0" anchor="ctr"/>
          <a:lstStyle/>
          <a:p>
            <a:pPr indent="0" marL="0">
              <a:buNone/>
            </a:pPr>
            <a:r>
              <a:rPr lang="en-US" sz="1300" dirty="0">
                <a:solidFill>
                  <a:srgbClr val="E7F2F5"/>
                </a:solidFill>
                <a:latin typeface="Calibri" pitchFamily="34" charset="0"/>
                <a:ea typeface="Calibri" pitchFamily="34" charset="-122"/>
                <a:cs typeface="Calibri" pitchFamily="34" charset="-120"/>
              </a:rPr>
              <a:t>No corresponde a este proyecto, o fue reemplazado por otro documento.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2600" b="1" dirty="0">
                <a:solidFill>
                  <a:srgbClr val="1B2430"/>
                </a:solidFill>
                <a:latin typeface="Cambria" pitchFamily="34" charset="0"/>
                <a:ea typeface="Cambria" pitchFamily="34" charset="-122"/>
                <a:cs typeface="Cambria" pitchFamily="34" charset="-120"/>
              </a:rPr>
              <a:t>Reglas simples para que nadie desordene el repositorio</a:t>
            </a:r>
            <a:endParaRPr lang="en-US" sz="2600" dirty="0"/>
          </a:p>
        </p:txBody>
      </p:sp>
      <p:sp>
        <p:nvSpPr>
          <p:cNvPr id="3" name="Shape 1"/>
          <p:cNvSpPr/>
          <p:nvPr/>
        </p:nvSpPr>
        <p:spPr>
          <a:xfrm>
            <a:off x="548640" y="1280160"/>
            <a:ext cx="5349240" cy="2286000"/>
          </a:xfrm>
          <a:prstGeom prst="roundRect">
            <a:avLst>
              <a:gd name="adj" fmla="val 4000"/>
            </a:avLst>
          </a:prstGeom>
          <a:solidFill>
            <a:srgbClr val="E7F2F5"/>
          </a:solidFill>
          <a:ln/>
          <a:effectLst>
            <a:outerShdw sx="100000" sy="100000" kx="0" ky="0" algn="bl" rotWithShape="0" blurRad="88900" dist="25400" dir="5400000">
              <a:srgbClr val="000000">
                <a:alpha val="10000"/>
              </a:srgbClr>
            </a:outerShdw>
          </a:effectLst>
        </p:spPr>
      </p:sp>
      <p:sp>
        <p:nvSpPr>
          <p:cNvPr id="4" name="Shape 2"/>
          <p:cNvSpPr/>
          <p:nvPr/>
        </p:nvSpPr>
        <p:spPr>
          <a:xfrm>
            <a:off x="822960" y="1554480"/>
            <a:ext cx="640080" cy="64008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960120" y="1691640"/>
            <a:ext cx="365760" cy="365760"/>
          </a:xfrm>
          <a:prstGeom prst="rect">
            <a:avLst/>
          </a:prstGeom>
        </p:spPr>
      </p:pic>
      <p:sp>
        <p:nvSpPr>
          <p:cNvPr id="6" name="Text 3"/>
          <p:cNvSpPr/>
          <p:nvPr/>
        </p:nvSpPr>
        <p:spPr>
          <a:xfrm>
            <a:off x="1645920" y="1536192"/>
            <a:ext cx="4069080" cy="45720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Nada se edita directo</a:t>
            </a:r>
            <a:endParaRPr lang="en-US" sz="1600" dirty="0"/>
          </a:p>
        </p:txBody>
      </p:sp>
      <p:sp>
        <p:nvSpPr>
          <p:cNvPr id="7" name="Text 4"/>
          <p:cNvSpPr/>
          <p:nvPr/>
        </p:nvSpPr>
        <p:spPr>
          <a:xfrm>
            <a:off x="1645920" y="2011680"/>
            <a:ext cx="4069080" cy="1371600"/>
          </a:xfrm>
          <a:prstGeom prst="rect">
            <a:avLst/>
          </a:prstGeom>
          <a:noFill/>
          <a:ln/>
        </p:spPr>
        <p:txBody>
          <a:bodyPr wrap="square" lIns="0" tIns="0" rIns="0" bIns="0" rtlCol="0" anchor="ctr"/>
          <a:lstStyle/>
          <a:p>
            <a:pPr indent="0" marL="0">
              <a:buNone/>
            </a:pPr>
            <a:r>
              <a:rPr lang="en-US" sz="1200" dirty="0">
                <a:solidFill>
                  <a:srgbClr val="5B6B78"/>
                </a:solidFill>
                <a:latin typeface="Calibri" pitchFamily="34" charset="0"/>
                <a:ea typeface="Calibri" pitchFamily="34" charset="-122"/>
                <a:cs typeface="Calibri" pitchFamily="34" charset="-120"/>
              </a:rPr>
              <a:t>No se toca dev, qa ni main directamente. Todo cambio va por una rama y se revisa antes de unirlo (Pull Request).</a:t>
            </a:r>
            <a:endParaRPr lang="en-US" sz="1200" dirty="0"/>
          </a:p>
        </p:txBody>
      </p:sp>
      <p:sp>
        <p:nvSpPr>
          <p:cNvPr id="8" name="Shape 5"/>
          <p:cNvSpPr/>
          <p:nvPr/>
        </p:nvSpPr>
        <p:spPr>
          <a:xfrm>
            <a:off x="6080760" y="1280160"/>
            <a:ext cx="5349240" cy="2286000"/>
          </a:xfrm>
          <a:prstGeom prst="roundRect">
            <a:avLst>
              <a:gd name="adj" fmla="val 4000"/>
            </a:avLst>
          </a:prstGeom>
          <a:solidFill>
            <a:srgbClr val="E7F2F5"/>
          </a:solidFill>
          <a:ln/>
          <a:effectLst>
            <a:outerShdw sx="100000" sy="100000" kx="0" ky="0" algn="bl" rotWithShape="0" blurRad="88900" dist="25400" dir="5400000">
              <a:srgbClr val="000000">
                <a:alpha val="10000"/>
              </a:srgbClr>
            </a:outerShdw>
          </a:effectLst>
        </p:spPr>
      </p:sp>
      <p:sp>
        <p:nvSpPr>
          <p:cNvPr id="9" name="Shape 6"/>
          <p:cNvSpPr/>
          <p:nvPr/>
        </p:nvSpPr>
        <p:spPr>
          <a:xfrm>
            <a:off x="6355080" y="1554480"/>
            <a:ext cx="640080" cy="640080"/>
          </a:xfrm>
          <a:prstGeom prst="ellipse">
            <a:avLst/>
          </a:prstGeom>
          <a:solidFill>
            <a:srgbClr val="1C7293"/>
          </a:solidFill>
          <a:ln/>
        </p:spPr>
      </p:sp>
      <p:pic>
        <p:nvPicPr>
          <p:cNvPr id="10" name="Image 1" descr="preencoded.png">    </p:cNvPr>
          <p:cNvPicPr>
            <a:picLocks noChangeAspect="1"/>
          </p:cNvPicPr>
          <p:nvPr/>
        </p:nvPicPr>
        <p:blipFill>
          <a:blip r:embed="rId2"/>
          <a:stretch>
            <a:fillRect/>
          </a:stretch>
        </p:blipFill>
        <p:spPr>
          <a:xfrm>
            <a:off x="6492240" y="1691640"/>
            <a:ext cx="365760" cy="365760"/>
          </a:xfrm>
          <a:prstGeom prst="rect">
            <a:avLst/>
          </a:prstGeom>
        </p:spPr>
      </p:pic>
      <p:sp>
        <p:nvSpPr>
          <p:cNvPr id="11" name="Text 7"/>
          <p:cNvSpPr/>
          <p:nvPr/>
        </p:nvSpPr>
        <p:spPr>
          <a:xfrm>
            <a:off x="7178040" y="1536192"/>
            <a:ext cx="4069080" cy="45720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Nombres predecibles</a:t>
            </a:r>
            <a:endParaRPr lang="en-US" sz="1600" dirty="0"/>
          </a:p>
        </p:txBody>
      </p:sp>
      <p:sp>
        <p:nvSpPr>
          <p:cNvPr id="12" name="Text 8"/>
          <p:cNvSpPr/>
          <p:nvPr/>
        </p:nvSpPr>
        <p:spPr>
          <a:xfrm>
            <a:off x="7178040" y="2011680"/>
            <a:ext cx="4069080" cy="1371600"/>
          </a:xfrm>
          <a:prstGeom prst="rect">
            <a:avLst/>
          </a:prstGeom>
          <a:noFill/>
          <a:ln/>
        </p:spPr>
        <p:txBody>
          <a:bodyPr wrap="square" lIns="0" tIns="0" rIns="0" bIns="0" rtlCol="0" anchor="ctr"/>
          <a:lstStyle/>
          <a:p>
            <a:pPr indent="0" marL="0">
              <a:buNone/>
            </a:pPr>
            <a:r>
              <a:rPr lang="en-US" sz="1200" dirty="0">
                <a:solidFill>
                  <a:srgbClr val="5B6B78"/>
                </a:solidFill>
                <a:latin typeface="Calibri" pitchFamily="34" charset="0"/>
                <a:ea typeface="Calibri" pitchFamily="34" charset="-122"/>
                <a:cs typeface="Calibri" pitchFamily="34" charset="-120"/>
              </a:rPr>
              <a:t>Archivos en minúsculas y con guiones (kebab-case). Carpetas con número al inicio (00-, 01-, 02-...).</a:t>
            </a:r>
            <a:endParaRPr lang="en-US" sz="1200" dirty="0"/>
          </a:p>
        </p:txBody>
      </p:sp>
      <p:sp>
        <p:nvSpPr>
          <p:cNvPr id="13" name="Shape 9"/>
          <p:cNvSpPr/>
          <p:nvPr/>
        </p:nvSpPr>
        <p:spPr>
          <a:xfrm>
            <a:off x="548640" y="3794760"/>
            <a:ext cx="5349240" cy="2286000"/>
          </a:xfrm>
          <a:prstGeom prst="roundRect">
            <a:avLst>
              <a:gd name="adj" fmla="val 4000"/>
            </a:avLst>
          </a:prstGeom>
          <a:solidFill>
            <a:srgbClr val="E7F2F5"/>
          </a:solidFill>
          <a:ln/>
          <a:effectLst>
            <a:outerShdw sx="100000" sy="100000" kx="0" ky="0" algn="bl" rotWithShape="0" blurRad="88900" dist="25400" dir="5400000">
              <a:srgbClr val="000000">
                <a:alpha val="10000"/>
              </a:srgbClr>
            </a:outerShdw>
          </a:effectLst>
        </p:spPr>
      </p:sp>
      <p:sp>
        <p:nvSpPr>
          <p:cNvPr id="14" name="Shape 10"/>
          <p:cNvSpPr/>
          <p:nvPr/>
        </p:nvSpPr>
        <p:spPr>
          <a:xfrm>
            <a:off x="822960" y="4069080"/>
            <a:ext cx="640080" cy="640080"/>
          </a:xfrm>
          <a:prstGeom prst="ellipse">
            <a:avLst/>
          </a:prstGeom>
          <a:solidFill>
            <a:srgbClr val="1C7293"/>
          </a:solidFill>
          <a:ln/>
        </p:spPr>
      </p:sp>
      <p:pic>
        <p:nvPicPr>
          <p:cNvPr id="15" name="Image 2" descr="preencoded.png">    </p:cNvPr>
          <p:cNvPicPr>
            <a:picLocks noChangeAspect="1"/>
          </p:cNvPicPr>
          <p:nvPr/>
        </p:nvPicPr>
        <p:blipFill>
          <a:blip r:embed="rId3"/>
          <a:stretch>
            <a:fillRect/>
          </a:stretch>
        </p:blipFill>
        <p:spPr>
          <a:xfrm>
            <a:off x="960120" y="4206240"/>
            <a:ext cx="365760" cy="365760"/>
          </a:xfrm>
          <a:prstGeom prst="rect">
            <a:avLst/>
          </a:prstGeom>
        </p:spPr>
      </p:pic>
      <p:sp>
        <p:nvSpPr>
          <p:cNvPr id="16" name="Text 11"/>
          <p:cNvSpPr/>
          <p:nvPr/>
        </p:nvSpPr>
        <p:spPr>
          <a:xfrm>
            <a:off x="1645920" y="4050792"/>
            <a:ext cx="4069080" cy="45720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Nada sensible se publica</a:t>
            </a:r>
            <a:endParaRPr lang="en-US" sz="1600" dirty="0"/>
          </a:p>
        </p:txBody>
      </p:sp>
      <p:sp>
        <p:nvSpPr>
          <p:cNvPr id="17" name="Text 12"/>
          <p:cNvSpPr/>
          <p:nvPr/>
        </p:nvSpPr>
        <p:spPr>
          <a:xfrm>
            <a:off x="1645920" y="4526280"/>
            <a:ext cx="4069080" cy="1371600"/>
          </a:xfrm>
          <a:prstGeom prst="rect">
            <a:avLst/>
          </a:prstGeom>
          <a:noFill/>
          <a:ln/>
        </p:spPr>
        <p:txBody>
          <a:bodyPr wrap="square" lIns="0" tIns="0" rIns="0" bIns="0" rtlCol="0" anchor="ctr"/>
          <a:lstStyle/>
          <a:p>
            <a:pPr indent="0" marL="0">
              <a:buNone/>
            </a:pPr>
            <a:r>
              <a:rPr lang="en-US" sz="1200" dirty="0">
                <a:solidFill>
                  <a:srgbClr val="5B6B78"/>
                </a:solidFill>
                <a:latin typeface="Calibri" pitchFamily="34" charset="0"/>
                <a:ea typeface="Calibri" pitchFamily="34" charset="-122"/>
                <a:cs typeface="Calibri" pitchFamily="34" charset="-120"/>
              </a:rPr>
              <a:t>No se suben contraseñas, llaves privadas ni datos personales dentro de la documentación.</a:t>
            </a:r>
            <a:endParaRPr lang="en-US" sz="1200" dirty="0"/>
          </a:p>
        </p:txBody>
      </p:sp>
      <p:sp>
        <p:nvSpPr>
          <p:cNvPr id="18" name="Shape 13"/>
          <p:cNvSpPr/>
          <p:nvPr/>
        </p:nvSpPr>
        <p:spPr>
          <a:xfrm>
            <a:off x="6080760" y="3794760"/>
            <a:ext cx="5349240" cy="2286000"/>
          </a:xfrm>
          <a:prstGeom prst="roundRect">
            <a:avLst>
              <a:gd name="adj" fmla="val 4000"/>
            </a:avLst>
          </a:prstGeom>
          <a:solidFill>
            <a:srgbClr val="E7F2F5"/>
          </a:solidFill>
          <a:ln/>
          <a:effectLst>
            <a:outerShdw sx="100000" sy="100000" kx="0" ky="0" algn="bl" rotWithShape="0" blurRad="88900" dist="25400" dir="5400000">
              <a:srgbClr val="000000">
                <a:alpha val="10000"/>
              </a:srgbClr>
            </a:outerShdw>
          </a:effectLst>
        </p:spPr>
      </p:sp>
      <p:sp>
        <p:nvSpPr>
          <p:cNvPr id="19" name="Shape 14"/>
          <p:cNvSpPr/>
          <p:nvPr/>
        </p:nvSpPr>
        <p:spPr>
          <a:xfrm>
            <a:off x="6355080" y="4069080"/>
            <a:ext cx="640080" cy="640080"/>
          </a:xfrm>
          <a:prstGeom prst="ellipse">
            <a:avLst/>
          </a:prstGeom>
          <a:solidFill>
            <a:srgbClr val="1C7293"/>
          </a:solidFill>
          <a:ln/>
        </p:spPr>
      </p:sp>
      <p:pic>
        <p:nvPicPr>
          <p:cNvPr id="20" name="Image 3" descr="preencoded.png">    </p:cNvPr>
          <p:cNvPicPr>
            <a:picLocks noChangeAspect="1"/>
          </p:cNvPicPr>
          <p:nvPr/>
        </p:nvPicPr>
        <p:blipFill>
          <a:blip r:embed="rId4"/>
          <a:stretch>
            <a:fillRect/>
          </a:stretch>
        </p:blipFill>
        <p:spPr>
          <a:xfrm>
            <a:off x="6492240" y="4206240"/>
            <a:ext cx="365760" cy="365760"/>
          </a:xfrm>
          <a:prstGeom prst="rect">
            <a:avLst/>
          </a:prstGeom>
        </p:spPr>
      </p:pic>
      <p:sp>
        <p:nvSpPr>
          <p:cNvPr id="21" name="Text 15"/>
          <p:cNvSpPr/>
          <p:nvPr/>
        </p:nvSpPr>
        <p:spPr>
          <a:xfrm>
            <a:off x="7178040" y="4050792"/>
            <a:ext cx="4069080" cy="45720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Nada se borra, se archiva</a:t>
            </a:r>
            <a:endParaRPr lang="en-US" sz="1600" dirty="0"/>
          </a:p>
        </p:txBody>
      </p:sp>
      <p:sp>
        <p:nvSpPr>
          <p:cNvPr id="22" name="Text 16"/>
          <p:cNvSpPr/>
          <p:nvPr/>
        </p:nvSpPr>
        <p:spPr>
          <a:xfrm>
            <a:off x="7178040" y="4526280"/>
            <a:ext cx="4069080" cy="1371600"/>
          </a:xfrm>
          <a:prstGeom prst="rect">
            <a:avLst/>
          </a:prstGeom>
          <a:noFill/>
          <a:ln/>
        </p:spPr>
        <p:txBody>
          <a:bodyPr wrap="square" lIns="0" tIns="0" rIns="0" bIns="0" rtlCol="0" anchor="ctr"/>
          <a:lstStyle/>
          <a:p>
            <a:pPr indent="0" marL="0">
              <a:buNone/>
            </a:pPr>
            <a:r>
              <a:rPr lang="en-US" sz="1200" dirty="0">
                <a:solidFill>
                  <a:srgbClr val="5B6B78"/>
                </a:solidFill>
                <a:latin typeface="Calibri" pitchFamily="34" charset="0"/>
                <a:ea typeface="Calibri" pitchFamily="34" charset="-122"/>
                <a:cs typeface="Calibri" pitchFamily="34" charset="-120"/>
              </a:rPr>
              <a:t>Si un documento queda obsoleto, se mueve a 99-archive en vez de eliminarlo, para no perder el historial.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 y="777240"/>
            <a:ext cx="640080" cy="640080"/>
          </a:xfrm>
          <a:prstGeom prst="rect">
            <a:avLst/>
          </a:prstGeom>
        </p:spPr>
      </p:pic>
      <p:sp>
        <p:nvSpPr>
          <p:cNvPr id="3" name="Text 0"/>
          <p:cNvSpPr/>
          <p:nvPr/>
        </p:nvSpPr>
        <p:spPr>
          <a:xfrm>
            <a:off x="1600200" y="777240"/>
            <a:ext cx="96012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¿Por qué nos conviene documentar así?</a:t>
            </a:r>
            <a:endParaRPr lang="en-US" sz="2600" dirty="0"/>
          </a:p>
        </p:txBody>
      </p:sp>
      <p:pic>
        <p:nvPicPr>
          <p:cNvPr id="4" name="Image 1" descr="preencoded.png">    </p:cNvPr>
          <p:cNvPicPr>
            <a:picLocks noChangeAspect="1"/>
          </p:cNvPicPr>
          <p:nvPr/>
        </p:nvPicPr>
        <p:blipFill>
          <a:blip r:embed="rId2"/>
          <a:stretch>
            <a:fillRect/>
          </a:stretch>
        </p:blipFill>
        <p:spPr>
          <a:xfrm>
            <a:off x="822960" y="1874520"/>
            <a:ext cx="411480" cy="411480"/>
          </a:xfrm>
          <a:prstGeom prst="rect">
            <a:avLst/>
          </a:prstGeom>
        </p:spPr>
      </p:pic>
      <p:sp>
        <p:nvSpPr>
          <p:cNvPr id="5" name="Text 1"/>
          <p:cNvSpPr/>
          <p:nvPr/>
        </p:nvSpPr>
        <p:spPr>
          <a:xfrm>
            <a:off x="1463040" y="1828800"/>
            <a:ext cx="10058400" cy="960120"/>
          </a:xfrm>
          <a:prstGeom prst="rect">
            <a:avLst/>
          </a:prstGeom>
          <a:noFill/>
          <a:ln/>
        </p:spPr>
        <p:txBody>
          <a:bodyPr wrap="square" lIns="0" tIns="0" rIns="0" bIns="0" rtlCol="0" anchor="ctr"/>
          <a:lstStyle/>
          <a:p>
            <a:pPr indent="0" marL="0">
              <a:buNone/>
            </a:pPr>
            <a:r>
              <a:rPr lang="en-US" sz="1500" dirty="0">
                <a:solidFill>
                  <a:srgbClr val="E7F2F5"/>
                </a:solidFill>
                <a:latin typeface="Calibri" pitchFamily="34" charset="0"/>
                <a:ea typeface="Calibri" pitchFamily="34" charset="-122"/>
                <a:cs typeface="Calibri" pitchFamily="34" charset="-120"/>
              </a:rPr>
              <a:t>Cualquier persona del equipo sabe exactamente dónde buscar algo, sin preguntar.</a:t>
            </a:r>
            <a:endParaRPr lang="en-US" sz="1500" dirty="0"/>
          </a:p>
        </p:txBody>
      </p:sp>
      <p:pic>
        <p:nvPicPr>
          <p:cNvPr id="6" name="Image 2" descr="preencoded.png">    </p:cNvPr>
          <p:cNvPicPr>
            <a:picLocks noChangeAspect="1"/>
          </p:cNvPicPr>
          <p:nvPr/>
        </p:nvPicPr>
        <p:blipFill>
          <a:blip r:embed="rId3"/>
          <a:stretch>
            <a:fillRect/>
          </a:stretch>
        </p:blipFill>
        <p:spPr>
          <a:xfrm>
            <a:off x="822960" y="2926080"/>
            <a:ext cx="411480" cy="411480"/>
          </a:xfrm>
          <a:prstGeom prst="rect">
            <a:avLst/>
          </a:prstGeom>
        </p:spPr>
      </p:pic>
      <p:sp>
        <p:nvSpPr>
          <p:cNvPr id="7" name="Text 2"/>
          <p:cNvSpPr/>
          <p:nvPr/>
        </p:nvSpPr>
        <p:spPr>
          <a:xfrm>
            <a:off x="1463040" y="2880360"/>
            <a:ext cx="10058400" cy="960120"/>
          </a:xfrm>
          <a:prstGeom prst="rect">
            <a:avLst/>
          </a:prstGeom>
          <a:noFill/>
          <a:ln/>
        </p:spPr>
        <p:txBody>
          <a:bodyPr wrap="square" lIns="0" tIns="0" rIns="0" bIns="0" rtlCol="0" anchor="ctr"/>
          <a:lstStyle/>
          <a:p>
            <a:pPr indent="0" marL="0">
              <a:buNone/>
            </a:pPr>
            <a:r>
              <a:rPr lang="en-US" sz="1500" dirty="0">
                <a:solidFill>
                  <a:srgbClr val="E7F2F5"/>
                </a:solidFill>
                <a:latin typeface="Calibri" pitchFamily="34" charset="0"/>
                <a:ea typeface="Calibri" pitchFamily="34" charset="-122"/>
                <a:cs typeface="Calibri" pitchFamily="34" charset="-120"/>
              </a:rPr>
              <a:t>La información no se pierde ni se repite en varios documentos distintos.</a:t>
            </a:r>
            <a:endParaRPr lang="en-US" sz="1500" dirty="0"/>
          </a:p>
        </p:txBody>
      </p:sp>
      <p:pic>
        <p:nvPicPr>
          <p:cNvPr id="8" name="Image 3" descr="preencoded.png">    </p:cNvPr>
          <p:cNvPicPr>
            <a:picLocks noChangeAspect="1"/>
          </p:cNvPicPr>
          <p:nvPr/>
        </p:nvPicPr>
        <p:blipFill>
          <a:blip r:embed="rId4"/>
          <a:stretch>
            <a:fillRect/>
          </a:stretch>
        </p:blipFill>
        <p:spPr>
          <a:xfrm>
            <a:off x="822960" y="3977640"/>
            <a:ext cx="411480" cy="411480"/>
          </a:xfrm>
          <a:prstGeom prst="rect">
            <a:avLst/>
          </a:prstGeom>
        </p:spPr>
      </p:pic>
      <p:sp>
        <p:nvSpPr>
          <p:cNvPr id="9" name="Text 3"/>
          <p:cNvSpPr/>
          <p:nvPr/>
        </p:nvSpPr>
        <p:spPr>
          <a:xfrm>
            <a:off x="1463040" y="3931920"/>
            <a:ext cx="10058400" cy="960120"/>
          </a:xfrm>
          <a:prstGeom prst="rect">
            <a:avLst/>
          </a:prstGeom>
          <a:noFill/>
          <a:ln/>
        </p:spPr>
        <p:txBody>
          <a:bodyPr wrap="square" lIns="0" tIns="0" rIns="0" bIns="0" rtlCol="0" anchor="ctr"/>
          <a:lstStyle/>
          <a:p>
            <a:pPr indent="0" marL="0">
              <a:buNone/>
            </a:pPr>
            <a:r>
              <a:rPr lang="en-US" sz="1500" dirty="0">
                <a:solidFill>
                  <a:srgbClr val="E7F2F5"/>
                </a:solidFill>
                <a:latin typeface="Calibri" pitchFamily="34" charset="0"/>
                <a:ea typeface="Calibri" pitchFamily="34" charset="-122"/>
                <a:cs typeface="Calibri" pitchFamily="34" charset="-120"/>
              </a:rPr>
              <a:t>El proyecto puede crecer (nuevas funciones, más módulos) sin desordenar lo ya escrito.</a:t>
            </a:r>
            <a:endParaRPr lang="en-US" sz="1500" dirty="0"/>
          </a:p>
        </p:txBody>
      </p:sp>
      <p:pic>
        <p:nvPicPr>
          <p:cNvPr id="10" name="Image 4" descr="preencoded.png">    </p:cNvPr>
          <p:cNvPicPr>
            <a:picLocks noChangeAspect="1"/>
          </p:cNvPicPr>
          <p:nvPr/>
        </p:nvPicPr>
        <p:blipFill>
          <a:blip r:embed="rId5"/>
          <a:stretch>
            <a:fillRect/>
          </a:stretch>
        </p:blipFill>
        <p:spPr>
          <a:xfrm>
            <a:off x="822960" y="5029200"/>
            <a:ext cx="411480" cy="411480"/>
          </a:xfrm>
          <a:prstGeom prst="rect">
            <a:avLst/>
          </a:prstGeom>
        </p:spPr>
      </p:pic>
      <p:sp>
        <p:nvSpPr>
          <p:cNvPr id="11" name="Text 4"/>
          <p:cNvSpPr/>
          <p:nvPr/>
        </p:nvSpPr>
        <p:spPr>
          <a:xfrm>
            <a:off x="1463040" y="4983480"/>
            <a:ext cx="10058400" cy="960120"/>
          </a:xfrm>
          <a:prstGeom prst="rect">
            <a:avLst/>
          </a:prstGeom>
          <a:noFill/>
          <a:ln/>
        </p:spPr>
        <p:txBody>
          <a:bodyPr wrap="square" lIns="0" tIns="0" rIns="0" bIns="0" rtlCol="0" anchor="ctr"/>
          <a:lstStyle/>
          <a:p>
            <a:pPr indent="0" marL="0">
              <a:buNone/>
            </a:pPr>
            <a:r>
              <a:rPr lang="en-US" sz="1500" dirty="0">
                <a:solidFill>
                  <a:srgbClr val="E7F2F5"/>
                </a:solidFill>
                <a:latin typeface="Calibri" pitchFamily="34" charset="0"/>
                <a:ea typeface="Calibri" pitchFamily="34" charset="-122"/>
                <a:cs typeface="Calibri" pitchFamily="34" charset="-120"/>
              </a:rPr>
              <a:t>Queda un rastro claro de qué se decidió, cuándo y por qué — útil para sustentar el trabajo ante el instructor.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11064240" cy="5760720"/>
          </a:xfrm>
          <a:prstGeom prst="roundRect">
            <a:avLst>
              <a:gd name="adj" fmla="val 1905"/>
            </a:avLst>
          </a:prstGeom>
          <a:solidFill>
            <a:srgbClr val="E7F2F5"/>
          </a:solidFill>
          <a:ln/>
        </p:spPr>
      </p:sp>
      <p:pic>
        <p:nvPicPr>
          <p:cNvPr id="3" name="Image 0" descr="preencoded.png">    </p:cNvPr>
          <p:cNvPicPr>
            <a:picLocks noChangeAspect="1"/>
          </p:cNvPicPr>
          <p:nvPr/>
        </p:nvPicPr>
        <p:blipFill>
          <a:blip r:embed="rId1"/>
          <a:stretch>
            <a:fillRect/>
          </a:stretch>
        </p:blipFill>
        <p:spPr>
          <a:xfrm>
            <a:off x="914400" y="914400"/>
            <a:ext cx="640080" cy="640080"/>
          </a:xfrm>
          <a:prstGeom prst="rect">
            <a:avLst/>
          </a:prstGeom>
        </p:spPr>
      </p:pic>
      <p:sp>
        <p:nvSpPr>
          <p:cNvPr id="4" name="Text 1"/>
          <p:cNvSpPr/>
          <p:nvPr/>
        </p:nvSpPr>
        <p:spPr>
          <a:xfrm>
            <a:off x="1691640" y="914400"/>
            <a:ext cx="9601200" cy="64008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Lo que ya hicimos con nuestro propio SRS</a:t>
            </a:r>
            <a:endParaRPr lang="en-US" sz="2400" dirty="0"/>
          </a:p>
        </p:txBody>
      </p:sp>
      <p:sp>
        <p:nvSpPr>
          <p:cNvPr id="5" name="Text 2"/>
          <p:cNvSpPr/>
          <p:nvPr/>
        </p:nvSpPr>
        <p:spPr>
          <a:xfrm>
            <a:off x="914400" y="1783080"/>
            <a:ext cx="10332720" cy="54864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Tomamos el SRS del Sistema de Gestión para Supermercado "La Esquina" y lo repartimos siguiendo exactamente esta misma lógica de carpetas: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2468880"/>
          <a:ext cx="10332720" cy="914400"/>
        </p:xfrm>
        <a:graphic>
          <a:graphicData uri="http://schemas.openxmlformats.org/drawingml/2006/table">
            <a:tbl>
              <a:tblPr/>
              <a:tblGrid>
                <a:gridCol w="10332720"/>
              </a:tblGrid>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El contexto y los objetivos del negocio → 01-context</a:t>
                      </a:r>
                      <a:endParaRPr lang="en-US" sz="13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Las entidades del negocio (producto, venta, inventario) → 02-domain</a:t>
                      </a:r>
                      <a:endParaRPr lang="en-US" sz="13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Los requerimientos funcionales y no funcionales → 04-requirements</a:t>
                      </a:r>
                      <a:endParaRPr lang="en-US" sz="13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Los 4 casos de uso convertidos en diagramas → 08-uml</a:t>
                      </a:r>
                      <a:endParaRPr lang="en-US" sz="13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El manual de uso para cajero y administrador → 14-training</a:t>
                      </a:r>
                      <a:endParaRPr lang="en-US" sz="13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Lo que quedó fuera de alcance (DIAN, app móvil, pagos) → 15-project-control</a:t>
                      </a:r>
                      <a:endParaRPr lang="en-US" sz="13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FFFFFF"/>
                    </a:solidFill>
                  </a:tcPr>
                </a:tc>
              </a:tr>
            </a:tbl>
          </a:graphicData>
        </a:graphic>
      </p:graphicFrame>
      <p:sp>
        <p:nvSpPr>
          <p:cNvPr id="7" name="Text 3"/>
          <p:cNvSpPr/>
          <p:nvPr/>
        </p:nvSpPr>
        <p:spPr>
          <a:xfrm>
            <a:off x="914400" y="5532120"/>
            <a:ext cx="10332720" cy="6400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Así, el mismo SRS que ya conocíamos deja de ser un solo documento cerrado y pasa a ser parte de un sistema de documentación que se puede seguir llenando durante todo el proceso de formación.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significa esta carpeta?</dc:title>
  <dc:subject>PptxGenJS Presentation</dc:subject>
  <dc:creator>Aprendices ADSO - SENA</dc:creator>
  <cp:lastModifiedBy>Aprendices ADSO - SENA</cp:lastModifiedBy>
  <cp:revision>1</cp:revision>
  <dcterms:created xsi:type="dcterms:W3CDTF">2026-07-04T04:11:00Z</dcterms:created>
  <dcterms:modified xsi:type="dcterms:W3CDTF">2026-07-04T04:11:00Z</dcterms:modified>
</cp:coreProperties>
</file>