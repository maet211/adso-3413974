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Roboto Light"/>
      <p:regular r:id="rId201314"/>
    </p:embeddedFont>
    <p:embeddedFont>
      <p:font typeface="Roboto"/>
      <p:regular r:id="rId201315"/>
    </p:embeddedFont>
    <p:embeddedFont>
      <p:font typeface="Roboto Thin"/>
      <p:regular r:id="rId201316"/>
    </p:embeddedFont>
    <p:embeddedFont>
      <p:font typeface="Roboto ExtraLight"/>
      <p:regular r:id="rId201317"/>
    </p:embeddedFont>
    <p:embeddedFont>
      <p:font typeface="Roboto Medium"/>
      <p:regular r:id="rId201318"/>
    </p:embeddedFont>
    <p:embeddedFont>
      <p:font typeface="Roboto SemiBold"/>
      <p:regular r:id="rId201319"/>
    </p:embeddedFont>
    <p:embeddedFont>
      <p:font typeface="Roboto Bold"/>
      <p:regular r:id="rId201320"/>
    </p:embeddedFont>
    <p:embeddedFont>
      <p:font typeface="Roboto ExtraBold"/>
      <p:regular r:id="rId201321"/>
    </p:embeddedFont>
    <p:embeddedFont>
      <p:font typeface="Roboto Black"/>
      <p:regular r:id="rId201322"/>
    </p:embeddedFont>
    <p:embeddedFont>
      <p:font typeface="Saira Thin"/>
      <p:regular r:id="rId201323"/>
    </p:embeddedFont>
    <p:embeddedFont>
      <p:font typeface="Saira ExtraLight"/>
      <p:regular r:id="rId201324"/>
    </p:embeddedFont>
    <p:embeddedFont>
      <p:font typeface="Saira Light"/>
      <p:regular r:id="rId201325"/>
    </p:embeddedFont>
    <p:embeddedFont>
      <p:font typeface="Saira"/>
      <p:regular r:id="rId201326"/>
    </p:embeddedFont>
    <p:embeddedFont>
      <p:font typeface="Saira Medium"/>
      <p:regular r:id="rId201327"/>
    </p:embeddedFont>
    <p:embeddedFont>
      <p:font typeface="Saira SemiBold"/>
      <p:regular r:id="rId201328"/>
    </p:embeddedFont>
    <p:embeddedFont>
      <p:font typeface="Saira Bold"/>
      <p:regular r:id="rId201329"/>
    </p:embeddedFont>
    <p:embeddedFont>
      <p:font typeface="Saira ExtraBold"/>
      <p:regular r:id="rId201330"/>
    </p:embeddedFont>
    <p:embeddedFont>
      <p:font typeface="Saira Black"/>
      <p:regular r:id="rId20133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Relationship Id="rId201330" Target="fonts/201330.fntdata" Type="http://schemas.openxmlformats.org/officeDocument/2006/relationships/font"/><Relationship Id="rId201331" Target="fonts/201331.fntdata" Type="http://schemas.openxmlformats.org/officeDocument/2006/relationships/font"/><Relationship Id="rId201332" Target="fonts/201332.fntdata" Type="http://schemas.openxmlformats.org/officeDocument/2006/relationships/font"/><Relationship Id="rId201333" Target="fonts/201333.fntdata" Type="http://schemas.openxmlformats.org/officeDocument/2006/relationships/font"/><Relationship Id="rId201334" Target="fonts/201334.fntdata" Type="http://schemas.openxmlformats.org/officeDocument/2006/relationships/font"/><Relationship Id="rId201335" Target="fonts/20133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4.png"/><Relationship Id="rId5" Type="http://schemas.openxmlformats.org/officeDocument/2006/relationships/image" Target="../media/image-6-5.svg"/><Relationship Id="rId6" Type="http://schemas.openxmlformats.org/officeDocument/2006/relationships/image" Target="../media/image-6-2.png"/><Relationship Id="rId7" Type="http://schemas.openxmlformats.org/officeDocument/2006/relationships/image" Target="../media/image-6-3.svg"/><Relationship Id="rId8" Type="http://schemas.openxmlformats.org/officeDocument/2006/relationships/image" Target="../media/image-6-2.png"/><Relationship Id="rId9" Type="http://schemas.openxmlformats.org/officeDocument/2006/relationships/image" Target="../media/image-6-3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jpeg"/><Relationship Id="rId3" Type="http://schemas.openxmlformats.org/officeDocument/2006/relationships/image" Target="../media/image-7-3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image" Target="../media/image-9-9.png"/><Relationship Id="rId10" Type="http://schemas.openxmlformats.org/officeDocument/2006/relationships/image" Target="../media/image-9-10.svg"/><Relationship Id="rId11" Type="http://schemas.openxmlformats.org/officeDocument/2006/relationships/image" Target="../media/image-9-11.png"/><Relationship Id="rId12" Type="http://schemas.openxmlformats.org/officeDocument/2006/relationships/image" Target="../media/image-9-12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238324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Sistema de Toma de Asistencia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336899"/>
            <a:ext cx="472276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Documento técnico unificado que integra la priorización de funcionalidades mediante MoSCoW, el análisis de ingeniería inversa del sistema actual y el rediseño centrado en el usuario a través de Design Thinking.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925119" y="3403625"/>
            <a:ext cx="1369219" cy="215354"/>
          </a:xfrm>
          <a:prstGeom prst="roundRect">
            <a:avLst>
              <a:gd name="adj" fmla="val 47398"/>
            </a:avLst>
          </a:prstGeom>
          <a:solidFill>
            <a:srgbClr val="4B1E01"/>
          </a:solidFill>
          <a:ln/>
        </p:spPr>
      </p:sp>
      <p:sp>
        <p:nvSpPr>
          <p:cNvPr id="6" name="Text 3"/>
          <p:cNvSpPr/>
          <p:nvPr/>
        </p:nvSpPr>
        <p:spPr>
          <a:xfrm>
            <a:off x="4010174" y="3446115"/>
            <a:ext cx="1656308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CAPÍTULO 1 · MOSCOW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365179" y="3403625"/>
            <a:ext cx="1965127" cy="215354"/>
          </a:xfrm>
          <a:prstGeom prst="roundRect">
            <a:avLst>
              <a:gd name="adj" fmla="val 47398"/>
            </a:avLst>
          </a:prstGeom>
          <a:solidFill>
            <a:srgbClr val="4B1E01"/>
          </a:solidFill>
          <a:ln/>
        </p:spPr>
      </p:sp>
      <p:sp>
        <p:nvSpPr>
          <p:cNvPr id="8" name="Text 5"/>
          <p:cNvSpPr/>
          <p:nvPr/>
        </p:nvSpPr>
        <p:spPr>
          <a:xfrm>
            <a:off x="5450235" y="3446115"/>
            <a:ext cx="2252216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CAPÍTULO 2 · INGENIERÍA INVERSA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3925119" y="3689821"/>
            <a:ext cx="1813694" cy="215354"/>
          </a:xfrm>
          <a:prstGeom prst="roundRect">
            <a:avLst>
              <a:gd name="adj" fmla="val 47398"/>
            </a:avLst>
          </a:prstGeom>
          <a:solidFill>
            <a:srgbClr val="4B1E01"/>
          </a:solidFill>
          <a:ln/>
        </p:spPr>
      </p:sp>
      <p:sp>
        <p:nvSpPr>
          <p:cNvPr id="10" name="Text 7"/>
          <p:cNvSpPr/>
          <p:nvPr/>
        </p:nvSpPr>
        <p:spPr>
          <a:xfrm>
            <a:off x="4010174" y="3732312"/>
            <a:ext cx="2100783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CAPÍTULO 3 · DESIGN THINKING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771674"/>
            <a:ext cx="1369219" cy="215354"/>
          </a:xfrm>
          <a:prstGeom prst="roundRect">
            <a:avLst>
              <a:gd name="adj" fmla="val 47398"/>
            </a:avLst>
          </a:prstGeom>
          <a:noFill/>
          <a:ln w="9525">
            <a:solidFill>
              <a:srgbClr val="FC83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1174" y="814164"/>
            <a:ext cx="1656308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FC83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CAPÍTULO 1 · MOSCOW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04373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Clasificación de Funcionalidades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496119" y="1699320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metodología MoSCoW organiza las funcionalidades en cuatro categorías según su prioridad e impacto en el sistema.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96119" y="2085603"/>
            <a:ext cx="4004965" cy="1072232"/>
          </a:xfrm>
          <a:prstGeom prst="roundRect">
            <a:avLst>
              <a:gd name="adj" fmla="val 11900"/>
            </a:avLst>
          </a:prstGeom>
          <a:solidFill>
            <a:srgbClr val="030303"/>
          </a:solidFill>
          <a:ln w="14288">
            <a:solidFill>
              <a:srgbClr val="FC83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2165" y="2241649"/>
            <a:ext cx="369287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Must Have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52165" y="2548161"/>
            <a:ext cx="369287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Funciones indispensables: inicio de sesión, gestión de usuarios, registro de asistencia, historial y reportes.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42842" y="2085603"/>
            <a:ext cx="4005039" cy="1072232"/>
          </a:xfrm>
          <a:prstGeom prst="roundRect">
            <a:avLst>
              <a:gd name="adj" fmla="val 11900"/>
            </a:avLst>
          </a:prstGeom>
          <a:solidFill>
            <a:srgbClr val="030303"/>
          </a:solidFill>
          <a:ln w="14288">
            <a:solidFill>
              <a:srgbClr val="FC83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98888" y="2241649"/>
            <a:ext cx="36929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Should Have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798888" y="2548161"/>
            <a:ext cx="369294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Mejoras clave: dashboard, estadísticas, gráficas, exportación a Excel, filtros y QR dinámico.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96119" y="3299594"/>
            <a:ext cx="4004965" cy="1072232"/>
          </a:xfrm>
          <a:prstGeom prst="roundRect">
            <a:avLst>
              <a:gd name="adj" fmla="val 11900"/>
            </a:avLst>
          </a:prstGeom>
          <a:solidFill>
            <a:srgbClr val="030303"/>
          </a:solidFill>
          <a:ln w="14288">
            <a:solidFill>
              <a:srgbClr val="FC833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2165" y="3455640"/>
            <a:ext cx="369287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Could Have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52165" y="3762152"/>
            <a:ext cx="369287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Comodidad adicional: notificaciones, calendario académico, perfil de usuario y modo oscuro.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42842" y="3299594"/>
            <a:ext cx="4005039" cy="1072232"/>
          </a:xfrm>
          <a:prstGeom prst="roundRect">
            <a:avLst>
              <a:gd name="adj" fmla="val 11900"/>
            </a:avLst>
          </a:prstGeom>
          <a:solidFill>
            <a:srgbClr val="030303"/>
          </a:solidFill>
          <a:ln w="14288">
            <a:solidFill>
              <a:srgbClr val="FC83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98888" y="3455640"/>
            <a:ext cx="36929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Won't Have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798888" y="3762152"/>
            <a:ext cx="369294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Fuera de alcance: IA, reconocimiento facial, biometría, GPS e integración con SOFIA Plus.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97594"/>
            <a:ext cx="1262137" cy="198462"/>
          </a:xfrm>
          <a:prstGeom prst="roundRect">
            <a:avLst>
              <a:gd name="adj" fmla="val 47414"/>
            </a:avLst>
          </a:prstGeom>
          <a:noFill/>
          <a:ln w="9525">
            <a:solidFill>
              <a:srgbClr val="FC83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4477" y="436736"/>
            <a:ext cx="1562621" cy="120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FC83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CAPÍTULO 1 · MOSCOW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96119" y="644203"/>
            <a:ext cx="8151763" cy="408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Tabla MoSCoW y Actualización del SRS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496119" y="1368772"/>
            <a:ext cx="3916487" cy="3241551"/>
          </a:xfrm>
          <a:prstGeom prst="roundRect">
            <a:avLst>
              <a:gd name="adj" fmla="val 3629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96119" y="1730797"/>
            <a:ext cx="3916487" cy="8168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96119" y="2090440"/>
            <a:ext cx="3916487" cy="8168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96119" y="2450083"/>
            <a:ext cx="3916487" cy="8168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96119" y="2809726"/>
            <a:ext cx="3916487" cy="8168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496119" y="3169369"/>
            <a:ext cx="3916487" cy="8168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96119" y="3529013"/>
            <a:ext cx="3916487" cy="8168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496119" y="3888656"/>
            <a:ext cx="3916487" cy="8168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496119" y="4248299"/>
            <a:ext cx="3916487" cy="8168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31627" y="1450553"/>
            <a:ext cx="2539975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Funcionalidad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975744" y="1450553"/>
            <a:ext cx="1758628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Categoría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31627" y="1810196"/>
            <a:ext cx="2539975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Inicio de sesión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975744" y="1810196"/>
            <a:ext cx="1758628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Must Have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31627" y="2169840"/>
            <a:ext cx="2539975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Gestión de usuarios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975744" y="2169840"/>
            <a:ext cx="1758628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Must Have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31627" y="2529483"/>
            <a:ext cx="2539975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Registro de asistencia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975744" y="2529483"/>
            <a:ext cx="1758628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Must Have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31627" y="2889126"/>
            <a:ext cx="2539975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Dashboard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975744" y="2889126"/>
            <a:ext cx="1758628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Should Have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31627" y="3248769"/>
            <a:ext cx="2539975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Exportar a Excel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975744" y="3248769"/>
            <a:ext cx="1758628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Should Have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31627" y="3608412"/>
            <a:ext cx="2539975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QR dinámico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975744" y="3608412"/>
            <a:ext cx="1758628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Should Have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31627" y="3968055"/>
            <a:ext cx="2539975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Notificaciones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975744" y="3968055"/>
            <a:ext cx="1758628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Could Have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31627" y="4327699"/>
            <a:ext cx="2539975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IA / Biometría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975744" y="4327699"/>
            <a:ext cx="1758628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Won't Have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36157" y="1353741"/>
            <a:ext cx="3916487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Nuevos Requisitos Funcionales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4736157" y="1678335"/>
            <a:ext cx="3916487" cy="16586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3200" indent="-203200">
              <a:lnSpc>
                <a:spcPct val="128000"/>
              </a:lnSpc>
              <a:buSzPct val="100000"/>
              <a:buChar char="•"/>
            </a:pPr>
            <a:r>
              <a:rPr lang="en-US" sz="10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RF-12:</a:t>
            </a:r>
            <a:pPr algn="l" marL="203200" indent="-203200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Dashboard</a:t>
            </a:r>
            <a:endParaRPr lang="en-US" sz="1000" dirty="0"/>
          </a:p>
          <a:p>
            <a:pPr algn="l" marL="203200" indent="-203200">
              <a:lnSpc>
                <a:spcPct val="128000"/>
              </a:lnSpc>
              <a:buSzPct val="100000"/>
              <a:buChar char="•"/>
            </a:pPr>
            <a:r>
              <a:rPr lang="en-US" sz="10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RF-13:</a:t>
            </a:r>
            <a:pPr algn="l" marL="203200" indent="-203200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Estadísticas</a:t>
            </a:r>
            <a:endParaRPr lang="en-US" sz="1000" dirty="0"/>
          </a:p>
          <a:p>
            <a:pPr algn="l" marL="203200" indent="-203200">
              <a:lnSpc>
                <a:spcPct val="128000"/>
              </a:lnSpc>
              <a:buSzPct val="100000"/>
              <a:buChar char="•"/>
            </a:pPr>
            <a:r>
              <a:rPr lang="en-US" sz="10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RF-14:</a:t>
            </a:r>
            <a:pPr algn="l" marL="203200" indent="-203200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QR dinámico</a:t>
            </a:r>
            <a:endParaRPr lang="en-US" sz="1000" dirty="0"/>
          </a:p>
          <a:p>
            <a:pPr algn="l" marL="203200" indent="-203200">
              <a:lnSpc>
                <a:spcPct val="128000"/>
              </a:lnSpc>
              <a:buSzPct val="100000"/>
              <a:buChar char="•"/>
            </a:pPr>
            <a:r>
              <a:rPr lang="en-US" sz="10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RF-15:</a:t>
            </a:r>
            <a:pPr algn="l" marL="203200" indent="-203200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Indicadores</a:t>
            </a:r>
            <a:endParaRPr lang="en-US" sz="1000" dirty="0"/>
          </a:p>
          <a:p>
            <a:pPr algn="l" marL="203200" indent="-203200">
              <a:lnSpc>
                <a:spcPct val="128000"/>
              </a:lnSpc>
              <a:buSzPct val="100000"/>
              <a:buChar char="•"/>
            </a:pPr>
            <a:r>
              <a:rPr lang="en-US" sz="10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RF-16:</a:t>
            </a:r>
            <a:pPr algn="l" marL="203200" indent="-203200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Exportar Excel</a:t>
            </a:r>
            <a:endParaRPr lang="en-US" sz="1000" dirty="0"/>
          </a:p>
          <a:p>
            <a:pPr algn="l" marL="203200" indent="-203200">
              <a:lnSpc>
                <a:spcPct val="128000"/>
              </a:lnSpc>
              <a:buSzPct val="100000"/>
              <a:buChar char="•"/>
            </a:pPr>
            <a:r>
              <a:rPr lang="en-US" sz="10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RF-17:</a:t>
            </a:r>
            <a:pPr algn="l" marL="203200" indent="-203200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Notificaciones</a:t>
            </a:r>
            <a:endParaRPr lang="en-US" sz="1000" dirty="0"/>
          </a:p>
          <a:p>
            <a:pPr algn="l" marL="203200" indent="-203200">
              <a:lnSpc>
                <a:spcPct val="128000"/>
              </a:lnSpc>
              <a:buSzPct val="100000"/>
              <a:buChar char="•"/>
            </a:pPr>
            <a:r>
              <a:rPr lang="en-US" sz="10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RF-18:</a:t>
            </a:r>
            <a:pPr algn="l" marL="203200" indent="-203200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Auditoría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36157" y="3472458"/>
            <a:ext cx="3916487" cy="683865"/>
          </a:xfrm>
          <a:prstGeom prst="roundRect">
            <a:avLst>
              <a:gd name="adj" fmla="val 17200"/>
            </a:avLst>
          </a:prstGeom>
          <a:solidFill>
            <a:srgbClr val="7E3202"/>
          </a:solidFill>
          <a:ln/>
        </p:spPr>
      </p:sp>
      <p:pic>
        <p:nvPicPr>
          <p:cNvPr id="3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66829" y="3664297"/>
            <a:ext cx="163339" cy="130671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5160838" y="3613547"/>
            <a:ext cx="3361134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casos de uso, modelo de clases y arquitectura deben actualizarse para mantener coherencia documental.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06226"/>
            <a:ext cx="1873374" cy="205234"/>
          </a:xfrm>
          <a:prstGeom prst="roundRect">
            <a:avLst>
              <a:gd name="adj" fmla="val 47404"/>
            </a:avLst>
          </a:prstGeom>
          <a:noFill/>
          <a:ln w="9525">
            <a:solidFill>
              <a:srgbClr val="FC83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7155" y="446708"/>
            <a:ext cx="2168500" cy="124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FC83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CAPÍTULO 2 · INGENIERÍA INVERSA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662955"/>
            <a:ext cx="8151763" cy="42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Arquitectura y Módulos del Sistema Actual</a:t>
            </a:r>
            <a:endParaRPr lang="en-US" sz="2650" dirty="0"/>
          </a:p>
        </p:txBody>
      </p:sp>
      <p:sp>
        <p:nvSpPr>
          <p:cNvPr id="5" name="Text 3"/>
          <p:cNvSpPr/>
          <p:nvPr/>
        </p:nvSpPr>
        <p:spPr>
          <a:xfrm>
            <a:off x="496119" y="1278434"/>
            <a:ext cx="8151763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sistema actual es una aplicación web cliente-servidor construida con </a:t>
            </a:r>
            <a:pPr algn="l"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HTML5, CSS3, Bootstrap, JavaScript, PHP y MySQL</a:t>
            </a:r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organizada en seis módulos funcionales.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96119" y="1845543"/>
            <a:ext cx="4011513" cy="807690"/>
          </a:xfrm>
          <a:prstGeom prst="roundRect">
            <a:avLst>
              <a:gd name="adj" fmla="val 15057"/>
            </a:avLst>
          </a:prstGeom>
          <a:solidFill>
            <a:srgbClr val="030303">
              <a:alpha val="75000"/>
            </a:srgbClr>
          </a:solidFill>
          <a:ln w="19050">
            <a:solidFill>
              <a:srgbClr val="FC83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0230" y="1999655"/>
            <a:ext cx="3703290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Autenticación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50230" y="2288009"/>
            <a:ext cx="3703290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Validación de credenciales y control de acceso por rol.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36368" y="1845543"/>
            <a:ext cx="4011513" cy="807690"/>
          </a:xfrm>
          <a:prstGeom prst="roundRect">
            <a:avLst>
              <a:gd name="adj" fmla="val 15057"/>
            </a:avLst>
          </a:prstGeom>
          <a:solidFill>
            <a:srgbClr val="030303">
              <a:alpha val="75000"/>
            </a:srgbClr>
          </a:solidFill>
          <a:ln w="19050">
            <a:solidFill>
              <a:srgbClr val="FC83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90480" y="1999655"/>
            <a:ext cx="3703290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Gestión de Fichas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90480" y="2288009"/>
            <a:ext cx="3703290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Consulta y selección de fichas asignadas al instructor.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96119" y="2781970"/>
            <a:ext cx="4011513" cy="807690"/>
          </a:xfrm>
          <a:prstGeom prst="roundRect">
            <a:avLst>
              <a:gd name="adj" fmla="val 15057"/>
            </a:avLst>
          </a:prstGeom>
          <a:solidFill>
            <a:srgbClr val="030303">
              <a:alpha val="75000"/>
            </a:srgbClr>
          </a:solidFill>
          <a:ln w="19050">
            <a:solidFill>
              <a:srgbClr val="FC833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0230" y="2936081"/>
            <a:ext cx="3703290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Gestión de Aprendices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0230" y="3224436"/>
            <a:ext cx="3703290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Listado, búsqueda por nombre o documento.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36368" y="2781970"/>
            <a:ext cx="4011513" cy="807690"/>
          </a:xfrm>
          <a:prstGeom prst="roundRect">
            <a:avLst>
              <a:gd name="adj" fmla="val 15057"/>
            </a:avLst>
          </a:prstGeom>
          <a:solidFill>
            <a:srgbClr val="030303">
              <a:alpha val="75000"/>
            </a:srgbClr>
          </a:solidFill>
          <a:ln w="19050">
            <a:solidFill>
              <a:srgbClr val="FC83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90480" y="2936081"/>
            <a:ext cx="3703290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Registro de Asistencia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90480" y="3224436"/>
            <a:ext cx="3703290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Marca Asistió, Tarde o Ausente con fecha y hora.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96119" y="3718396"/>
            <a:ext cx="4011513" cy="1018803"/>
          </a:xfrm>
          <a:prstGeom prst="roundRect">
            <a:avLst>
              <a:gd name="adj" fmla="val 11937"/>
            </a:avLst>
          </a:prstGeom>
          <a:solidFill>
            <a:srgbClr val="030303">
              <a:alpha val="75000"/>
            </a:srgbClr>
          </a:solidFill>
          <a:ln w="19050">
            <a:solidFill>
              <a:srgbClr val="FC833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0230" y="3872508"/>
            <a:ext cx="3703290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Historial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50230" y="4160862"/>
            <a:ext cx="3703290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Consulta por fecha, aprendiz o ficha.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36368" y="3718396"/>
            <a:ext cx="4011513" cy="1018803"/>
          </a:xfrm>
          <a:prstGeom prst="roundRect">
            <a:avLst>
              <a:gd name="adj" fmla="val 11937"/>
            </a:avLst>
          </a:prstGeom>
          <a:solidFill>
            <a:srgbClr val="030303">
              <a:alpha val="75000"/>
            </a:srgbClr>
          </a:solidFill>
          <a:ln w="19050">
            <a:solidFill>
              <a:srgbClr val="FC833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90480" y="3872508"/>
            <a:ext cx="3703290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Reportes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790480" y="4160862"/>
            <a:ext cx="3703290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Generación de informes por aprendiz, ficha o rango de fechas.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722858"/>
            <a:ext cx="1965127" cy="215354"/>
          </a:xfrm>
          <a:prstGeom prst="roundRect">
            <a:avLst>
              <a:gd name="adj" fmla="val 47398"/>
            </a:avLst>
          </a:prstGeom>
          <a:noFill/>
          <a:ln w="9525">
            <a:solidFill>
              <a:srgbClr val="FC83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1174" y="765349"/>
            <a:ext cx="2252216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FC83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CAPÍTULO 2 · INGENIERÍA INVERSA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994916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Flujo Actual del Sistema</a:t>
            </a:r>
            <a:endParaRPr lang="en-US" sz="27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650504"/>
            <a:ext cx="8151763" cy="2157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24863" y="2379841"/>
            <a:ext cx="1232236" cy="441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Inicio de sesión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124863" y="2883866"/>
            <a:ext cx="1232236" cy="5295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Validar credenciales del usuario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536915" y="2441619"/>
            <a:ext cx="1232236" cy="220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Buscar ficha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2536915" y="2725010"/>
            <a:ext cx="1232236" cy="353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Seleccionar la ficha correspondiente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948967" y="2379841"/>
            <a:ext cx="1232236" cy="441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Localizar aprendices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3948967" y="2883866"/>
            <a:ext cx="1232236" cy="5295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Encontrar los registros de estudiantes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361019" y="2220986"/>
            <a:ext cx="1232236" cy="441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Marcar asistencia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5361019" y="2725010"/>
            <a:ext cx="1232236" cy="353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Registrar estado y guardar cambios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780916" y="2379841"/>
            <a:ext cx="1232236" cy="441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Consultar historial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6780916" y="2883866"/>
            <a:ext cx="1232236" cy="353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Revisar datos y generar reportes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96119" y="3967014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proceso requiere múltiples acciones antes de completar el registro. El instructor debe navegar entre módulos distintos para consultar historial o generar reportes, lo que incrementa el tiempo operativo y la curva de aprendizaje.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96119" y="427658"/>
            <a:ext cx="1535460" cy="168250"/>
          </a:xfrm>
          <a:prstGeom prst="roundRect">
            <a:avLst>
              <a:gd name="adj" fmla="val 47396"/>
            </a:avLst>
          </a:prstGeom>
          <a:noFill/>
          <a:ln w="9525">
            <a:solidFill>
              <a:srgbClr val="FC8337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62570" y="460846"/>
            <a:ext cx="1859756" cy="101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dirty="0">
                <a:solidFill>
                  <a:srgbClr val="FC83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CAPÍTULO 2 · INGENIERÍA INVERSA</a:t>
            </a:r>
            <a:endParaRPr lang="en-US" sz="650" dirty="0"/>
          </a:p>
        </p:txBody>
      </p:sp>
      <p:sp>
        <p:nvSpPr>
          <p:cNvPr id="5" name="Text 2"/>
          <p:cNvSpPr/>
          <p:nvPr/>
        </p:nvSpPr>
        <p:spPr>
          <a:xfrm>
            <a:off x="496119" y="630510"/>
            <a:ext cx="4722763" cy="6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Problemas Detectados en el Sistema Actual</a:t>
            </a:r>
            <a:endParaRPr lang="en-US" sz="21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452488"/>
            <a:ext cx="4722763" cy="79042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78284" y="1577504"/>
            <a:ext cx="4415582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Proceso lento y repetitivo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678284" y="1802383"/>
            <a:ext cx="4415582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Demasiados pasos para registrar asistencia; la búsqueda de aprendices es manual e ineficiente.</a:t>
            </a:r>
            <a:endParaRPr lang="en-US" sz="8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2329383"/>
            <a:ext cx="4722763" cy="63266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78284" y="2454399"/>
            <a:ext cx="4415582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Interfaz poco visual</a:t>
            </a:r>
            <a:endParaRPr lang="en-US" sz="1050" dirty="0"/>
          </a:p>
        </p:txBody>
      </p:sp>
      <p:sp>
        <p:nvSpPr>
          <p:cNvPr id="11" name="Text 6"/>
          <p:cNvSpPr/>
          <p:nvPr/>
        </p:nvSpPr>
        <p:spPr>
          <a:xfrm>
            <a:off x="678284" y="2679278"/>
            <a:ext cx="4415582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Enfocada en formularios y listados, sin gráficos, indicadores ni tarjetas de resumen.</a:t>
            </a:r>
            <a:endParaRPr lang="en-US" sz="8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6119" y="3048521"/>
            <a:ext cx="4722763" cy="79042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78284" y="3173537"/>
            <a:ext cx="4415582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Sin dashboard centralizado</a:t>
            </a:r>
            <a:endParaRPr lang="en-US" sz="1050" dirty="0"/>
          </a:p>
        </p:txBody>
      </p:sp>
      <p:sp>
        <p:nvSpPr>
          <p:cNvPr id="14" name="Text 8"/>
          <p:cNvSpPr/>
          <p:nvPr/>
        </p:nvSpPr>
        <p:spPr>
          <a:xfrm>
            <a:off x="678284" y="3398416"/>
            <a:ext cx="4415582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información está distribuida en módulos separados; no hay estadísticas inmediatas de asistencia.</a:t>
            </a:r>
            <a:endParaRPr lang="en-US" sz="8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96119" y="3925416"/>
            <a:ext cx="4722763" cy="79042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78284" y="4050432"/>
            <a:ext cx="4415582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QR con limitaciones</a:t>
            </a:r>
            <a:endParaRPr lang="en-US" sz="1050" dirty="0"/>
          </a:p>
        </p:txBody>
      </p:sp>
      <p:sp>
        <p:nvSpPr>
          <p:cNvPr id="17" name="Text 10"/>
          <p:cNvSpPr/>
          <p:nvPr/>
        </p:nvSpPr>
        <p:spPr>
          <a:xfrm>
            <a:off x="678284" y="4275311"/>
            <a:ext cx="4415582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Ausencia de códigos temporales, tiempo de expiración y mecanismos de validación robustos.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677242"/>
            <a:ext cx="1813694" cy="215354"/>
          </a:xfrm>
          <a:prstGeom prst="roundRect">
            <a:avLst>
              <a:gd name="adj" fmla="val 47398"/>
            </a:avLst>
          </a:prstGeom>
          <a:noFill/>
          <a:ln w="9525">
            <a:solidFill>
              <a:srgbClr val="FC83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1174" y="719733"/>
            <a:ext cx="2100783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FC83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CAPÍTULO 3 · DESIGN THINKING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949300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Etapa 1: Empatizar — Los Tres Usuarios</a:t>
            </a:r>
            <a:endParaRPr lang="en-US" sz="27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604888"/>
            <a:ext cx="1507480" cy="9316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96119" y="2713732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Instructor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96119" y="3020244"/>
            <a:ext cx="2599134" cy="14459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650"/>
              </a:spcAft>
              <a:buNone/>
            </a:pPr>
            <a:r>
              <a:rPr lang="en-US" sz="11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Necesita</a:t>
            </a:r>
            <a:pPr algn="l" indent="0" marL="0">
              <a:lnSpc>
                <a:spcPct val="133000"/>
              </a:lnSpc>
              <a:spcAft>
                <a:spcPts val="650"/>
              </a:spcAft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registrar asistencia rápidamente y encontrar aprendices sin demora.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Problema: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El proceso requiere demasiados pasos y no ofrece estadísticas inmediatas.</a:t>
            </a:r>
            <a:endParaRPr lang="en-US" sz="11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2433" y="1604888"/>
            <a:ext cx="1507480" cy="93166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272433" y="2713732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Aprendiz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3272433" y="3020244"/>
            <a:ext cx="2599134" cy="12191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650"/>
              </a:spcAft>
              <a:buNone/>
            </a:pPr>
            <a:r>
              <a:rPr lang="en-US" sz="11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Necesita</a:t>
            </a:r>
            <a:pPr algn="l" indent="0" marL="0">
              <a:lnSpc>
                <a:spcPct val="133000"/>
              </a:lnSpc>
              <a:spcAft>
                <a:spcPts val="650"/>
              </a:spcAft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consultar su porcentaje de asistencia, ausencias y tardanzas de forma clara.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Problema: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No puede conocer rápidamente su evolución de asistencia.</a:t>
            </a:r>
            <a:endParaRPr lang="en-US" sz="11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8747" y="1604888"/>
            <a:ext cx="1507480" cy="93166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048747" y="2713732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Coordinador Académico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6048747" y="3020244"/>
            <a:ext cx="2599134" cy="14459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650"/>
              </a:spcAft>
              <a:buNone/>
            </a:pPr>
            <a:r>
              <a:rPr lang="en-US" sz="11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Necesita</a:t>
            </a:r>
            <a:pPr algn="l" indent="0" marL="0">
              <a:lnSpc>
                <a:spcPct val="133000"/>
              </a:lnSpc>
              <a:spcAft>
                <a:spcPts val="650"/>
              </a:spcAft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estadísticas generales, comparación de fichas y reportes visuales e inmediatos.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Problema: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La información está distribuida y no disponible de forma visual.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634603"/>
            <a:ext cx="1813694" cy="215354"/>
          </a:xfrm>
          <a:prstGeom prst="roundRect">
            <a:avLst>
              <a:gd name="adj" fmla="val 47398"/>
            </a:avLst>
          </a:prstGeom>
          <a:noFill/>
          <a:ln w="9525">
            <a:solidFill>
              <a:srgbClr val="FC83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1174" y="677094"/>
            <a:ext cx="2100783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FC83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CAPÍTULO 3 · DESIGN THINKING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906661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Etapa 2: Definir — El Problema Central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708720" y="1721718"/>
            <a:ext cx="793916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proceso actual de toma de asistencia requiere demasiadas acciones y no proporciona información inmediata, visual y personalizada sobre el estado de la asistencia.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96119" y="1562249"/>
            <a:ext cx="19050" cy="772567"/>
          </a:xfrm>
          <a:prstGeom prst="roundRect">
            <a:avLst>
              <a:gd name="adj" fmla="val 60000"/>
            </a:avLst>
          </a:prstGeom>
          <a:solidFill>
            <a:srgbClr val="FC8337"/>
          </a:solidFill>
          <a:ln/>
        </p:spPr>
      </p:sp>
      <p:sp>
        <p:nvSpPr>
          <p:cNvPr id="7" name="Text 5"/>
          <p:cNvSpPr/>
          <p:nvPr/>
        </p:nvSpPr>
        <p:spPr>
          <a:xfrm>
            <a:off x="496119" y="2636044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Problemas por usuario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96119" y="2999259"/>
            <a:ext cx="3902943" cy="14600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Instructor: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Pierde tiempo en múltiples acciones para registrar asistencia.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Aprendiz: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No puede consultar fácilmente su porcentaje de asistencia.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Coordinador: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No cuenta con estadísticas visuales e inmediatas.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47605" y="2494285"/>
            <a:ext cx="4107135" cy="2014538"/>
          </a:xfrm>
          <a:prstGeom prst="roundRect">
            <a:avLst>
              <a:gd name="adj" fmla="val 10134"/>
            </a:avLst>
          </a:prstGeom>
          <a:solidFill>
            <a:srgbClr val="FC8337">
              <a:alpha val="7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789363" y="2636044"/>
            <a:ext cx="382361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Pregunta de diseño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789363" y="2999259"/>
            <a:ext cx="3823618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¿Cómo podemos crear un sistema de asistencia más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rápido, visual e intuitivo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que permita a cada usuario acceder fácilmente a la información que necesita?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03622"/>
            <a:ext cx="1558826" cy="185142"/>
          </a:xfrm>
          <a:prstGeom prst="roundRect">
            <a:avLst>
              <a:gd name="adj" fmla="val 47379"/>
            </a:avLst>
          </a:prstGeom>
          <a:noFill/>
          <a:ln w="9525">
            <a:solidFill>
              <a:srgbClr val="FC83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9193" y="440159"/>
            <a:ext cx="1869877" cy="1120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FC83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CAPÍTULO 3 · DESIGN THINKING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630585"/>
            <a:ext cx="8151763" cy="380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Etapa 3: Idear — Soluciones Propuestas</a:t>
            </a:r>
            <a:endParaRPr lang="en-US" sz="23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168301"/>
            <a:ext cx="304577" cy="30457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96119" y="1603697"/>
            <a:ext cx="4010471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Dashboard principal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96119" y="1856854"/>
            <a:ext cx="4010471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Información clave en un solo lugar: asistencias, ausencias, tardanzas y porcentaje general.</a:t>
            </a:r>
            <a:endParaRPr lang="en-US" sz="9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37410" y="1168301"/>
            <a:ext cx="304577" cy="30457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637410" y="1603697"/>
            <a:ext cx="4010471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Sistema de colores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4637410" y="1856854"/>
            <a:ext cx="4010471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Verde (adecuada), amarillo (atención) y rojo (crítico) para interpretación visual inmediata.</a:t>
            </a:r>
            <a:endParaRPr lang="en-US" sz="9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2428577"/>
            <a:ext cx="304577" cy="304577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96119" y="2863974"/>
            <a:ext cx="4010471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Registro rápido</a:t>
            </a:r>
            <a:endParaRPr lang="en-US" sz="1150" dirty="0"/>
          </a:p>
        </p:txBody>
      </p:sp>
      <p:sp>
        <p:nvSpPr>
          <p:cNvPr id="13" name="Text 8"/>
          <p:cNvSpPr/>
          <p:nvPr/>
        </p:nvSpPr>
        <p:spPr>
          <a:xfrm>
            <a:off x="496119" y="3117131"/>
            <a:ext cx="4010471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Una sola pantalla para marcar asistencia, con buscador, filtros y guardado automático.</a:t>
            </a:r>
            <a:endParaRPr lang="en-US" sz="9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37410" y="2428577"/>
            <a:ext cx="304577" cy="304577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637410" y="2863974"/>
            <a:ext cx="4010471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QR dinámico</a:t>
            </a:r>
            <a:endParaRPr lang="en-US" sz="1150" dirty="0"/>
          </a:p>
        </p:txBody>
      </p:sp>
      <p:sp>
        <p:nvSpPr>
          <p:cNvPr id="16" name="Text 10"/>
          <p:cNvSpPr/>
          <p:nvPr/>
        </p:nvSpPr>
        <p:spPr>
          <a:xfrm>
            <a:off x="4637410" y="3117131"/>
            <a:ext cx="4010471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Código temporal con expiración y código de respaldo para registro desde dispositivos móviles.</a:t>
            </a:r>
            <a:endParaRPr lang="en-US" sz="95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96119" y="3688854"/>
            <a:ext cx="304577" cy="304577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96119" y="4124251"/>
            <a:ext cx="4010471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Estadísticas automáticas</a:t>
            </a:r>
            <a:endParaRPr lang="en-US" sz="1150" dirty="0"/>
          </a:p>
        </p:txBody>
      </p:sp>
      <p:sp>
        <p:nvSpPr>
          <p:cNvPr id="19" name="Text 12"/>
          <p:cNvSpPr/>
          <p:nvPr/>
        </p:nvSpPr>
        <p:spPr>
          <a:xfrm>
            <a:off x="496119" y="4377407"/>
            <a:ext cx="4010471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Cálculo automático de porcentajes de asistencia, ausencias y tardanzas con gráficas integradas.</a:t>
            </a:r>
            <a:endParaRPr lang="en-US" sz="95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637410" y="3688854"/>
            <a:ext cx="304577" cy="304577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4637410" y="4124251"/>
            <a:ext cx="4010471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Filtros inteligentes</a:t>
            </a:r>
            <a:endParaRPr lang="en-US" sz="1150" dirty="0"/>
          </a:p>
        </p:txBody>
      </p:sp>
      <p:sp>
        <p:nvSpPr>
          <p:cNvPr id="22" name="Text 14"/>
          <p:cNvSpPr/>
          <p:nvPr/>
        </p:nvSpPr>
        <p:spPr>
          <a:xfrm>
            <a:off x="4637410" y="4377407"/>
            <a:ext cx="4010471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Filtrado rápido por fecha, ficha, aprendiz y estado de asistencia para consultas eficientes.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32495"/>
            <a:ext cx="1502718" cy="178371"/>
          </a:xfrm>
          <a:prstGeom prst="roundRect">
            <a:avLst>
              <a:gd name="adj" fmla="val 47389"/>
            </a:avLst>
          </a:prstGeom>
          <a:noFill/>
          <a:ln w="9525">
            <a:solidFill>
              <a:srgbClr val="FC83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514" y="467692"/>
            <a:ext cx="1819126" cy="107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00" dirty="0">
                <a:solidFill>
                  <a:srgbClr val="FC83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CAPÍTULO 3 · DESIGN THINKING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96119" y="649709"/>
            <a:ext cx="8151763" cy="366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Prototipado, Pruebas y Conclusión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496119" y="1259532"/>
            <a:ext cx="3932709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Nueva navegación propuesta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96119" y="1552277"/>
            <a:ext cx="234776" cy="1467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Saira Light" pitchFamily="34" charset="0"/>
                <a:ea typeface="Saira Light" pitchFamily="34" charset="-122"/>
                <a:cs typeface="Saira Light" pitchFamily="34" charset="-120"/>
              </a:rPr>
              <a:t>01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96119" y="1737494"/>
            <a:ext cx="3932709" cy="14288"/>
          </a:xfrm>
          <a:prstGeom prst="rect">
            <a:avLst/>
          </a:prstGeom>
          <a:solidFill>
            <a:srgbClr val="FC8337"/>
          </a:solidFill>
          <a:ln/>
        </p:spPr>
      </p:sp>
      <p:sp>
        <p:nvSpPr>
          <p:cNvPr id="8" name="Text 6"/>
          <p:cNvSpPr/>
          <p:nvPr/>
        </p:nvSpPr>
        <p:spPr>
          <a:xfrm>
            <a:off x="496119" y="1824707"/>
            <a:ext cx="3932709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Login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96119" y="2181597"/>
            <a:ext cx="234776" cy="1467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Saira Light" pitchFamily="34" charset="0"/>
                <a:ea typeface="Saira Light" pitchFamily="34" charset="-122"/>
                <a:cs typeface="Saira Light" pitchFamily="34" charset="-120"/>
              </a:rPr>
              <a:t>02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96119" y="2366814"/>
            <a:ext cx="3932709" cy="14288"/>
          </a:xfrm>
          <a:prstGeom prst="rect">
            <a:avLst/>
          </a:prstGeom>
          <a:solidFill>
            <a:srgbClr val="FC8337"/>
          </a:solidFill>
          <a:ln/>
        </p:spPr>
      </p:sp>
      <p:sp>
        <p:nvSpPr>
          <p:cNvPr id="11" name="Text 9"/>
          <p:cNvSpPr/>
          <p:nvPr/>
        </p:nvSpPr>
        <p:spPr>
          <a:xfrm>
            <a:off x="496119" y="2454027"/>
            <a:ext cx="3932709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Dashboard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96119" y="2810917"/>
            <a:ext cx="234776" cy="1467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Saira Light" pitchFamily="34" charset="0"/>
                <a:ea typeface="Saira Light" pitchFamily="34" charset="-122"/>
                <a:cs typeface="Saira Light" pitchFamily="34" charset="-120"/>
              </a:rPr>
              <a:t>03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96119" y="2996133"/>
            <a:ext cx="3932709" cy="14288"/>
          </a:xfrm>
          <a:prstGeom prst="rect">
            <a:avLst/>
          </a:prstGeom>
          <a:solidFill>
            <a:srgbClr val="FC8337"/>
          </a:solidFill>
          <a:ln/>
        </p:spPr>
      </p:sp>
      <p:sp>
        <p:nvSpPr>
          <p:cNvPr id="14" name="Text 12"/>
          <p:cNvSpPr/>
          <p:nvPr/>
        </p:nvSpPr>
        <p:spPr>
          <a:xfrm>
            <a:off x="496119" y="3083347"/>
            <a:ext cx="3932709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Seleccionar ficha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96119" y="3440237"/>
            <a:ext cx="234776" cy="1467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Saira Light" pitchFamily="34" charset="0"/>
                <a:ea typeface="Saira Light" pitchFamily="34" charset="-122"/>
                <a:cs typeface="Saira Light" pitchFamily="34" charset="-120"/>
              </a:rPr>
              <a:t>04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96119" y="3625453"/>
            <a:ext cx="3932709" cy="14288"/>
          </a:xfrm>
          <a:prstGeom prst="rect">
            <a:avLst/>
          </a:prstGeom>
          <a:solidFill>
            <a:srgbClr val="FC8337"/>
          </a:solidFill>
          <a:ln/>
        </p:spPr>
      </p:sp>
      <p:sp>
        <p:nvSpPr>
          <p:cNvPr id="17" name="Text 15"/>
          <p:cNvSpPr/>
          <p:nvPr/>
        </p:nvSpPr>
        <p:spPr>
          <a:xfrm>
            <a:off x="496119" y="3712666"/>
            <a:ext cx="3932709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Registro de asistencia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96119" y="4069556"/>
            <a:ext cx="234776" cy="1467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Saira Light" pitchFamily="34" charset="0"/>
                <a:ea typeface="Saira Light" pitchFamily="34" charset="-122"/>
                <a:cs typeface="Saira Light" pitchFamily="34" charset="-120"/>
              </a:rPr>
              <a:t>05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96119" y="4254773"/>
            <a:ext cx="3932709" cy="14288"/>
          </a:xfrm>
          <a:prstGeom prst="rect">
            <a:avLst/>
          </a:prstGeom>
          <a:solidFill>
            <a:srgbClr val="FC8337"/>
          </a:solidFill>
          <a:ln/>
        </p:spPr>
      </p:sp>
      <p:sp>
        <p:nvSpPr>
          <p:cNvPr id="20" name="Text 18"/>
          <p:cNvSpPr/>
          <p:nvPr/>
        </p:nvSpPr>
        <p:spPr>
          <a:xfrm>
            <a:off x="496119" y="4341986"/>
            <a:ext cx="3932709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Estadísticas y reportes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719935" y="1259532"/>
            <a:ext cx="3932709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Resultados esperados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719935" y="1540148"/>
            <a:ext cx="3932709" cy="7887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2880" indent="-182880">
              <a:lnSpc>
                <a:spcPct val="122000"/>
              </a:lnSpc>
              <a:buSzPct val="100000"/>
              <a:buChar char="•"/>
            </a:pPr>
            <a:r>
              <a:rPr lang="en-US" sz="9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Reducción del tiempo y pasos de registro</a:t>
            </a:r>
            <a:endParaRPr lang="en-US" sz="900" dirty="0"/>
          </a:p>
          <a:p>
            <a:pPr algn="l" marL="182880" indent="-182880">
              <a:lnSpc>
                <a:spcPct val="122000"/>
              </a:lnSpc>
              <a:buSzPct val="100000"/>
              <a:buChar char="•"/>
            </a:pPr>
            <a:r>
              <a:rPr lang="en-US" sz="9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Estadísticas en tiempo real con dashboards y gráficas</a:t>
            </a:r>
            <a:endParaRPr lang="en-US" sz="900" dirty="0"/>
          </a:p>
          <a:p>
            <a:pPr algn="l" marL="182880" indent="-182880">
              <a:lnSpc>
                <a:spcPct val="122000"/>
              </a:lnSpc>
              <a:buSzPct val="100000"/>
              <a:buChar char="•"/>
            </a:pPr>
            <a:r>
              <a:rPr lang="en-US" sz="9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Historial accesible y QR optimizado</a:t>
            </a:r>
            <a:endParaRPr lang="en-US" sz="900" dirty="0"/>
          </a:p>
          <a:p>
            <a:pPr algn="l" marL="182880" indent="-182880">
              <a:lnSpc>
                <a:spcPct val="122000"/>
              </a:lnSpc>
              <a:buSzPct val="100000"/>
              <a:buChar char="•"/>
            </a:pPr>
            <a:r>
              <a:rPr lang="en-US" sz="9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Interfaz moderna, visual e intuitiva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19935" y="2438177"/>
            <a:ext cx="3932709" cy="748531"/>
          </a:xfrm>
          <a:prstGeom prst="roundRect">
            <a:avLst>
              <a:gd name="adj" fmla="val 14116"/>
            </a:avLst>
          </a:prstGeom>
          <a:solidFill>
            <a:srgbClr val="183A13"/>
          </a:solidFill>
          <a:ln/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37286" y="2605980"/>
            <a:ext cx="146745" cy="117351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5101382" y="2554932"/>
            <a:ext cx="3433911" cy="515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combinación de ingeniería inversa y Design Thinking transforma el sistema en una solución web más rápida, visual y centrada en el usuario.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2026-07-25T19:34:14Z</dcterms:created>
  <dcterms:modified xsi:type="dcterms:W3CDTF">2026-07-25T19:34:14Z</dcterms:modified>
</cp:coreProperties>
</file>